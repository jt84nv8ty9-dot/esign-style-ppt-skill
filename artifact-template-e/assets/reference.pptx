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sldIdLst>
    <p:sldId id="279" r:id="rId2"/>
    <p:sldId id="273" r:id="rId3"/>
    <p:sldId id="274" r:id="rId4"/>
    <p:sldId id="258" r:id="rId5"/>
    <p:sldId id="259" r:id="rId6"/>
    <p:sldId id="262" r:id="rId7"/>
    <p:sldId id="263" r:id="rId8"/>
    <p:sldId id="278" r:id="rId9"/>
    <p:sldId id="277" r:id="rId10"/>
    <p:sldId id="275" r:id="rId11"/>
    <p:sldId id="265" r:id="rId12"/>
    <p:sldId id="266" r:id="rId13"/>
    <p:sldId id="267" r:id="rId14"/>
    <p:sldId id="276" r:id="rId15"/>
    <p:sldId id="268" r:id="rId16"/>
    <p:sldId id="269" r:id="rId17"/>
    <p:sldId id="271" r:id="rId18"/>
    <p:sldId id="28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9" name="古拉" initials="古" lastIdx="0" clrIdx="28"/>
  <p:cmAuthor id="1" name="ming qiu" initials="m" lastIdx="0" clrIdx="0"/>
  <p:cmAuthor id="30" name="周 俊" initials="周" lastIdx="0" clrIdx="29"/>
  <p:cmAuthor id="2" name="zhangbin" initials="z" lastIdx="0" clrIdx="1"/>
  <p:cmAuthor id="31" name="Microsoft Office User" initials="MOU" lastIdx="0" clrIdx="30"/>
  <p:cmAuthor id="3" name="Liu Haitao" initials="C" lastIdx="0" clrIdx="2"/>
  <p:cmAuthor id="4" name="WPS" initials="W" lastIdx="0" clrIdx="3"/>
  <p:cmAuthor id="5" name="WPS_1679281038" initials="W" lastIdx="0" clrIdx="4"/>
  <p:cmAuthor id="6" name="作者" initials="A" lastIdx="0" clrIdx="5"/>
  <p:cmAuthor id="7" name="叔夜" initials="叔夜" lastIdx="0" clrIdx="6"/>
  <p:cmAuthor id="8" name="mocheng" initials="m" lastIdx="0" clrIdx="7"/>
  <p:cmAuthor id="9" name="知里" initials="知里" lastIdx="0" clrIdx="8"/>
  <p:cmAuthor id="10" name="kasenwong" initials="k" lastIdx="0" clrIdx="9"/>
  <p:cmAuthor id="11" name="Author" initials="A" lastIdx="0" clrIdx="10"/>
  <p:cmAuthor id="12" name="Jiajia Wen (Bei Jing Di Mei Jia Yi Shu Ju)" initials="JW(JDMJYSJ" lastIdx="0" clrIdx="11"/>
  <p:cmAuthor id="13" name="上官" initials="上官" lastIdx="0" clrIdx="12"/>
  <p:cmAuthor id="14" name="xiwu" initials="x" lastIdx="0" clrIdx="13"/>
  <p:cmAuthor id="15" name="羽落" initials="羽落" lastIdx="0" clrIdx="14"/>
  <p:cmAuthor id="16" name="王红东" initials="K" lastIdx="0" clrIdx="15"/>
  <p:cmAuthor id="17" name="okyus" initials="o" lastIdx="0" clrIdx="16"/>
  <p:cmAuthor id="18" name="Ben" initials="B" lastIdx="0" clrIdx="17"/>
  <p:cmAuthor id="19" name="Huawei" initials="H" lastIdx="0" clrIdx="18"/>
  <p:cmAuthor id="20" name="曾 琴琴" initials="曾" lastIdx="0" clrIdx="19"/>
  <p:cmAuthor id="21" name="swz" initials="s" lastIdx="0" clrIdx="20"/>
  <p:cmAuthor id="22" name="云笙" initials="云笙" lastIdx="0" clrIdx="21"/>
  <p:cmAuthor id="23" name="墨成" initials="墨成" lastIdx="0" clrIdx="22"/>
  <p:cmAuthor id="24" name="tangyb" initials="t" lastIdx="0" clrIdx="23"/>
  <p:cmAuthor id="25" name="junlele" initials="j" lastIdx="0" clrIdx="24"/>
  <p:cmAuthor id="26" name="陈某" initials="陈某" lastIdx="0" clrIdx="25"/>
  <p:cmAuthor id="27" name="绝影" initials="绝影" lastIdx="0" clrIdx="26"/>
  <p:cmAuthor id="28" name="Windows 用户" initials="W用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3E72"/>
    <a:srgbClr val="5F4FD9"/>
    <a:srgbClr val="BCADFD"/>
    <a:srgbClr val="E1DAFE"/>
    <a:srgbClr val="9A7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>
        <p:scale>
          <a:sx n="90" d="100"/>
          <a:sy n="90" d="100"/>
        </p:scale>
        <p:origin x="138" y="654"/>
      </p:cViewPr>
      <p:guideLst>
        <p:guide orient="horz" pos="2160"/>
        <p:guide pos="283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&#24037;&#20316;&#31807;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&#24037;&#20316;&#31807;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[工作簿1]Sheet1!$J$9</c:f>
              <c:strCache>
                <c:ptCount val="1"/>
                <c:pt idx="0">
                  <c:v>市场份额（%）</c:v>
                </c:pt>
              </c:strCache>
            </c:strRef>
          </c:tx>
          <c:dPt>
            <c:idx val="0"/>
            <c:bubble3D val="0"/>
            <c:spPr>
              <a:gradFill>
                <a:gsLst>
                  <a:gs pos="40000">
                    <a:srgbClr val="E53564"/>
                  </a:gs>
                  <a:gs pos="99000">
                    <a:srgbClr val="EC0202"/>
                  </a:gs>
                </a:gsLst>
                <a:lin ang="0" scaled="0"/>
              </a:gra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65F-472F-ADCC-691184C92AF3}"/>
              </c:ext>
            </c:extLst>
          </c:dPt>
          <c:dPt>
            <c:idx val="1"/>
            <c:bubble3D val="0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65F-472F-ADCC-691184C92AF3}"/>
              </c:ext>
            </c:extLst>
          </c:dPt>
          <c:dPt>
            <c:idx val="2"/>
            <c:bubble3D val="0"/>
            <c:spPr>
              <a:solidFill>
                <a:schemeClr val="bg1">
                  <a:lumMod val="6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65F-472F-ADCC-691184C92AF3}"/>
              </c:ext>
            </c:extLst>
          </c:dPt>
          <c:dPt>
            <c:idx val="3"/>
            <c:bubble3D val="0"/>
            <c:spPr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65F-472F-ADCC-691184C92AF3}"/>
              </c:ext>
            </c:extLst>
          </c:dPt>
          <c:dPt>
            <c:idx val="4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65F-472F-ADCC-691184C92AF3}"/>
              </c:ext>
            </c:extLst>
          </c:dPt>
          <c:dPt>
            <c:idx val="5"/>
            <c:bubble3D val="0"/>
            <c:spPr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C65F-472F-ADCC-691184C92AF3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800" b="0" i="0" u="none" strike="noStrike" kern="1200" baseline="0">
                      <a:solidFill>
                        <a:schemeClr val="bg1"/>
                      </a:solidFill>
                      <a:latin typeface="微软雅黑" charset="-122"/>
                      <a:ea typeface="微软雅黑" charset="-122"/>
                      <a:cs typeface="微软雅黑" charset="-122"/>
                      <a:sym typeface="微软雅黑" charset="-122"/>
                    </a:defRPr>
                  </a:pPr>
                  <a:endParaRPr lang="zh-CN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6149283242709"/>
                      <c:h val="0.21371428571428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65F-472F-ADCC-691184C92AF3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 forceAA="0"/>
                <a:lstStyle/>
                <a:p>
                  <a:pPr>
                    <a:defRPr lang="zh-CN" sz="600" b="0" i="0" u="none" strike="noStrike" kern="1200" baseline="0">
                      <a:solidFill>
                        <a:schemeClr val="bg1">
                          <a:lumMod val="75000"/>
                        </a:schemeClr>
                      </a:solidFill>
                      <a:latin typeface="微软雅黑" charset="-122"/>
                      <a:ea typeface="微软雅黑" charset="-122"/>
                      <a:cs typeface="微软雅黑" charset="-122"/>
                      <a:sym typeface="微软雅黑" charset="-122"/>
                    </a:defRPr>
                  </a:pPr>
                  <a:endParaRPr lang="zh-CN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C65F-472F-ADCC-691184C92AF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800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微软雅黑" charset="-122"/>
                    <a:ea typeface="微软雅黑" charset="-122"/>
                    <a:cs typeface="微软雅黑" charset="-122"/>
                    <a:sym typeface="微软雅黑" charset="-122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[工作簿1]Sheet1!$I$10:$I$15</c:f>
              <c:strCache>
                <c:ptCount val="6"/>
                <c:pt idx="0">
                  <c:v>e 签宝</c:v>
                </c:pt>
                <c:pt idx="1">
                  <c:v>契约锁</c:v>
                </c:pt>
                <c:pt idx="2">
                  <c:v>法大大</c:v>
                </c:pt>
                <c:pt idx="3">
                  <c:v>上上签</c:v>
                </c:pt>
                <c:pt idx="4">
                  <c:v>安证通</c:v>
                </c:pt>
                <c:pt idx="5">
                  <c:v>其它</c:v>
                </c:pt>
              </c:strCache>
            </c:strRef>
          </c:cat>
          <c:val>
            <c:numRef>
              <c:f>[工作簿1]Sheet1!$J$10:$J$15</c:f>
              <c:numCache>
                <c:formatCode>0.00%</c:formatCode>
                <c:ptCount val="6"/>
                <c:pt idx="0" formatCode="0%">
                  <c:v>0.35</c:v>
                </c:pt>
                <c:pt idx="1">
                  <c:v>0.151</c:v>
                </c:pt>
                <c:pt idx="2">
                  <c:v>0.108</c:v>
                </c:pt>
                <c:pt idx="3">
                  <c:v>4.3999999999999997E-2</c:v>
                </c:pt>
                <c:pt idx="4" formatCode="0%">
                  <c:v>0.04</c:v>
                </c:pt>
                <c:pt idx="5">
                  <c:v>0.30599999999999999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65F-472F-ADCC-691184C92AF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dc50c0f6-accb-47d2-8d34-44bb00f164e0}"/>
      </c:ext>
    </c:extLst>
  </c:chart>
  <c:spPr>
    <a:solidFill>
      <a:schemeClr val="bg1"/>
    </a:solidFill>
    <a:ln w="6350" cap="flat" cmpd="sng" algn="ctr">
      <a:solidFill>
        <a:schemeClr val="tx1">
          <a:lumMod val="50000"/>
          <a:lumOff val="50000"/>
          <a:alpha val="25000"/>
        </a:schemeClr>
      </a:solidFill>
      <a:round/>
    </a:ln>
    <a:effectLst/>
  </c:spPr>
  <c:txPr>
    <a:bodyPr/>
    <a:lstStyle/>
    <a:p>
      <a:pPr>
        <a:defRPr lang="zh-CN" sz="800">
          <a:solidFill>
            <a:schemeClr val="bg1">
              <a:lumMod val="75000"/>
            </a:schemeClr>
          </a:solidFill>
          <a:latin typeface="微软雅黑" charset="-122"/>
          <a:ea typeface="微软雅黑" charset="-122"/>
          <a:cs typeface="微软雅黑" charset="-122"/>
          <a:sym typeface="微软雅黑" charset="-122"/>
        </a:defRPr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[工作簿1]Sheet1!$O$9</c:f>
              <c:strCache>
                <c:ptCount val="1"/>
                <c:pt idx="0">
                  <c:v>市场份额（%）</c:v>
                </c:pt>
              </c:strCache>
            </c:strRef>
          </c:tx>
          <c:dPt>
            <c:idx val="0"/>
            <c:bubble3D val="0"/>
            <c:spPr>
              <a:gradFill>
                <a:gsLst>
                  <a:gs pos="40000">
                    <a:srgbClr val="E53564"/>
                  </a:gs>
                  <a:gs pos="99000">
                    <a:srgbClr val="EC0202"/>
                  </a:gs>
                </a:gsLst>
                <a:lin ang="0" scaled="0"/>
              </a:gra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71-409F-8AC9-A30A7528118E}"/>
              </c:ext>
            </c:extLst>
          </c:dPt>
          <c:dPt>
            <c:idx val="1"/>
            <c:bubble3D val="0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71-409F-8AC9-A30A7528118E}"/>
              </c:ext>
            </c:extLst>
          </c:dPt>
          <c:dPt>
            <c:idx val="2"/>
            <c:bubble3D val="0"/>
            <c:spPr>
              <a:solidFill>
                <a:schemeClr val="bg1">
                  <a:lumMod val="6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71-409F-8AC9-A30A7528118E}"/>
              </c:ext>
            </c:extLst>
          </c:dPt>
          <c:dPt>
            <c:idx val="3"/>
            <c:bubble3D val="0"/>
            <c:spPr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A71-409F-8AC9-A30A7528118E}"/>
              </c:ext>
            </c:extLst>
          </c:dPt>
          <c:dPt>
            <c:idx val="4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A71-409F-8AC9-A30A7528118E}"/>
              </c:ext>
            </c:extLst>
          </c:dPt>
          <c:dPt>
            <c:idx val="5"/>
            <c:bubble3D val="0"/>
            <c:spPr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CA71-409F-8AC9-A30A7528118E}"/>
              </c:ext>
            </c:extLst>
          </c:dPt>
          <c:dLbls>
            <c:dLbl>
              <c:idx val="0"/>
              <c:layout>
                <c:manualLayout>
                  <c:x val="-0.12069334107865"/>
                  <c:y val="0.163063024874030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1600" b="0" i="0" u="none" strike="noStrike" kern="1200" baseline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zh-CN" sz="1600">
                        <a:solidFill>
                          <a:schemeClr val="bg1"/>
                        </a:solidFill>
                      </a:rPr>
                      <a:t>16%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 defTabSz="914400">
                    <a:defRPr lang="zh-CN" sz="16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 altLang="zh-CN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6149283242709"/>
                      <c:h val="0.107885714285714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CA71-409F-8AC9-A30A7528118E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0" i="0" u="none" strike="noStrike" kern="1200" baseline="0">
                      <a:solidFill>
                        <a:schemeClr val="bg1">
                          <a:lumMod val="6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zh-CN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9-CA71-409F-8AC9-A30A7528118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chemeClr val="bg1">
                        <a:lumMod val="6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[工作簿1]Sheet1!$N$10:$N$15</c:f>
              <c:strCache>
                <c:ptCount val="6"/>
                <c:pt idx="0">
                  <c:v>e 签宝</c:v>
                </c:pt>
                <c:pt idx="1">
                  <c:v>Docu Sign</c:v>
                </c:pt>
                <c:pt idx="2">
                  <c:v>Adobe Sign</c:v>
                </c:pt>
                <c:pt idx="3">
                  <c:v>契约锁</c:v>
                </c:pt>
                <c:pt idx="4">
                  <c:v>法大大</c:v>
                </c:pt>
                <c:pt idx="5">
                  <c:v>其它</c:v>
                </c:pt>
              </c:strCache>
            </c:strRef>
          </c:cat>
          <c:val>
            <c:numRef>
              <c:f>[工作簿1]Sheet1!$O$10:$O$15</c:f>
              <c:numCache>
                <c:formatCode>0.00%</c:formatCode>
                <c:ptCount val="6"/>
                <c:pt idx="0" formatCode="0%">
                  <c:v>0.16</c:v>
                </c:pt>
                <c:pt idx="1">
                  <c:v>0.11799999999999999</c:v>
                </c:pt>
                <c:pt idx="2">
                  <c:v>7.5999999999999998E-2</c:v>
                </c:pt>
                <c:pt idx="3">
                  <c:v>7.1999999999999995E-2</c:v>
                </c:pt>
                <c:pt idx="4">
                  <c:v>5.0999999999999997E-2</c:v>
                </c:pt>
                <c:pt idx="5">
                  <c:v>0.52300000000000002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A71-409F-8AC9-A30A752811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dee8a073-3e3b-4555-8b3d-62c0a40dc22a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zh-CN" sz="800">
          <a:solidFill>
            <a:schemeClr val="bg1">
              <a:lumMod val="65000"/>
            </a:schemeClr>
          </a:solidFill>
        </a:defRPr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8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F9138-A83E-A458-18B4-B58EB7A2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95585F-B43E-86F6-D956-4AFA3520604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90A799-80B8-D390-4CAD-E15A0205F5F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82E4D8E-CA77-CDED-D2E3-F648146EDF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07C9B3F-4B76-F352-6084-B6D7D5C9BD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非常荣幸能参加第四届DSG金融领袖峰会。今天我分享的主题是“坚守本体权责，构建金融智能合约合规新范式”。近期，金发8号文的出台为金融AI的发展划定了清晰的红线。在AI技术浪潮席卷金融行业的今天，我们如何在拥抱创新的同时，守住合规的底线，保障每一个市场主体的核心权利？这正是我今天想要与各位探讨的核心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75C698-A7F7-2CA5-B13E-F8AB022169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58DFF-8C45-1074-FCFD-70D0249C0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105998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266700" algn="l"/>
            <a:endParaRPr lang="en-US" altLang="zh-CN" sz="1800" kern="100" dirty="0">
              <a:effectLst/>
              <a:cs typeface="微软雅黑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82613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985B4AF-EA56-441F-9185-82BDD24D780F}" type="slidenum">
              <a:rPr kumimoji="0" lang="zh-CN" altLang="en-US" sz="2935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微软雅黑" charset="-122"/>
              </a:rPr>
              <a:t>2</a:t>
            </a:fld>
            <a:endParaRPr kumimoji="0" lang="zh-CN" altLang="en-US" sz="2935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微软雅黑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032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dirty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最后，我想总结一下。AI赋能业务提速，合规守护发展根基。面向未来，金融机构的数字化转型，需要AI创新能力与可信合约合规能力双向并行。只有坚守本体权责，我们才能在创新的道路上行稳致远。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dirty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B9965E8E-65EA-573E-7460-50F7846996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2971" t="36401" r="17239" b="7937"/>
          <a:stretch>
            <a:fillRect/>
          </a:stretch>
        </p:blipFill>
        <p:spPr>
          <a:xfrm>
            <a:off x="0" y="-885"/>
            <a:ext cx="12192000" cy="6858001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7A1B83B-F79B-7B7E-4A89-67809D8C51DC}"/>
              </a:ext>
            </a:extLst>
          </p:cNvPr>
          <p:cNvSpPr/>
          <p:nvPr userDrawn="1"/>
        </p:nvSpPr>
        <p:spPr>
          <a:xfrm>
            <a:off x="-3533" y="-884"/>
            <a:ext cx="9687860" cy="6858883"/>
          </a:xfrm>
          <a:prstGeom prst="roundRect">
            <a:avLst>
              <a:gd name="adj" fmla="val 0"/>
            </a:avLst>
          </a:prstGeom>
          <a:gradFill>
            <a:gsLst>
              <a:gs pos="34000">
                <a:srgbClr val="E6EAFA">
                  <a:alpha val="60000"/>
                </a:srgbClr>
              </a:gs>
              <a:gs pos="97000">
                <a:schemeClr val="bg1">
                  <a:lumMod val="9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6398B69-AE38-BF45-DFBD-918C57D5874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400000"/>
                    </a14:imgEffect>
                    <a14:imgEffect>
                      <a14:brightnessContrast bright="20000" contrast="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4110" t="47760" r="38034" b="2240"/>
          <a:stretch>
            <a:fillRect/>
          </a:stretch>
        </p:blipFill>
        <p:spPr>
          <a:xfrm rot="10800000">
            <a:off x="0" y="1674627"/>
            <a:ext cx="8564491" cy="5183372"/>
          </a:xfrm>
          <a:prstGeom prst="rect">
            <a:avLst/>
          </a:prstGeom>
        </p:spPr>
      </p:pic>
      <p:pic>
        <p:nvPicPr>
          <p:cNvPr id="22" name="图形 21">
            <a:extLst>
              <a:ext uri="{FF2B5EF4-FFF2-40B4-BE49-F238E27FC236}">
                <a16:creationId xmlns:a16="http://schemas.microsoft.com/office/drawing/2014/main" id="{E024AEB1-B3D4-5EF5-4617-3F7E8F9D41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429" y="273413"/>
            <a:ext cx="2608263" cy="28953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10" t="47760" r="38034" b="2240"/>
          <a:stretch>
            <a:fillRect/>
          </a:stretch>
        </p:blipFill>
        <p:spPr>
          <a:xfrm>
            <a:off x="3627320" y="0"/>
            <a:ext cx="8564045" cy="5183372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print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47" t="6753" r="6185" b="42366"/>
          <a:stretch>
            <a:fillRect/>
          </a:stretch>
        </p:blipFill>
        <p:spPr>
          <a:xfrm>
            <a:off x="-1" y="1337481"/>
            <a:ext cx="7731018" cy="5520519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1520" y="192441"/>
            <a:ext cx="2385358" cy="2648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4809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" Type="http://schemas.openxmlformats.org/officeDocument/2006/relationships/tags" Target="../tags/tag3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image" Target="../media/image10.jpeg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chart" Target="../charts/chart2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chart" Target="../charts/chart1.xml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A9C-E191-5554-55EC-29364863C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>
            <a:extLst>
              <a:ext uri="{FF2B5EF4-FFF2-40B4-BE49-F238E27FC236}">
                <a16:creationId xmlns:a16="http://schemas.microsoft.com/office/drawing/2014/main" id="{87BF25EA-C369-2E75-11E0-C639FFF480F2}"/>
              </a:ext>
            </a:extLst>
          </p:cNvPr>
          <p:cNvSpPr/>
          <p:nvPr/>
        </p:nvSpPr>
        <p:spPr>
          <a:xfrm>
            <a:off x="849801" y="1210653"/>
            <a:ext cx="7714689" cy="2259273"/>
          </a:xfrm>
          <a:prstGeom prst="rect">
            <a:avLst/>
          </a:prstGeom>
          <a:noFill/>
        </p:spPr>
        <p:txBody>
          <a:bodyPr wrap="square" lIns="22225" tIns="0" rIns="22225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5200" b="1" dirty="0">
                <a:gradFill>
                  <a:gsLst>
                    <a:gs pos="99000">
                      <a:srgbClr val="04066C"/>
                    </a:gs>
                    <a:gs pos="5000">
                      <a:srgbClr val="495AF9"/>
                    </a:gs>
                    <a:gs pos="52000">
                      <a:srgbClr val="6336E2"/>
                    </a:gs>
                  </a:gsLst>
                  <a:lin ang="0" scaled="0"/>
                </a:gradFill>
                <a:effectLst>
                  <a:outerShdw blurRad="88900" dist="101600" dir="2700000" algn="tl" rotWithShape="0">
                    <a:schemeClr val="bg1">
                      <a:alpha val="8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数字信任云服务出海</a:t>
            </a:r>
            <a:endParaRPr lang="en-US" altLang="zh-CN" sz="5200" b="1" dirty="0">
              <a:gradFill>
                <a:gsLst>
                  <a:gs pos="99000">
                    <a:srgbClr val="04066C"/>
                  </a:gs>
                  <a:gs pos="5000">
                    <a:srgbClr val="495AF9"/>
                  </a:gs>
                  <a:gs pos="52000">
                    <a:srgbClr val="6336E2"/>
                  </a:gs>
                </a:gsLst>
                <a:lin ang="0" scaled="0"/>
              </a:gradFill>
              <a:effectLst>
                <a:outerShdw blurRad="88900" dist="101600" dir="2700000" algn="tl" rotWithShape="0">
                  <a:schemeClr val="bg1">
                    <a:alpha val="8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  <a:p>
            <a:pPr>
              <a:lnSpc>
                <a:spcPct val="150000"/>
              </a:lnSpc>
            </a:pPr>
            <a:r>
              <a:rPr lang="zh-CN" altLang="en-US" sz="5200" b="1" dirty="0">
                <a:gradFill>
                  <a:gsLst>
                    <a:gs pos="99000">
                      <a:srgbClr val="04066C"/>
                    </a:gs>
                    <a:gs pos="5000">
                      <a:srgbClr val="495AF9"/>
                    </a:gs>
                    <a:gs pos="52000">
                      <a:srgbClr val="6336E2"/>
                    </a:gs>
                  </a:gsLst>
                  <a:lin ang="0" scaled="0"/>
                </a:gradFill>
                <a:effectLst>
                  <a:outerShdw blurRad="88900" dist="101600" dir="2700000" algn="tl" rotWithShape="0">
                    <a:schemeClr val="bg1">
                      <a:alpha val="8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实践案例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92BF6263-8CBE-3B76-0EEC-9A23D81766AB}"/>
              </a:ext>
            </a:extLst>
          </p:cNvPr>
          <p:cNvSpPr/>
          <p:nvPr/>
        </p:nvSpPr>
        <p:spPr>
          <a:xfrm>
            <a:off x="849802" y="3504282"/>
            <a:ext cx="5935546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>
              <a:lnSpc>
                <a:spcPct val="108000"/>
              </a:lnSpc>
              <a:defRPr/>
            </a:pPr>
            <a:r>
              <a:rPr lang="zh-CN" altLang="en-US" sz="1600" b="0" i="0" u="none" strike="noStrike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从跨境合规签署到 </a:t>
            </a:r>
            <a:r>
              <a:rPr lang="en-US" altLang="zh-CN" sz="1600" b="0" i="0" u="none" strike="noStrike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AI </a:t>
            </a:r>
            <a:r>
              <a:rPr lang="zh-CN" altLang="en-US" sz="1600" b="0" i="0" u="none" strike="noStrike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合同管理 </a:t>
            </a:r>
            <a:r>
              <a:rPr lang="en-US" altLang="zh-CN" sz="1600" b="0" i="0" u="none" strike="noStrike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—— e</a:t>
            </a:r>
            <a:r>
              <a:rPr lang="zh-CN" altLang="en-US" sz="1600" b="0" i="0" u="none" strike="noStrike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签宝的全球化答卷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3EE693D4-C3B4-30D8-BF0B-6D89C7378D81}"/>
              </a:ext>
            </a:extLst>
          </p:cNvPr>
          <p:cNvSpPr/>
          <p:nvPr/>
        </p:nvSpPr>
        <p:spPr>
          <a:xfrm>
            <a:off x="849802" y="4687370"/>
            <a:ext cx="2794000" cy="25400"/>
          </a:xfrm>
          <a:prstGeom prst="roundRect">
            <a:avLst>
              <a:gd name="adj" fmla="val 0"/>
            </a:avLst>
          </a:prstGeom>
          <a:solidFill>
            <a:srgbClr val="E1DAFE"/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6515F59-A726-D196-89C5-8AC54C281F43}"/>
              </a:ext>
            </a:extLst>
          </p:cNvPr>
          <p:cNvSpPr/>
          <p:nvPr/>
        </p:nvSpPr>
        <p:spPr>
          <a:xfrm>
            <a:off x="828738" y="4778277"/>
            <a:ext cx="5294971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演讲嘉宾：</a:t>
            </a:r>
            <a:r>
              <a:rPr lang="en-US" altLang="zh-CN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e</a:t>
            </a: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签宝（拟邀）</a:t>
            </a:r>
            <a:r>
              <a:rPr lang="en-US" altLang="zh-CN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2026</a:t>
            </a: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年</a:t>
            </a:r>
            <a:r>
              <a:rPr lang="en-US" altLang="zh-CN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10</a:t>
            </a: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月</a:t>
            </a:r>
            <a:r>
              <a:rPr lang="en-US" altLang="zh-CN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15</a:t>
            </a: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日  </a:t>
            </a:r>
            <a:r>
              <a:rPr lang="en-US" altLang="zh-CN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·  </a:t>
            </a: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杭州 </a:t>
            </a:r>
            <a:r>
              <a:rPr lang="en-US" altLang="zh-CN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· </a:t>
            </a:r>
            <a:r>
              <a:rPr lang="zh-CN" altLang="en-US" sz="1600" b="0" i="0" u="none" strike="noStrike" dirty="0">
                <a:solidFill>
                  <a:srgbClr val="4D3E72">
                    <a:alpha val="7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滨江</a:t>
            </a:r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0D169C2C-BC8E-B070-0072-B9A9B19C88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29" y="273413"/>
            <a:ext cx="2608263" cy="289539"/>
          </a:xfrm>
          <a:prstGeom prst="rect">
            <a:avLst/>
          </a:prstGeom>
        </p:spPr>
      </p:pic>
      <p:sp>
        <p:nvSpPr>
          <p:cNvPr id="7" name="TextBox 9">
            <a:extLst>
              <a:ext uri="{FF2B5EF4-FFF2-40B4-BE49-F238E27FC236}">
                <a16:creationId xmlns:a16="http://schemas.microsoft.com/office/drawing/2014/main" id="{AFC308E2-3F56-DD30-9AC6-F9C2CC882005}"/>
              </a:ext>
            </a:extLst>
          </p:cNvPr>
          <p:cNvSpPr txBox="1"/>
          <p:nvPr/>
        </p:nvSpPr>
        <p:spPr>
          <a:xfrm>
            <a:off x="870648" y="5926613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dirty="0" err="1">
                <a:solidFill>
                  <a:srgbClr val="59637D"/>
                </a:solidFill>
                <a:latin typeface="微软雅黑"/>
              </a:rPr>
              <a:t>指导单位：中国民主建国会浙江省委会</a:t>
            </a:r>
            <a:r>
              <a:rPr sz="950" b="0" dirty="0">
                <a:solidFill>
                  <a:srgbClr val="59637D"/>
                </a:solidFill>
                <a:latin typeface="微软雅黑"/>
              </a:rPr>
              <a:t>    </a:t>
            </a:r>
            <a:r>
              <a:rPr sz="950" b="0" dirty="0" err="1">
                <a:solidFill>
                  <a:srgbClr val="59637D"/>
                </a:solidFill>
                <a:latin typeface="微软雅黑"/>
              </a:rPr>
              <a:t>主办：浙江省国际数字贸易协会等</a:t>
            </a:r>
            <a:endParaRPr sz="950" b="0" dirty="0">
              <a:solidFill>
                <a:srgbClr val="59637D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049359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关于e签宝"/>
          <p:cNvSpPr txBox="1"/>
          <p:nvPr/>
        </p:nvSpPr>
        <p:spPr>
          <a:xfrm>
            <a:off x="808664" y="188738"/>
            <a:ext cx="3945685" cy="561975"/>
          </a:xfrm>
          <a:prstGeom prst="rect">
            <a:avLst/>
          </a:prstGeom>
          <a:ln w="12700">
            <a:miter lim="400000"/>
          </a:ln>
        </p:spPr>
        <p:txBody>
          <a:bodyPr wrap="square" lIns="50797" tIns="50797" rIns="50797" bIns="50797" anchor="ctr">
            <a:spAutoFit/>
          </a:bodyPr>
          <a:lstStyle>
            <a:lvl1pPr algn="l">
              <a:lnSpc>
                <a:spcPct val="150000"/>
              </a:lnSpc>
              <a:defRPr sz="3000">
                <a:solidFill>
                  <a:srgbClr val="BB261A"/>
                </a:solidFill>
                <a:latin typeface="PingFang SC Bold" panose="020B0100000000000000" charset="-122"/>
                <a:ea typeface="PingFang SC Bold" panose="020B0100000000000000" charset="-122"/>
                <a:cs typeface="PingFang SC Bold" panose="020B0100000000000000" charset="-122"/>
                <a:sym typeface="PingFang SC Bold" panose="020B0100000000000000" charset="-122"/>
              </a:defRPr>
            </a:lvl1pPr>
          </a:lstStyle>
          <a:p>
            <a:pPr marL="0" marR="0" lvl="0" indent="0" algn="l" defTabSz="413385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微软雅黑" charset="-122"/>
              <a:ea typeface="微软雅黑" charset="-122"/>
              <a:cs typeface="微软雅黑" charset="-122"/>
              <a:sym typeface="微软雅黑" charset="-122"/>
            </a:endParaRPr>
          </a:p>
        </p:txBody>
      </p:sp>
      <p:sp>
        <p:nvSpPr>
          <p:cNvPr id="1253" name="矩形"/>
          <p:cNvSpPr/>
          <p:nvPr/>
        </p:nvSpPr>
        <p:spPr>
          <a:xfrm>
            <a:off x="701003" y="1327874"/>
            <a:ext cx="10817297" cy="880699"/>
          </a:xfrm>
          <a:prstGeom prst="roundRect">
            <a:avLst>
              <a:gd name="adj" fmla="val 5677"/>
            </a:avLst>
          </a:prstGeom>
          <a:solidFill>
            <a:srgbClr val="FBFBFB"/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ea typeface="微软雅黑" charset="-122"/>
              <a:cs typeface="微软雅黑" charset="-122"/>
              <a:sym typeface="微软雅黑" charset="-122"/>
            </a:endParaRPr>
          </a:p>
        </p:txBody>
      </p:sp>
      <p:sp>
        <p:nvSpPr>
          <p:cNvPr id="96" name="面向企业组织、政务服务体系、个人用户，提供全球领先的电子合同全生命周期服务。…"/>
          <p:cNvSpPr txBox="1"/>
          <p:nvPr/>
        </p:nvSpPr>
        <p:spPr>
          <a:xfrm>
            <a:off x="953720" y="1364241"/>
            <a:ext cx="10390599" cy="788035"/>
          </a:xfrm>
          <a:prstGeom prst="rect">
            <a:avLst/>
          </a:prstGeom>
          <a:noFill/>
          <a:ln w="12700">
            <a:miter lim="400000"/>
          </a:ln>
        </p:spPr>
        <p:txBody>
          <a:bodyPr wrap="square" lIns="25398" tIns="25398" rIns="25398" bIns="25398" anchor="ctr">
            <a:spAutoFit/>
          </a:bodyPr>
          <a:lstStyle/>
          <a:p>
            <a:pPr marL="0" marR="0" lvl="0" indent="0" algn="just" defTabSz="413385" rtl="0" eaLnBrk="1" fontAlgn="auto" latinLnBrk="0" hangingPunct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00">
                <a:solidFill>
                  <a:srgbClr val="000000"/>
                </a:solidFill>
              </a:defRPr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e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签宝成立于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2002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年，是国内领先的签名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/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合同服务商，多年来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</a:rPr>
              <a:t>各项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运营数据</a:t>
            </a:r>
            <a:r>
              <a:rPr lang="zh-CN" altLang="en-US" sz="1200" b="1" dirty="0">
                <a:solidFill>
                  <a:srgbClr val="C00000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行业领先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，并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</a:rPr>
              <a:t>连续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</a:rPr>
              <a:t>7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</a:rPr>
              <a:t>年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</a:rPr>
              <a:t>入围胡润全球独角兽排行榜。总部设于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杭州，下设中国香港全球业务总部、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南昌第二研发中心及</a:t>
            </a:r>
            <a:r>
              <a:rPr lang="en-US" altLang="zh-CN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50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多个分支机构，员工</a:t>
            </a:r>
            <a:r>
              <a:rPr lang="en-US" altLang="zh-CN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850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人</a:t>
            </a:r>
            <a:r>
              <a:rPr lang="zh-CN" altLang="en-US" sz="1200" kern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，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核心产品包括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</a:rPr>
              <a:t>电子签名、智能合同、数字认证、</a:t>
            </a:r>
            <a:r>
              <a:rPr lang="zh-CN" altLang="en-US" sz="12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charset="-122"/>
                <a:ea typeface="微软雅黑" charset="-122"/>
                <a:cs typeface="微软雅黑" charset="-122"/>
              </a:rPr>
              <a:t>法律服务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微软雅黑" charset="-122"/>
                <a:ea typeface="微软雅黑" charset="-122"/>
                <a:cs typeface="微软雅黑" charset="-122"/>
              </a:rPr>
              <a:t>等。</a:t>
            </a:r>
            <a:endParaRPr lang="en-US" altLang="zh-CN" sz="1200" kern="0" dirty="0">
              <a:solidFill>
                <a:schemeClr val="tx1">
                  <a:lumMod val="95000"/>
                  <a:lumOff val="5000"/>
                </a:schemeClr>
              </a:solidFill>
              <a:latin typeface="微软雅黑" charset="-122"/>
              <a:ea typeface="微软雅黑" charset="-122"/>
              <a:cs typeface="微软雅黑" charset="-122"/>
              <a:sym typeface="微软雅黑" charset="-122"/>
            </a:endParaRPr>
          </a:p>
        </p:txBody>
      </p:sp>
      <p:sp>
        <p:nvSpPr>
          <p:cNvPr id="20" name="标题 1"/>
          <p:cNvSpPr txBox="1"/>
          <p:nvPr/>
        </p:nvSpPr>
        <p:spPr>
          <a:xfrm>
            <a:off x="1320886" y="5673013"/>
            <a:ext cx="3881040" cy="469124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>
              <a:lnSpc>
                <a:spcPct val="90000"/>
              </a:lnSpc>
              <a:spcBef>
                <a:spcPct val="0"/>
              </a:spcBef>
              <a:buNone/>
              <a:defRPr kumimoji="1" sz="4600" b="1">
                <a:gradFill>
                  <a:gsLst>
                    <a:gs pos="0">
                      <a:srgbClr val="3A90EE"/>
                    </a:gs>
                    <a:gs pos="100000">
                      <a:srgbClr val="2F2FEC"/>
                    </a:gs>
                  </a:gsLst>
                  <a:lin ang="5400000" scaled="0"/>
                </a:gradFill>
                <a:latin typeface="微软雅黑" charset="-122"/>
                <a:ea typeface="微软雅黑" charset="-122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身份认证</a:t>
            </a:r>
            <a:r>
              <a:rPr lang="en-US" altLang="zh-CN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  </a:t>
            </a:r>
            <a:r>
              <a:rPr lang="zh-CN" altLang="en-US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电子签名</a:t>
            </a:r>
            <a:r>
              <a:rPr lang="en-US" altLang="zh-CN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  AI</a:t>
            </a:r>
            <a:r>
              <a:rPr lang="zh-CN" altLang="en-US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合同</a:t>
            </a:r>
            <a:r>
              <a:rPr lang="en-US" altLang="zh-CN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 AI</a:t>
            </a:r>
            <a:r>
              <a:rPr lang="zh-CN" altLang="en-US" sz="1425" spc="145" dirty="0">
                <a:solidFill>
                  <a:schemeClr val="tx1"/>
                </a:solidFill>
                <a:latin typeface="微软雅黑" charset="-122"/>
                <a:ea typeface="微软雅黑" charset="-122"/>
                <a:cs typeface="+mn-cs"/>
              </a:rPr>
              <a:t>法律服务</a:t>
            </a:r>
          </a:p>
        </p:txBody>
      </p:sp>
      <p:sp>
        <p:nvSpPr>
          <p:cNvPr id="11" name="标题 1"/>
          <p:cNvSpPr txBox="1"/>
          <p:nvPr/>
        </p:nvSpPr>
        <p:spPr>
          <a:xfrm>
            <a:off x="6623672" y="5645022"/>
            <a:ext cx="3881040" cy="469124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>
              <a:lnSpc>
                <a:spcPct val="150000"/>
              </a:lnSpc>
              <a:spcBef>
                <a:spcPct val="0"/>
              </a:spcBef>
              <a:buNone/>
              <a:defRPr kumimoji="1" sz="1425" b="1" spc="145">
                <a:solidFill>
                  <a:schemeClr val="bg1"/>
                </a:solidFill>
                <a:latin typeface="微软雅黑" charset="-122"/>
                <a:ea typeface="微软雅黑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Agent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身份认证</a:t>
            </a:r>
            <a:r>
              <a:rPr lang="en-US" altLang="zh-CN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、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授权管理</a:t>
            </a:r>
            <a:r>
              <a:rPr lang="en-US" altLang="zh-CN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  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行为审计</a:t>
            </a:r>
          </a:p>
        </p:txBody>
      </p:sp>
      <p:sp>
        <p:nvSpPr>
          <p:cNvPr id="13" name="标题 1"/>
          <p:cNvSpPr txBox="1"/>
          <p:nvPr/>
        </p:nvSpPr>
        <p:spPr>
          <a:xfrm>
            <a:off x="1333289" y="6048281"/>
            <a:ext cx="3881040" cy="469124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>
              <a:lnSpc>
                <a:spcPct val="150000"/>
              </a:lnSpc>
              <a:spcBef>
                <a:spcPct val="0"/>
              </a:spcBef>
              <a:buNone/>
              <a:defRPr kumimoji="1" sz="1425" b="1" spc="145">
                <a:solidFill>
                  <a:schemeClr val="bg1"/>
                </a:solidFill>
                <a:latin typeface="微软雅黑" charset="-122"/>
                <a:ea typeface="微软雅黑" charset="-122"/>
              </a:defRPr>
            </a:lvl1pPr>
          </a:lstStyle>
          <a:p>
            <a:r>
              <a:rPr lang="zh-CN" altLang="en-US" dirty="0">
                <a:gradFill>
                  <a:gsLst>
                    <a:gs pos="43000">
                      <a:schemeClr val="tx1">
                        <a:lumMod val="95000"/>
                        <a:lumOff val="5000"/>
                      </a:schemeClr>
                    </a:gs>
                    <a:gs pos="100000">
                      <a:srgbClr val="CA61FF"/>
                    </a:gs>
                  </a:gsLst>
                  <a:path path="circle">
                    <a:fillToRect r="100000" b="100000"/>
                  </a:path>
                </a:gradFill>
                <a:sym typeface="+mn-ea"/>
              </a:rPr>
              <a:t>中国的全球信任服务基础设施</a:t>
            </a:r>
            <a:endParaRPr lang="zh-CN" altLang="en-US" spc="145" dirty="0">
              <a:gradFill>
                <a:gsLst>
                  <a:gs pos="43000">
                    <a:schemeClr val="tx1">
                      <a:lumMod val="95000"/>
                      <a:lumOff val="5000"/>
                    </a:schemeClr>
                  </a:gs>
                  <a:gs pos="100000">
                    <a:srgbClr val="CA61FF"/>
                  </a:gs>
                </a:gsLst>
                <a:path path="circle">
                  <a:fillToRect r="100000" b="100000"/>
                </a:path>
              </a:gradFill>
              <a:latin typeface="微软雅黑" charset="-122"/>
              <a:ea typeface="微软雅黑" charset="-122"/>
              <a:cs typeface="+mn-cs"/>
            </a:endParaRPr>
          </a:p>
          <a:p>
            <a:endParaRPr lang="zh-CN" altLang="en-US" spc="145" dirty="0">
              <a:gradFill>
                <a:gsLst>
                  <a:gs pos="43000">
                    <a:schemeClr val="tx1">
                      <a:lumMod val="95000"/>
                      <a:lumOff val="5000"/>
                    </a:schemeClr>
                  </a:gs>
                  <a:gs pos="100000">
                    <a:srgbClr val="CA61FF"/>
                  </a:gs>
                </a:gsLst>
                <a:path path="circle">
                  <a:fillToRect r="100000" b="100000"/>
                </a:path>
              </a:gradFill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9" name="标题 1"/>
          <p:cNvSpPr txBox="1"/>
          <p:nvPr/>
        </p:nvSpPr>
        <p:spPr>
          <a:xfrm>
            <a:off x="6654521" y="6048281"/>
            <a:ext cx="3881040" cy="469124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>
              <a:lnSpc>
                <a:spcPct val="150000"/>
              </a:lnSpc>
              <a:spcBef>
                <a:spcPct val="0"/>
              </a:spcBef>
              <a:buNone/>
              <a:defRPr kumimoji="1" sz="1425" b="1" spc="145">
                <a:solidFill>
                  <a:schemeClr val="bg1"/>
                </a:solidFill>
                <a:latin typeface="微软雅黑" charset="-122"/>
                <a:ea typeface="微软雅黑" charset="-122"/>
              </a:defRPr>
            </a:lvl1pPr>
          </a:lstStyle>
          <a:p>
            <a:r>
              <a:rPr lang="zh-CN" altLang="en-US" dirty="0">
                <a:gradFill>
                  <a:gsLst>
                    <a:gs pos="43000">
                      <a:schemeClr val="tx1">
                        <a:lumMod val="95000"/>
                        <a:lumOff val="5000"/>
                      </a:schemeClr>
                    </a:gs>
                    <a:gs pos="100000">
                      <a:srgbClr val="CA61FF"/>
                    </a:gs>
                  </a:gsLst>
                  <a:path path="circle">
                    <a:fillToRect r="100000" b="100000"/>
                  </a:path>
                </a:gradFill>
                <a:latin typeface="微软雅黑" charset="-122"/>
                <a:ea typeface="微软雅黑" charset="-122"/>
              </a:rPr>
              <a:t>可信数字人基础设施</a:t>
            </a:r>
          </a:p>
        </p:txBody>
      </p:sp>
      <p:pic>
        <p:nvPicPr>
          <p:cNvPr id="23" name="图形 2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9291" y="2384930"/>
            <a:ext cx="1345018" cy="323983"/>
          </a:xfrm>
          <a:prstGeom prst="rect">
            <a:avLst/>
          </a:prstGeom>
        </p:spPr>
      </p:pic>
      <p:pic>
        <p:nvPicPr>
          <p:cNvPr id="25" name="图形 2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8601" y="2391866"/>
            <a:ext cx="2022253" cy="310113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524126" y="484126"/>
            <a:ext cx="7143115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亚太地区数字信任服务领先品牌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rcRect l="2265" t="7207" r="1244" b="15331"/>
          <a:stretch>
            <a:fillRect/>
          </a:stretch>
        </p:blipFill>
        <p:spPr>
          <a:xfrm>
            <a:off x="1106847" y="2882859"/>
            <a:ext cx="4355205" cy="2702954"/>
          </a:xfrm>
          <a:prstGeom prst="roundRect">
            <a:avLst>
              <a:gd name="adj" fmla="val 7468"/>
            </a:avLst>
          </a:prstGeom>
          <a:ln w="15875">
            <a:solidFill>
              <a:srgbClr val="998BFF"/>
            </a:solidFill>
          </a:ln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rcRect l="2619" r="4999" b="25366"/>
          <a:stretch>
            <a:fillRect/>
          </a:stretch>
        </p:blipFill>
        <p:spPr>
          <a:xfrm>
            <a:off x="6269417" y="2865742"/>
            <a:ext cx="4355205" cy="2720072"/>
          </a:xfrm>
          <a:prstGeom prst="roundRect">
            <a:avLst>
              <a:gd name="adj" fmla="val 7468"/>
            </a:avLst>
          </a:prstGeom>
          <a:ln w="15875">
            <a:solidFill>
              <a:srgbClr val="998BFF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关于e签宝"/>
          <p:cNvSpPr txBox="1"/>
          <p:nvPr/>
        </p:nvSpPr>
        <p:spPr>
          <a:xfrm>
            <a:off x="4503257" y="438844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L="0" marR="0" indent="0" algn="l" defTabSz="2438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4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>
              <a:defRPr sz="4000">
                <a:solidFill>
                  <a:prstClr val="black">
                    <a:lumMod val="75000"/>
                    <a:lumOff val="25000"/>
                  </a:prstClr>
                </a:solidFill>
                <a:uLnTx/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algn="ctr" defTabSz="413385" hangingPunct="0">
              <a:defRPr/>
            </a:pPr>
            <a:r>
              <a:rPr lang="zh-CN" altLang="en-US" sz="1800" kern="0" dirty="0">
                <a:sym typeface="微软雅黑" charset="-122"/>
              </a:rPr>
              <a:t>中国与亚太电子签行业领导者</a:t>
            </a:r>
          </a:p>
        </p:txBody>
      </p:sp>
      <p:graphicFrame>
        <p:nvGraphicFramePr>
          <p:cNvPr id="8" name="图表 7" descr="7b0a202020202263686172745265734964223a20223530303731333037220a7d0a"/>
          <p:cNvGraphicFramePr/>
          <p:nvPr>
            <p:custDataLst>
              <p:tags r:id="rId1"/>
            </p:custDataLst>
          </p:nvPr>
        </p:nvGraphicFramePr>
        <p:xfrm>
          <a:off x="4925438" y="1759037"/>
          <a:ext cx="2569076" cy="2777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sp>
        <p:nvSpPr>
          <p:cNvPr id="10" name="矩形: 圆顶角 23"/>
          <p:cNvSpPr/>
          <p:nvPr>
            <p:custDataLst>
              <p:tags r:id="rId2"/>
            </p:custDataLst>
          </p:nvPr>
        </p:nvSpPr>
        <p:spPr>
          <a:xfrm>
            <a:off x="4925438" y="4656391"/>
            <a:ext cx="2569711" cy="234303"/>
          </a:xfrm>
          <a:prstGeom prst="round2SameRect">
            <a:avLst>
              <a:gd name="adj1" fmla="val 0"/>
              <a:gd name="adj2" fmla="val 0"/>
            </a:avLst>
          </a:prstGeom>
          <a:noFill/>
          <a:ln w="9525" cap="flat">
            <a:noFill/>
            <a:prstDash val="solid"/>
            <a:miter/>
          </a:ln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56000">
                      <a:srgbClr val="FD3D3D"/>
                    </a:gs>
                    <a:gs pos="100000">
                      <a:srgbClr val="CA61FF">
                        <a:alpha val="7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14:hiddenFill>
            </a:ext>
          </a:extLst>
        </p:spPr>
        <p:txBody>
          <a:bodyPr rot="0" spcFirstLastPara="0" vertOverflow="overflow" horzOverflow="overflow" vert="horz" wrap="square" lIns="91435" tIns="45717" rIns="91435" bIns="45717" numCol="1" spcCol="0" rtlCol="0" fromWordArt="0" anchor="ctr" anchorCtr="0" forceAA="0" compatLnSpc="1">
            <a:no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 sz="12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  <a:latin typeface="微软雅黑" charset="-122"/>
                <a:ea typeface="微软雅黑" charset="-122"/>
                <a:sym typeface="+mn-ea"/>
              </a:rPr>
              <a:t>中国地区电子签市场竞争格局</a:t>
            </a:r>
            <a:endParaRPr lang="zh-CN" altLang="en-US" sz="1200" dirty="0">
              <a:gradFill>
                <a:gsLst>
                  <a:gs pos="42000">
                    <a:srgbClr val="EC5763"/>
                  </a:gs>
                  <a:gs pos="0">
                    <a:srgbClr val="F28F97"/>
                  </a:gs>
                  <a:gs pos="100000">
                    <a:srgbClr val="E51E2E"/>
                  </a:gs>
                </a:gsLst>
                <a:lin ang="5400000" scaled="1"/>
              </a:gradFill>
              <a:latin typeface="微软雅黑" charset="-122"/>
              <a:ea typeface="微软雅黑" charset="-122"/>
              <a:cs typeface="微软雅黑" charset="-122"/>
              <a:sym typeface="+mn-ea"/>
            </a:endParaRPr>
          </a:p>
        </p:txBody>
      </p:sp>
      <p:graphicFrame>
        <p:nvGraphicFramePr>
          <p:cNvPr id="13" name="图表 12"/>
          <p:cNvGraphicFramePr/>
          <p:nvPr>
            <p:custDataLst>
              <p:tags r:id="rId3"/>
            </p:custDataLst>
          </p:nvPr>
        </p:nvGraphicFramePr>
        <p:xfrm>
          <a:off x="7777075" y="1759037"/>
          <a:ext cx="2569076" cy="2777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15" name="矩形: 圆顶角 23"/>
          <p:cNvSpPr/>
          <p:nvPr>
            <p:custDataLst>
              <p:tags r:id="rId4"/>
            </p:custDataLst>
          </p:nvPr>
        </p:nvSpPr>
        <p:spPr>
          <a:xfrm>
            <a:off x="7777075" y="4656391"/>
            <a:ext cx="2569076" cy="234303"/>
          </a:xfrm>
          <a:prstGeom prst="round2SameRect">
            <a:avLst>
              <a:gd name="adj1" fmla="val 0"/>
              <a:gd name="adj2" fmla="val 0"/>
            </a:avLst>
          </a:prstGeom>
          <a:noFill/>
          <a:ln w="9525" cap="flat">
            <a:noFill/>
            <a:prstDash val="solid"/>
            <a:miter/>
          </a:ln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56000">
                      <a:srgbClr val="FD3D3D"/>
                    </a:gs>
                    <a:gs pos="100000">
                      <a:srgbClr val="CA61FF">
                        <a:alpha val="7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14:hiddenFill>
            </a:ext>
          </a:extLst>
        </p:spPr>
        <p:txBody>
          <a:bodyPr rot="0" spcFirstLastPara="0" vertOverflow="overflow" horzOverflow="overflow" vert="horz" wrap="square" lIns="91435" tIns="45717" rIns="91435" bIns="45717" numCol="1" spcCol="0" rtlCol="0" fromWordArt="0" anchor="ctr" anchorCtr="0" forceAA="0" compatLnSpc="1">
            <a:no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 sz="12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  <a:latin typeface="微软雅黑" charset="-122"/>
                <a:ea typeface="微软雅黑" charset="-122"/>
                <a:sym typeface="+mn-ea"/>
              </a:rPr>
              <a:t>亚太地区电子签市场竞争格局</a:t>
            </a:r>
            <a:endParaRPr lang="zh-CN" altLang="en-US" sz="1200" dirty="0">
              <a:gradFill>
                <a:gsLst>
                  <a:gs pos="42000">
                    <a:srgbClr val="EC5763"/>
                  </a:gs>
                  <a:gs pos="0">
                    <a:srgbClr val="F28F97"/>
                  </a:gs>
                  <a:gs pos="100000">
                    <a:srgbClr val="E51E2E"/>
                  </a:gs>
                </a:gsLst>
                <a:lin ang="5400000" scaled="1"/>
              </a:gradFill>
              <a:latin typeface="微软雅黑" charset="-122"/>
              <a:ea typeface="微软雅黑" charset="-122"/>
              <a:cs typeface="微软雅黑" charset="-122"/>
              <a:sym typeface="+mn-ea"/>
            </a:endParaRPr>
          </a:p>
        </p:txBody>
      </p:sp>
      <p:sp>
        <p:nvSpPr>
          <p:cNvPr id="4" name="任意多边形: 形状 5"/>
          <p:cNvSpPr/>
          <p:nvPr>
            <p:custDataLst>
              <p:tags r:id="rId5"/>
            </p:custDataLst>
          </p:nvPr>
        </p:nvSpPr>
        <p:spPr>
          <a:xfrm>
            <a:off x="843236" y="5146481"/>
            <a:ext cx="2039514" cy="1189526"/>
          </a:xfrm>
          <a:custGeom>
            <a:avLst/>
            <a:gdLst>
              <a:gd name="connsiteX0" fmla="*/ 0 w 5040153"/>
              <a:gd name="connsiteY0" fmla="*/ 0 h 7337869"/>
              <a:gd name="connsiteX1" fmla="*/ 5040154 w 5040153"/>
              <a:gd name="connsiteY1" fmla="*/ 0 h 7337869"/>
              <a:gd name="connsiteX2" fmla="*/ 5040154 w 5040153"/>
              <a:gd name="connsiteY2" fmla="*/ 7337870 h 7337869"/>
              <a:gd name="connsiteX3" fmla="*/ 0 w 5040153"/>
              <a:gd name="connsiteY3" fmla="*/ 7337870 h 733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40153" h="7337869">
                <a:moveTo>
                  <a:pt x="0" y="0"/>
                </a:moveTo>
                <a:lnTo>
                  <a:pt x="5040154" y="0"/>
                </a:lnTo>
                <a:lnTo>
                  <a:pt x="5040154" y="7337870"/>
                </a:lnTo>
                <a:lnTo>
                  <a:pt x="0" y="7337870"/>
                </a:lnTo>
                <a:close/>
              </a:path>
            </a:pathLst>
          </a:custGeom>
          <a:solidFill>
            <a:schemeClr val="bg1"/>
          </a:solidFill>
          <a:ln w="15875">
            <a:noFill/>
          </a:ln>
          <a:effectLst>
            <a:outerShdw blurRad="127000" dist="76200" dir="5400000" algn="t" rotWithShape="0">
              <a:srgbClr val="B6A5D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000">
              <a:ln>
                <a:noFill/>
              </a:ln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任意多边形: 形状 6"/>
          <p:cNvSpPr/>
          <p:nvPr>
            <p:custDataLst>
              <p:tags r:id="rId6"/>
            </p:custDataLst>
          </p:nvPr>
        </p:nvSpPr>
        <p:spPr>
          <a:xfrm>
            <a:off x="5127993" y="5146481"/>
            <a:ext cx="2039514" cy="1188852"/>
          </a:xfrm>
          <a:custGeom>
            <a:avLst/>
            <a:gdLst>
              <a:gd name="connsiteX0" fmla="*/ 0 w 5040153"/>
              <a:gd name="connsiteY0" fmla="*/ 0 h 7337869"/>
              <a:gd name="connsiteX1" fmla="*/ 5040154 w 5040153"/>
              <a:gd name="connsiteY1" fmla="*/ 0 h 7337869"/>
              <a:gd name="connsiteX2" fmla="*/ 5040154 w 5040153"/>
              <a:gd name="connsiteY2" fmla="*/ 7337870 h 7337869"/>
              <a:gd name="connsiteX3" fmla="*/ 0 w 5040153"/>
              <a:gd name="connsiteY3" fmla="*/ 7337870 h 733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40153" h="7337869">
                <a:moveTo>
                  <a:pt x="0" y="0"/>
                </a:moveTo>
                <a:lnTo>
                  <a:pt x="5040154" y="0"/>
                </a:lnTo>
                <a:lnTo>
                  <a:pt x="5040154" y="7337870"/>
                </a:lnTo>
                <a:lnTo>
                  <a:pt x="0" y="733787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rgbClr val="000000">
                <a:alpha val="0"/>
              </a:srgbClr>
            </a:solidFill>
          </a:ln>
          <a:effectLst>
            <a:outerShdw blurRad="127000" dist="76200" dir="5400000" algn="t" rotWithShape="0">
              <a:srgbClr val="B6A5D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000">
              <a:ln>
                <a:noFill/>
              </a:ln>
            </a:endParaRPr>
          </a:p>
        </p:txBody>
      </p:sp>
      <p:sp>
        <p:nvSpPr>
          <p:cNvPr id="11" name="任意多边形: 形状 7"/>
          <p:cNvSpPr/>
          <p:nvPr>
            <p:custDataLst>
              <p:tags r:id="rId7"/>
            </p:custDataLst>
          </p:nvPr>
        </p:nvSpPr>
        <p:spPr>
          <a:xfrm>
            <a:off x="7270371" y="5146481"/>
            <a:ext cx="2039514" cy="1188852"/>
          </a:xfrm>
          <a:custGeom>
            <a:avLst/>
            <a:gdLst>
              <a:gd name="connsiteX0" fmla="*/ 0 w 5040153"/>
              <a:gd name="connsiteY0" fmla="*/ 0 h 7337869"/>
              <a:gd name="connsiteX1" fmla="*/ 5040154 w 5040153"/>
              <a:gd name="connsiteY1" fmla="*/ 0 h 7337869"/>
              <a:gd name="connsiteX2" fmla="*/ 5040154 w 5040153"/>
              <a:gd name="connsiteY2" fmla="*/ 7337870 h 7337869"/>
              <a:gd name="connsiteX3" fmla="*/ 0 w 5040153"/>
              <a:gd name="connsiteY3" fmla="*/ 7337870 h 733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40153" h="7337869">
                <a:moveTo>
                  <a:pt x="0" y="0"/>
                </a:moveTo>
                <a:lnTo>
                  <a:pt x="5040154" y="0"/>
                </a:lnTo>
                <a:lnTo>
                  <a:pt x="5040154" y="7337870"/>
                </a:lnTo>
                <a:lnTo>
                  <a:pt x="0" y="733787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rgbClr val="000000">
                <a:alpha val="0"/>
              </a:srgbClr>
            </a:solidFill>
          </a:ln>
          <a:effectLst>
            <a:outerShdw blurRad="127000" dist="76200" dir="5400000" algn="t" rotWithShape="0">
              <a:srgbClr val="B6A5D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000"/>
          </a:p>
        </p:txBody>
      </p:sp>
      <p:sp>
        <p:nvSpPr>
          <p:cNvPr id="24" name="任意多边形: 形状 23"/>
          <p:cNvSpPr/>
          <p:nvPr>
            <p:custDataLst>
              <p:tags r:id="rId8"/>
            </p:custDataLst>
          </p:nvPr>
        </p:nvSpPr>
        <p:spPr>
          <a:xfrm>
            <a:off x="2985614" y="5146481"/>
            <a:ext cx="2039514" cy="1188852"/>
          </a:xfrm>
          <a:custGeom>
            <a:avLst/>
            <a:gdLst>
              <a:gd name="connsiteX0" fmla="*/ 0 w 5040153"/>
              <a:gd name="connsiteY0" fmla="*/ 0 h 7337869"/>
              <a:gd name="connsiteX1" fmla="*/ 5040154 w 5040153"/>
              <a:gd name="connsiteY1" fmla="*/ 0 h 7337869"/>
              <a:gd name="connsiteX2" fmla="*/ 5040154 w 5040153"/>
              <a:gd name="connsiteY2" fmla="*/ 7337870 h 7337869"/>
              <a:gd name="connsiteX3" fmla="*/ 0 w 5040153"/>
              <a:gd name="connsiteY3" fmla="*/ 7337870 h 733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40153" h="7337869">
                <a:moveTo>
                  <a:pt x="0" y="0"/>
                </a:moveTo>
                <a:lnTo>
                  <a:pt x="5040154" y="0"/>
                </a:lnTo>
                <a:lnTo>
                  <a:pt x="5040154" y="7337870"/>
                </a:lnTo>
                <a:lnTo>
                  <a:pt x="0" y="733787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rgbClr val="000000">
                <a:alpha val="0"/>
              </a:srgbClr>
            </a:solidFill>
          </a:ln>
          <a:effectLst>
            <a:outerShdw blurRad="127000" dist="76200" dir="5400000" algn="t" rotWithShape="0">
              <a:srgbClr val="B6A5D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000"/>
          </a:p>
        </p:txBody>
      </p:sp>
      <p:sp>
        <p:nvSpPr>
          <p:cNvPr id="25" name="任意多边形: 形状 24"/>
          <p:cNvSpPr/>
          <p:nvPr>
            <p:custDataLst>
              <p:tags r:id="rId9"/>
            </p:custDataLst>
          </p:nvPr>
        </p:nvSpPr>
        <p:spPr>
          <a:xfrm>
            <a:off x="9412750" y="5146481"/>
            <a:ext cx="2039514" cy="1188852"/>
          </a:xfrm>
          <a:custGeom>
            <a:avLst/>
            <a:gdLst>
              <a:gd name="connsiteX0" fmla="*/ 0 w 5040153"/>
              <a:gd name="connsiteY0" fmla="*/ 0 h 7337869"/>
              <a:gd name="connsiteX1" fmla="*/ 5040154 w 5040153"/>
              <a:gd name="connsiteY1" fmla="*/ 0 h 7337869"/>
              <a:gd name="connsiteX2" fmla="*/ 5040154 w 5040153"/>
              <a:gd name="connsiteY2" fmla="*/ 7337870 h 7337869"/>
              <a:gd name="connsiteX3" fmla="*/ 0 w 5040153"/>
              <a:gd name="connsiteY3" fmla="*/ 7337870 h 733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40153" h="7337869">
                <a:moveTo>
                  <a:pt x="0" y="0"/>
                </a:moveTo>
                <a:lnTo>
                  <a:pt x="5040154" y="0"/>
                </a:lnTo>
                <a:lnTo>
                  <a:pt x="5040154" y="7337870"/>
                </a:lnTo>
                <a:lnTo>
                  <a:pt x="0" y="733787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rgbClr val="000000">
                <a:alpha val="0"/>
              </a:srgbClr>
            </a:solidFill>
          </a:ln>
          <a:effectLst>
            <a:outerShdw blurRad="127000" dist="76200" dir="5400000" algn="t" rotWithShape="0">
              <a:srgbClr val="B6A5D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000"/>
          </a:p>
        </p:txBody>
      </p:sp>
      <p:sp>
        <p:nvSpPr>
          <p:cNvPr id="12" name="矩形 11"/>
          <p:cNvSpPr/>
          <p:nvPr>
            <p:custDataLst>
              <p:tags r:id="rId10"/>
            </p:custDataLst>
          </p:nvPr>
        </p:nvSpPr>
        <p:spPr>
          <a:xfrm>
            <a:off x="1148572" y="5215856"/>
            <a:ext cx="1476285" cy="4871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全球用户数</a:t>
            </a:r>
          </a:p>
        </p:txBody>
      </p:sp>
      <p:sp>
        <p:nvSpPr>
          <p:cNvPr id="17" name="矩形 16"/>
          <p:cNvSpPr/>
          <p:nvPr>
            <p:custDataLst>
              <p:tags r:id="rId11"/>
            </p:custDataLst>
          </p:nvPr>
        </p:nvSpPr>
        <p:spPr>
          <a:xfrm>
            <a:off x="5418773" y="5215856"/>
            <a:ext cx="1476285" cy="4871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累计付费客户数</a:t>
            </a:r>
          </a:p>
        </p:txBody>
      </p:sp>
      <p:sp>
        <p:nvSpPr>
          <p:cNvPr id="18" name="矩形 17"/>
          <p:cNvSpPr/>
          <p:nvPr>
            <p:custDataLst>
              <p:tags r:id="rId12"/>
            </p:custDataLst>
          </p:nvPr>
        </p:nvSpPr>
        <p:spPr>
          <a:xfrm>
            <a:off x="7526263" y="5215692"/>
            <a:ext cx="1476298" cy="48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企业付费客户数 </a:t>
            </a:r>
          </a:p>
        </p:txBody>
      </p:sp>
      <p:sp>
        <p:nvSpPr>
          <p:cNvPr id="26" name="矩形 25"/>
          <p:cNvSpPr/>
          <p:nvPr>
            <p:custDataLst>
              <p:tags r:id="rId13"/>
            </p:custDataLst>
          </p:nvPr>
        </p:nvSpPr>
        <p:spPr>
          <a:xfrm>
            <a:off x="3300412" y="5215856"/>
            <a:ext cx="1476285" cy="4871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累计签署量</a:t>
            </a:r>
          </a:p>
        </p:txBody>
      </p:sp>
      <p:sp>
        <p:nvSpPr>
          <p:cNvPr id="33" name="矩形 32"/>
          <p:cNvSpPr/>
          <p:nvPr>
            <p:custDataLst>
              <p:tags r:id="rId14"/>
            </p:custDataLst>
          </p:nvPr>
        </p:nvSpPr>
        <p:spPr>
          <a:xfrm>
            <a:off x="9655490" y="5215856"/>
            <a:ext cx="1476285" cy="4871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日均签署量 </a:t>
            </a:r>
          </a:p>
        </p:txBody>
      </p:sp>
      <p:sp>
        <p:nvSpPr>
          <p:cNvPr id="34" name="文本框 33"/>
          <p:cNvSpPr txBox="1"/>
          <p:nvPr>
            <p:custDataLst>
              <p:tags r:id="rId15"/>
            </p:custDataLst>
          </p:nvPr>
        </p:nvSpPr>
        <p:spPr>
          <a:xfrm>
            <a:off x="5341689" y="5344002"/>
            <a:ext cx="1599309" cy="92202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>
            <a:defPPr>
              <a:defRPr lang="en-US"/>
            </a:defPPr>
            <a:lvl1pPr algn="ctr">
              <a:lnSpc>
                <a:spcPct val="150000"/>
              </a:lnSpc>
              <a:defRPr sz="8000" b="1">
                <a:gradFill>
                  <a:gsLst>
                    <a:gs pos="0">
                      <a:schemeClr val="bg1"/>
                    </a:gs>
                    <a:gs pos="100000">
                      <a:srgbClr val="3DCBFD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</a:defRPr>
            </a:lvl1pPr>
          </a:lstStyle>
          <a:p>
            <a:r>
              <a:rPr lang="en-US" altLang="zh-CN" sz="3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75</a:t>
            </a:r>
            <a:r>
              <a:rPr lang="zh-CN" altLang="en-US" sz="1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万</a:t>
            </a:r>
          </a:p>
        </p:txBody>
      </p:sp>
      <p:sp>
        <p:nvSpPr>
          <p:cNvPr id="44" name="文本框 43"/>
          <p:cNvSpPr txBox="1"/>
          <p:nvPr>
            <p:custDataLst>
              <p:tags r:id="rId16"/>
            </p:custDataLst>
          </p:nvPr>
        </p:nvSpPr>
        <p:spPr>
          <a:xfrm>
            <a:off x="7477671" y="5344002"/>
            <a:ext cx="1599309" cy="92202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>
            <a:defPPr>
              <a:defRPr lang="en-US"/>
            </a:defPPr>
            <a:lvl1pPr algn="ctr">
              <a:lnSpc>
                <a:spcPct val="150000"/>
              </a:lnSpc>
              <a:defRPr sz="8000" b="1">
                <a:gradFill>
                  <a:gsLst>
                    <a:gs pos="0">
                      <a:schemeClr val="bg1"/>
                    </a:gs>
                    <a:gs pos="100000">
                      <a:srgbClr val="3DCBFD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</a:defRPr>
            </a:lvl1pPr>
          </a:lstStyle>
          <a:p>
            <a:r>
              <a:rPr lang="en-US" altLang="zh-CN" sz="3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43</a:t>
            </a:r>
            <a:r>
              <a:rPr lang="zh-CN" altLang="en-US" sz="1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万 </a:t>
            </a:r>
          </a:p>
        </p:txBody>
      </p:sp>
      <p:sp>
        <p:nvSpPr>
          <p:cNvPr id="45" name="文本框 44"/>
          <p:cNvSpPr txBox="1"/>
          <p:nvPr>
            <p:custDataLst>
              <p:tags r:id="rId17"/>
            </p:custDataLst>
          </p:nvPr>
        </p:nvSpPr>
        <p:spPr>
          <a:xfrm>
            <a:off x="9354002" y="5344002"/>
            <a:ext cx="2107206" cy="92202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>
            <a:defPPr>
              <a:defRPr lang="en-US"/>
            </a:defPPr>
            <a:lvl1pPr algn="ctr">
              <a:lnSpc>
                <a:spcPct val="150000"/>
              </a:lnSpc>
              <a:defRPr sz="8000" b="1">
                <a:gradFill>
                  <a:gsLst>
                    <a:gs pos="0">
                      <a:schemeClr val="bg1"/>
                    </a:gs>
                    <a:gs pos="100000">
                      <a:srgbClr val="3DCBFD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</a:defRPr>
            </a:lvl1pPr>
          </a:lstStyle>
          <a:p>
            <a:r>
              <a:rPr lang="en-US" altLang="zh-CN" sz="3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3000</a:t>
            </a:r>
            <a:r>
              <a:rPr lang="en-US" altLang="zh-CN" sz="10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 </a:t>
            </a:r>
            <a:r>
              <a:rPr lang="zh-CN" altLang="en-US" sz="1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万次 </a:t>
            </a:r>
          </a:p>
        </p:txBody>
      </p:sp>
      <p:sp>
        <p:nvSpPr>
          <p:cNvPr id="46" name="文本框 45"/>
          <p:cNvSpPr txBox="1"/>
          <p:nvPr>
            <p:custDataLst>
              <p:tags r:id="rId18"/>
            </p:custDataLst>
          </p:nvPr>
        </p:nvSpPr>
        <p:spPr>
          <a:xfrm>
            <a:off x="1072762" y="5344002"/>
            <a:ext cx="1599309" cy="92202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>
            <a:defPPr>
              <a:defRPr lang="en-US"/>
            </a:defPPr>
            <a:lvl1pPr algn="ctr">
              <a:lnSpc>
                <a:spcPct val="150000"/>
              </a:lnSpc>
              <a:defRPr sz="8000" b="1">
                <a:gradFill>
                  <a:gsLst>
                    <a:gs pos="0">
                      <a:schemeClr val="bg1"/>
                    </a:gs>
                    <a:gs pos="100000">
                      <a:srgbClr val="3DCBFD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</a:defRPr>
            </a:lvl1pPr>
          </a:lstStyle>
          <a:p>
            <a:r>
              <a:rPr lang="en-US" altLang="zh-CN" sz="3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  <a:tileRect r="-100000" b="-100000"/>
                </a:gradFill>
              </a:rPr>
              <a:t>7</a:t>
            </a:r>
            <a:r>
              <a:rPr lang="zh-CN" altLang="en-US" sz="3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  <a:tileRect r="-100000" b="-100000"/>
                </a:gradFill>
              </a:rPr>
              <a:t>亿</a:t>
            </a:r>
          </a:p>
        </p:txBody>
      </p:sp>
      <p:sp>
        <p:nvSpPr>
          <p:cNvPr id="47" name="文本框 46"/>
          <p:cNvSpPr txBox="1"/>
          <p:nvPr>
            <p:custDataLst>
              <p:tags r:id="rId19"/>
            </p:custDataLst>
          </p:nvPr>
        </p:nvSpPr>
        <p:spPr>
          <a:xfrm>
            <a:off x="3201914" y="5344003"/>
            <a:ext cx="1599309" cy="92202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>
            <a:defPPr>
              <a:defRPr lang="en-US"/>
            </a:defPPr>
            <a:lvl1pPr algn="ctr">
              <a:lnSpc>
                <a:spcPct val="150000"/>
              </a:lnSpc>
              <a:defRPr sz="8000" b="1">
                <a:gradFill>
                  <a:gsLst>
                    <a:gs pos="0">
                      <a:schemeClr val="bg1"/>
                    </a:gs>
                    <a:gs pos="100000">
                      <a:srgbClr val="3DCBFD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</a:defRPr>
            </a:lvl1pPr>
          </a:lstStyle>
          <a:p>
            <a:r>
              <a:rPr lang="en-US" altLang="zh-CN" sz="3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310</a:t>
            </a:r>
            <a:r>
              <a:rPr lang="zh-CN" altLang="en-US" sz="16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</a:rPr>
              <a:t>亿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2524126" y="719227"/>
            <a:ext cx="7143115" cy="705485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en-US" altLang="zh-CN" sz="4000" dirty="0">
                <a:sym typeface="+mn-ea"/>
              </a:rPr>
              <a:t>2025</a:t>
            </a:r>
            <a:r>
              <a:rPr lang="zh-CN" altLang="en-US" sz="4000" dirty="0">
                <a:sym typeface="+mn-ea"/>
              </a:rPr>
              <a:t>年市占率第一</a:t>
            </a:r>
          </a:p>
        </p:txBody>
      </p:sp>
      <p:pic>
        <p:nvPicPr>
          <p:cNvPr id="20" name="图片 19" descr="CA牌照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229931" y="1934288"/>
            <a:ext cx="3263095" cy="2287786"/>
          </a:xfrm>
          <a:prstGeom prst="roundRect">
            <a:avLst>
              <a:gd name="adj" fmla="val 9813"/>
            </a:avLst>
          </a:prstGeom>
        </p:spPr>
      </p:pic>
      <p:sp>
        <p:nvSpPr>
          <p:cNvPr id="7" name="矩形: 圆顶角 23"/>
          <p:cNvSpPr/>
          <p:nvPr>
            <p:custDataLst>
              <p:tags r:id="rId20"/>
            </p:custDataLst>
          </p:nvPr>
        </p:nvSpPr>
        <p:spPr>
          <a:xfrm>
            <a:off x="1713141" y="4665916"/>
            <a:ext cx="2569711" cy="234303"/>
          </a:xfrm>
          <a:prstGeom prst="round2SameRect">
            <a:avLst>
              <a:gd name="adj1" fmla="val 0"/>
              <a:gd name="adj2" fmla="val 0"/>
            </a:avLst>
          </a:prstGeom>
          <a:noFill/>
          <a:ln w="9525" cap="flat">
            <a:noFill/>
            <a:prstDash val="solid"/>
            <a:miter/>
          </a:ln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56000">
                      <a:srgbClr val="FD3D3D"/>
                    </a:gs>
                    <a:gs pos="100000">
                      <a:srgbClr val="CA61FF">
                        <a:alpha val="7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14:hiddenFill>
            </a:ext>
          </a:extLst>
        </p:spPr>
        <p:txBody>
          <a:bodyPr rot="0" spcFirstLastPara="0" vertOverflow="overflow" horzOverflow="overflow" vert="horz" wrap="square" lIns="91435" tIns="45717" rIns="91435" bIns="45717" numCol="1" spcCol="0" rtlCol="0" fromWordArt="0" anchor="ctr" anchorCtr="0" forceAA="0" compatLnSpc="1">
            <a:no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 sz="1200" dirty="0">
                <a:gradFill>
                  <a:gsLst>
                    <a:gs pos="42000">
                      <a:srgbClr val="EC5763"/>
                    </a:gs>
                    <a:gs pos="0">
                      <a:srgbClr val="F28F97"/>
                    </a:gs>
                    <a:gs pos="100000">
                      <a:srgbClr val="E51E2E"/>
                    </a:gs>
                  </a:gsLst>
                  <a:lin ang="5400000" scaled="1"/>
                </a:gradFill>
                <a:latin typeface="微软雅黑" charset="-122"/>
                <a:ea typeface="微软雅黑" charset="-122"/>
                <a:sym typeface="+mn-ea"/>
              </a:rPr>
              <a:t>持牌第三方数字认证机构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566928" y="4709160"/>
            <a:ext cx="11073384" cy="123444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6112" y="5147438"/>
            <a:ext cx="10515600" cy="2938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b="1" dirty="0" err="1">
                <a:solidFill>
                  <a:srgbClr val="FFFFFF"/>
                </a:solidFill>
                <a:latin typeface="微软雅黑"/>
              </a:rPr>
              <a:t>出海正从规模扩张进入系统扎根</a:t>
            </a:r>
            <a:r>
              <a:rPr b="1" dirty="0">
                <a:solidFill>
                  <a:srgbClr val="FFFFFF"/>
                </a:solidFill>
                <a:latin typeface="微软雅黑"/>
              </a:rPr>
              <a:t> —— </a:t>
            </a:r>
            <a:r>
              <a:rPr b="1" dirty="0" err="1">
                <a:solidFill>
                  <a:srgbClr val="FFFFFF"/>
                </a:solidFill>
                <a:latin typeface="微软雅黑"/>
              </a:rPr>
              <a:t>而每一份跨境合同的可信签署，正是企业扎根海外的第一公里</a:t>
            </a:r>
            <a:r>
              <a:rPr b="1" dirty="0">
                <a:solidFill>
                  <a:srgbClr val="FFFFFF"/>
                </a:solidFill>
                <a:latin typeface="微软雅黑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749915"/>
            <a:ext cx="2651760" cy="277105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9808" y="2170957"/>
            <a:ext cx="2286000" cy="267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700" b="1" dirty="0" err="1">
                <a:solidFill>
                  <a:srgbClr val="14275C"/>
                </a:solidFill>
                <a:latin typeface="微软雅黑"/>
              </a:rPr>
              <a:t>全球监管持续高压</a:t>
            </a:r>
            <a:endParaRPr sz="17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9808" y="2659200"/>
            <a:ext cx="2286000" cy="10522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200" b="0" dirty="0" err="1">
                <a:solidFill>
                  <a:srgbClr val="59637D"/>
                </a:solidFill>
                <a:latin typeface="微软雅黑"/>
              </a:rPr>
              <a:t>欧盟</a:t>
            </a:r>
            <a:r>
              <a:rPr sz="1200" b="0" dirty="0">
                <a:solidFill>
                  <a:srgbClr val="59637D"/>
                </a:solidFill>
                <a:latin typeface="微软雅黑"/>
              </a:rPr>
              <a:t> PID </a:t>
            </a:r>
            <a:r>
              <a:rPr sz="1200" b="0" dirty="0" err="1">
                <a:solidFill>
                  <a:srgbClr val="59637D"/>
                </a:solidFill>
                <a:latin typeface="微软雅黑"/>
              </a:rPr>
              <a:t>产品标识、欧美小包免税取消、数据跨境与算法合规收紧，企业合规成本显著上升</a:t>
            </a:r>
            <a:endParaRPr sz="1200" b="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364992" y="1749915"/>
            <a:ext cx="2651760" cy="277105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547872" y="2170957"/>
            <a:ext cx="2286000" cy="267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700" b="1">
                <a:solidFill>
                  <a:srgbClr val="14275C"/>
                </a:solidFill>
                <a:latin typeface="微软雅黑"/>
              </a:rPr>
              <a:t>数据安全成出海门槛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659200"/>
            <a:ext cx="2286000" cy="10522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200" b="0" dirty="0">
                <a:solidFill>
                  <a:srgbClr val="59637D"/>
                </a:solidFill>
                <a:latin typeface="微软雅黑"/>
              </a:rPr>
              <a:t>GDPR </a:t>
            </a:r>
            <a:r>
              <a:rPr sz="1200" b="0" dirty="0" err="1">
                <a:solidFill>
                  <a:srgbClr val="59637D"/>
                </a:solidFill>
                <a:latin typeface="微软雅黑"/>
              </a:rPr>
              <a:t>等数据跨境规则趋严，数据本地化存储、传输加密成为出海企业的合规前提与信任基础</a:t>
            </a:r>
            <a:endParaRPr sz="1200" b="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163056" y="1749915"/>
            <a:ext cx="2651760" cy="277105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45936" y="2170957"/>
            <a:ext cx="2286000" cy="267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700" b="1">
                <a:solidFill>
                  <a:srgbClr val="14275C"/>
                </a:solidFill>
                <a:latin typeface="微软雅黑"/>
              </a:rPr>
              <a:t>AI 重塑出海路径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659200"/>
            <a:ext cx="2286000" cy="10522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200" b="0">
                <a:solidFill>
                  <a:srgbClr val="59637D"/>
                </a:solidFill>
                <a:latin typeface="微软雅黑"/>
              </a:rPr>
              <a:t>AI 大模型与内容电商正在重塑品牌出海路径，技术与生态能力成为新的竞争变量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19" y="1749915"/>
            <a:ext cx="2651760" cy="277105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143999" y="2170957"/>
            <a:ext cx="2286000" cy="267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700" b="1">
                <a:solidFill>
                  <a:srgbClr val="14275C"/>
                </a:solidFill>
                <a:latin typeface="微软雅黑"/>
              </a:rPr>
              <a:t>全链路一站式需求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3999" y="2659200"/>
            <a:ext cx="2286000" cy="10522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200" b="0">
                <a:solidFill>
                  <a:srgbClr val="59637D"/>
                </a:solidFill>
                <a:latin typeface="微软雅黑"/>
              </a:rPr>
              <a:t>单一机构难以覆盖「制度合规—产品合规—技术增长—生态对接」的全链路需求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26C86BE-0209-DB8E-7811-DA342841AF2D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出海进入系统扎根阶段，合规与信任成为第一公里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83080"/>
            <a:ext cx="2496312" cy="1606412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8096" y="2095438"/>
            <a:ext cx="209397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dirty="0" err="1">
                <a:solidFill>
                  <a:srgbClr val="14275C"/>
                </a:solidFill>
                <a:latin typeface="微软雅黑"/>
              </a:rPr>
              <a:t>法律差异大</a:t>
            </a:r>
            <a:endParaRPr sz="15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8096" y="2563975"/>
            <a:ext cx="2093976" cy="792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全球电子签名法规各国不一，效力认定复杂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783080"/>
            <a:ext cx="2496312" cy="1606412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47288" y="2095438"/>
            <a:ext cx="209397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14275C"/>
                </a:solidFill>
                <a:latin typeface="微软雅黑"/>
              </a:rPr>
              <a:t>文件保密弱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2563975"/>
            <a:ext cx="2093976" cy="792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跨境文件传输与存储的保密措施不到位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1783080"/>
            <a:ext cx="2496312" cy="1606412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80" y="2095438"/>
            <a:ext cx="209397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14275C"/>
                </a:solidFill>
                <a:latin typeface="微软雅黑"/>
              </a:rPr>
              <a:t>IT 成本有限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563975"/>
            <a:ext cx="2093976" cy="792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出海企业可投入的系统运维成本较少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90294"/>
            <a:ext cx="2496312" cy="1606412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8096" y="3902652"/>
            <a:ext cx="209397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dirty="0" err="1">
                <a:solidFill>
                  <a:srgbClr val="14275C"/>
                </a:solidFill>
                <a:latin typeface="微软雅黑"/>
              </a:rPr>
              <a:t>供应链签署复杂</a:t>
            </a:r>
            <a:endParaRPr sz="15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8096" y="4371188"/>
            <a:ext cx="2093976" cy="7920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多级供应商、多主体协同签署体系复杂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590294"/>
            <a:ext cx="2496312" cy="1606412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47288" y="3902652"/>
            <a:ext cx="209397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14275C"/>
                </a:solidFill>
                <a:latin typeface="微软雅黑"/>
              </a:rPr>
              <a:t>合同管理繁杂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4371188"/>
            <a:ext cx="2093976" cy="7920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多币种、多语言、多法域合同管理困难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25312" y="3590294"/>
            <a:ext cx="2496312" cy="1606412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26480" y="3902652"/>
            <a:ext cx="209397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dirty="0" err="1">
                <a:solidFill>
                  <a:srgbClr val="14275C"/>
                </a:solidFill>
                <a:latin typeface="微软雅黑"/>
              </a:rPr>
              <a:t>地区跨度大</a:t>
            </a:r>
            <a:endParaRPr sz="15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126480" y="4371188"/>
            <a:ext cx="2093976" cy="7920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跨时区、跨地域，签署周期动辄数周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32520" y="1783080"/>
            <a:ext cx="2907792" cy="3469404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979408" y="2103457"/>
            <a:ext cx="2468880" cy="18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跨境签署的现实</a:t>
            </a:r>
            <a:endParaRPr sz="1150" b="1" dirty="0">
              <a:solidFill>
                <a:schemeClr val="accent4">
                  <a:lumMod val="20000"/>
                  <a:lumOff val="80000"/>
                </a:schemeClr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979408" y="2530508"/>
            <a:ext cx="2468880" cy="9482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3000万份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311403"/>
            <a:ext cx="2468880" cy="371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中国出海企业每年签署的跨境电子合同，其中 65% 依赖美国系统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4125764"/>
            <a:ext cx="2468880" cy="4728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29.5% </a:t>
            </a:r>
            <a:r>
              <a:rPr sz="1200" b="1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大型企业已出海</a:t>
            </a:r>
            <a:r>
              <a:rPr sz="120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
39.4% </a:t>
            </a:r>
            <a:r>
              <a:rPr sz="1200" b="1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中型企业正在出海</a:t>
            </a:r>
            <a:endParaRPr sz="1200" b="1" dirty="0">
              <a:solidFill>
                <a:schemeClr val="accent4">
                  <a:lumMod val="20000"/>
                  <a:lumOff val="80000"/>
                </a:schemeClr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66928" y="5496894"/>
            <a:ext cx="11064240" cy="244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dirty="0" err="1">
                <a:solidFill>
                  <a:srgbClr val="141C33"/>
                </a:solidFill>
                <a:latin typeface="微软雅黑"/>
              </a:rPr>
              <a:t>出海企业在增长，跨境合同在增加，但数字信任基础设施的主动权并不在自己手中</a:t>
            </a:r>
            <a:r>
              <a:rPr sz="1500" b="1" dirty="0">
                <a:solidFill>
                  <a:srgbClr val="141C33"/>
                </a:solidFill>
                <a:latin typeface="微软雅黑"/>
              </a:rPr>
              <a:t> —— </a:t>
            </a:r>
            <a:r>
              <a:rPr sz="1500" b="1" dirty="0" err="1">
                <a:solidFill>
                  <a:srgbClr val="141C33"/>
                </a:solidFill>
                <a:latin typeface="微软雅黑"/>
              </a:rPr>
              <a:t>这是本次分享要回答的问题</a:t>
            </a:r>
            <a:r>
              <a:rPr sz="1500" b="1" dirty="0">
                <a:solidFill>
                  <a:srgbClr val="141C33"/>
                </a:solidFill>
                <a:latin typeface="微软雅黑"/>
              </a:rPr>
              <a:t>。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2A2E3D21-16E2-47EE-6AD6-BDFCEBC07558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跨境签署：出海企业的六大现实痛点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62006" y="1711842"/>
            <a:ext cx="2560421" cy="1787327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>
                <a:solidFill>
                  <a:srgbClr val="F8FAFD"/>
                </a:solidFill>
                <a:latin typeface="微软雅黑"/>
                <a:ea typeface="微软雅黑"/>
              </a:rPr>
              <a:t>国家与地区覆盖</a:t>
            </a:r>
          </a:p>
          <a:p>
            <a:pPr algn="l">
              <a:spcBef>
                <a:spcPts val="400"/>
              </a:spcBef>
            </a:pPr>
            <a:r>
              <a:rPr sz="4000" b="1">
                <a:solidFill>
                  <a:srgbClr val="F8FAFD"/>
                </a:solidFill>
                <a:latin typeface="微软雅黑"/>
                <a:ea typeface="微软雅黑"/>
              </a:rPr>
              <a:t>100+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F8FAFD"/>
                </a:solidFill>
                <a:latin typeface="微软雅黑"/>
                <a:ea typeface="微软雅黑"/>
              </a:rPr>
              <a:t>电子签名合规且具法律效力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3163691" y="1711842"/>
            <a:ext cx="2560421" cy="1787327"/>
          </a:xfrm>
          <a:prstGeom prst="rect">
            <a:avLst/>
          </a:prstGeom>
          <a:solidFill>
            <a:srgbClr val="E1DAFE">
              <a:alpha val="30000"/>
            </a:srgbClr>
          </a:solidFill>
          <a:ln w="12700">
            <a:solidFill>
              <a:srgbClr val="BCAD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59637D"/>
                </a:solidFill>
                <a:latin typeface="微软雅黑"/>
                <a:ea typeface="微软雅黑"/>
              </a:rPr>
              <a:t>海外数据中心</a:t>
            </a:r>
            <a:endParaRPr sz="1100" b="1" dirty="0">
              <a:solidFill>
                <a:srgbClr val="59637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4000" b="1" dirty="0">
                <a:solidFill>
                  <a:srgbClr val="14275C"/>
                </a:solidFill>
                <a:latin typeface="微软雅黑"/>
                <a:ea typeface="微软雅黑"/>
              </a:rPr>
              <a:t>3</a:t>
            </a: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地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香港</a:t>
            </a:r>
            <a:r>
              <a:rPr sz="1200" dirty="0">
                <a:solidFill>
                  <a:srgbClr val="141C33"/>
                </a:solidFill>
                <a:latin typeface="微软雅黑"/>
                <a:ea typeface="微软雅黑"/>
              </a:rPr>
              <a:t> · </a:t>
            </a: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新加坡</a:t>
            </a:r>
            <a:r>
              <a:rPr sz="1200" dirty="0">
                <a:solidFill>
                  <a:srgbClr val="141C33"/>
                </a:solidFill>
                <a:latin typeface="微软雅黑"/>
                <a:ea typeface="微软雅黑"/>
              </a:rPr>
              <a:t> · </a:t>
            </a: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法兰克福</a:t>
            </a:r>
            <a:endParaRPr sz="1200" dirty="0">
              <a:solidFill>
                <a:srgbClr val="141C33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62006" y="3739321"/>
            <a:ext cx="2560421" cy="1787327"/>
          </a:xfrm>
          <a:prstGeom prst="rect">
            <a:avLst/>
          </a:prstGeom>
          <a:solidFill>
            <a:srgbClr val="E1DAFE">
              <a:alpha val="30000"/>
            </a:srgbClr>
          </a:solidFill>
          <a:ln w="12700">
            <a:solidFill>
              <a:srgbClr val="BCAD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59637D"/>
                </a:solidFill>
                <a:latin typeface="微软雅黑"/>
                <a:ea typeface="微软雅黑"/>
              </a:rPr>
              <a:t>语种即时互译</a:t>
            </a:r>
            <a:endParaRPr sz="1100" b="1" dirty="0">
              <a:solidFill>
                <a:srgbClr val="59637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4000" b="1" dirty="0">
                <a:solidFill>
                  <a:srgbClr val="14275C"/>
                </a:solidFill>
                <a:latin typeface="微软雅黑"/>
                <a:ea typeface="微软雅黑"/>
              </a:rPr>
              <a:t>40+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跨境合同无语言障碍</a:t>
            </a:r>
            <a:endParaRPr sz="1200" dirty="0">
              <a:solidFill>
                <a:srgbClr val="141C33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163690" y="3739321"/>
            <a:ext cx="2560421" cy="1787327"/>
          </a:xfrm>
          <a:prstGeom prst="rect">
            <a:avLst/>
          </a:prstGeom>
          <a:solidFill>
            <a:srgbClr val="E1DAFE">
              <a:alpha val="30000"/>
            </a:srgbClr>
          </a:solidFill>
          <a:ln w="12700">
            <a:solidFill>
              <a:srgbClr val="BCAD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59637D"/>
                </a:solidFill>
                <a:latin typeface="微软雅黑"/>
                <a:ea typeface="微软雅黑"/>
              </a:rPr>
              <a:t>站点语言</a:t>
            </a:r>
            <a:endParaRPr sz="1100" b="1" dirty="0">
              <a:solidFill>
                <a:srgbClr val="59637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4000" b="1" dirty="0">
                <a:solidFill>
                  <a:srgbClr val="14275C"/>
                </a:solidFill>
                <a:latin typeface="微软雅黑"/>
                <a:ea typeface="微软雅黑"/>
              </a:rPr>
              <a:t>16</a:t>
            </a: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种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覆盖主要贸易语言</a:t>
            </a:r>
            <a:endParaRPr sz="1200" dirty="0">
              <a:solidFill>
                <a:srgbClr val="141C33"/>
              </a:solidFill>
              <a:latin typeface="微软雅黑"/>
              <a:ea typeface="微软雅黑"/>
            </a:endParaRPr>
          </a:p>
        </p:txBody>
      </p:sp>
      <p:pic>
        <p:nvPicPr>
          <p:cNvPr id="13" name="国际站视频_x264">
            <a:hlinkClick r:id="" action="ppaction://media"/>
            <a:extLst>
              <a:ext uri="{FF2B5EF4-FFF2-40B4-BE49-F238E27FC236}">
                <a16:creationId xmlns:a16="http://schemas.microsoft.com/office/drawing/2014/main" id="{AB71222D-565A-AFF5-3FD8-7BA5BCCBACB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6149" y="1936638"/>
            <a:ext cx="5970510" cy="3358412"/>
          </a:xfrm>
          <a:prstGeom prst="roundRect">
            <a:avLst>
              <a:gd name="adj" fmla="val 5270"/>
            </a:avLst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DDA3C65-50FB-2197-5421-522B46244614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解决方案：</a:t>
            </a:r>
            <a:r>
              <a:rPr lang="en-US" altLang="zh-CN" sz="3000" dirty="0">
                <a:sym typeface="+mn-ea"/>
              </a:rPr>
              <a:t>eSign.AI </a:t>
            </a:r>
            <a:r>
              <a:rPr lang="zh-CN" altLang="en-US" sz="3000" dirty="0">
                <a:sym typeface="+mn-ea"/>
              </a:rPr>
              <a:t>全球签平台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32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37360"/>
            <a:ext cx="5422392" cy="685800"/>
          </a:xfrm>
          <a:prstGeom prst="rect">
            <a:avLst/>
          </a:prstGeom>
          <a:solidFill>
            <a:srgbClr val="9A7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91440" rIns="228600" rtlCol="0" anchor="ctr"/>
          <a:lstStyle/>
          <a:p>
            <a:pPr algn="l"/>
            <a:r>
              <a:rPr sz="1000" b="1">
                <a:solidFill>
                  <a:srgbClr val="F8FAFD"/>
                </a:solidFill>
                <a:latin typeface="微软雅黑"/>
                <a:ea typeface="微软雅黑"/>
              </a:rPr>
              <a:t>国际标准</a:t>
            </a:r>
          </a:p>
          <a:p>
            <a:pPr algn="l">
              <a:spcBef>
                <a:spcPts val="200"/>
              </a:spcBef>
            </a:pPr>
            <a:r>
              <a:rPr sz="1800" b="1">
                <a:solidFill>
                  <a:srgbClr val="F8FAFD"/>
                </a:solidFill>
                <a:latin typeface="微软雅黑"/>
                <a:ea typeface="微软雅黑"/>
              </a:rPr>
              <a:t>欧美及亚太合规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423160"/>
            <a:ext cx="5422392" cy="2839956"/>
          </a:xfrm>
          <a:prstGeom prst="rect">
            <a:avLst/>
          </a:prstGeom>
          <a:solidFill>
            <a:srgbClr val="F8FAFD"/>
          </a:solidFill>
          <a:ln w="12700">
            <a:solidFill>
              <a:srgbClr val="8A9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228600" bIns="137160" rtlCol="0" anchor="t"/>
          <a:lstStyle/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141C33"/>
                </a:solidFill>
                <a:latin typeface="微软雅黑"/>
                <a:ea typeface="微软雅黑"/>
              </a:rPr>
              <a:t>01  </a:t>
            </a:r>
            <a:r>
              <a:rPr sz="1300" b="1" dirty="0" err="1">
                <a:solidFill>
                  <a:srgbClr val="141C33"/>
                </a:solidFill>
                <a:latin typeface="微软雅黑"/>
                <a:ea typeface="微软雅黑"/>
              </a:rPr>
              <a:t>欧盟</a:t>
            </a:r>
            <a:r>
              <a:rPr sz="1300" b="1" dirty="0">
                <a:solidFill>
                  <a:srgbClr val="141C33"/>
                </a:solidFill>
                <a:latin typeface="微软雅黑"/>
                <a:ea typeface="微软雅黑"/>
              </a:rPr>
              <a:t> </a:t>
            </a:r>
            <a:r>
              <a:rPr sz="1300" b="1" dirty="0" err="1">
                <a:solidFill>
                  <a:srgbClr val="141C33"/>
                </a:solidFill>
                <a:latin typeface="微软雅黑"/>
                <a:ea typeface="微软雅黑"/>
              </a:rPr>
              <a:t>eIDAS</a:t>
            </a:r>
            <a:endParaRPr sz="1300" b="1" dirty="0">
              <a:solidFill>
                <a:srgbClr val="141C33"/>
              </a:solidFill>
              <a:latin typeface="微软雅黑"/>
              <a:ea typeface="微软雅黑"/>
            </a:endParaRP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dirty="0" err="1">
                <a:solidFill>
                  <a:srgbClr val="141C33"/>
                </a:solidFill>
                <a:latin typeface="微软雅黑"/>
                <a:ea typeface="微软雅黑"/>
              </a:rPr>
              <a:t>支持</a:t>
            </a:r>
            <a:r>
              <a:rPr sz="1100" dirty="0">
                <a:solidFill>
                  <a:srgbClr val="141C33"/>
                </a:solidFill>
                <a:latin typeface="微软雅黑"/>
                <a:ea typeface="微软雅黑"/>
              </a:rPr>
              <a:t> SES / AES / QES </a:t>
            </a:r>
            <a:r>
              <a:rPr sz="1100" dirty="0" err="1">
                <a:solidFill>
                  <a:srgbClr val="141C33"/>
                </a:solidFill>
                <a:latin typeface="微软雅黑"/>
                <a:ea typeface="微软雅黑"/>
              </a:rPr>
              <a:t>三级电子签名标准</a:t>
            </a:r>
            <a:endParaRPr sz="1100" dirty="0">
              <a:solidFill>
                <a:srgbClr val="141C33"/>
              </a:solidFill>
              <a:latin typeface="微软雅黑"/>
              <a:ea typeface="微软雅黑"/>
            </a:endParaRP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00" b="1" dirty="0">
                <a:solidFill>
                  <a:srgbClr val="141C33"/>
                </a:solidFill>
                <a:latin typeface="微软雅黑"/>
                <a:ea typeface="微软雅黑"/>
              </a:rPr>
              <a:t>02  </a:t>
            </a:r>
            <a:r>
              <a:rPr sz="1300" b="1" dirty="0" err="1">
                <a:solidFill>
                  <a:srgbClr val="141C33"/>
                </a:solidFill>
                <a:latin typeface="微软雅黑"/>
                <a:ea typeface="微软雅黑"/>
              </a:rPr>
              <a:t>美国</a:t>
            </a:r>
            <a:r>
              <a:rPr sz="1300" b="1" dirty="0">
                <a:solidFill>
                  <a:srgbClr val="141C33"/>
                </a:solidFill>
                <a:latin typeface="微软雅黑"/>
                <a:ea typeface="微软雅黑"/>
              </a:rPr>
              <a:t> ESIGN Act · UETA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dirty="0" err="1">
                <a:solidFill>
                  <a:srgbClr val="141C33"/>
                </a:solidFill>
                <a:latin typeface="微软雅黑"/>
                <a:ea typeface="微软雅黑"/>
              </a:rPr>
              <a:t>满足美国联邦与州级电子签名法规</a:t>
            </a:r>
            <a:endParaRPr sz="1100" dirty="0">
              <a:solidFill>
                <a:srgbClr val="141C33"/>
              </a:solidFill>
              <a:latin typeface="微软雅黑"/>
              <a:ea typeface="微软雅黑"/>
            </a:endParaRP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00" b="1" dirty="0">
                <a:solidFill>
                  <a:srgbClr val="141C33"/>
                </a:solidFill>
                <a:latin typeface="微软雅黑"/>
                <a:ea typeface="微软雅黑"/>
              </a:rPr>
              <a:t>03  </a:t>
            </a:r>
            <a:r>
              <a:rPr sz="1300" b="1" dirty="0" err="1">
                <a:solidFill>
                  <a:srgbClr val="141C33"/>
                </a:solidFill>
                <a:latin typeface="微软雅黑"/>
                <a:ea typeface="微软雅黑"/>
              </a:rPr>
              <a:t>亚太多国法规</a:t>
            </a:r>
            <a:endParaRPr sz="1300" b="1" dirty="0">
              <a:solidFill>
                <a:srgbClr val="141C33"/>
              </a:solidFill>
              <a:latin typeface="微软雅黑"/>
              <a:ea typeface="微软雅黑"/>
            </a:endParaRP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dirty="0" err="1">
                <a:solidFill>
                  <a:srgbClr val="141C33"/>
                </a:solidFill>
                <a:latin typeface="微软雅黑"/>
                <a:ea typeface="微软雅黑"/>
              </a:rPr>
              <a:t>新加坡、马来西亚、印尼</a:t>
            </a:r>
            <a:r>
              <a:rPr sz="1100" dirty="0">
                <a:solidFill>
                  <a:srgbClr val="141C33"/>
                </a:solidFill>
                <a:latin typeface="微软雅黑"/>
                <a:ea typeface="微软雅黑"/>
              </a:rPr>
              <a:t> ITE </a:t>
            </a:r>
            <a:r>
              <a:rPr sz="1100" dirty="0" err="1">
                <a:solidFill>
                  <a:srgbClr val="141C33"/>
                </a:solidFill>
                <a:latin typeface="微软雅黑"/>
                <a:ea typeface="微软雅黑"/>
              </a:rPr>
              <a:t>法、越南、菲律宾等</a:t>
            </a:r>
            <a:endParaRPr sz="1100" dirty="0">
              <a:solidFill>
                <a:srgbClr val="141C33"/>
              </a:solidFill>
              <a:latin typeface="微软雅黑"/>
              <a:ea typeface="微软雅黑"/>
            </a:endParaRP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00" b="1" dirty="0">
                <a:solidFill>
                  <a:srgbClr val="141C33"/>
                </a:solidFill>
                <a:latin typeface="微软雅黑"/>
                <a:ea typeface="微软雅黑"/>
              </a:rPr>
              <a:t>04  </a:t>
            </a:r>
            <a:r>
              <a:rPr sz="1300" b="1" dirty="0" err="1">
                <a:solidFill>
                  <a:srgbClr val="141C33"/>
                </a:solidFill>
                <a:latin typeface="微软雅黑"/>
                <a:ea typeface="微软雅黑"/>
              </a:rPr>
              <a:t>国际认证</a:t>
            </a:r>
            <a:endParaRPr sz="1300" b="1" dirty="0">
              <a:solidFill>
                <a:srgbClr val="141C33"/>
              </a:solidFill>
              <a:latin typeface="微软雅黑"/>
              <a:ea typeface="微软雅黑"/>
            </a:endParaRP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dirty="0">
                <a:solidFill>
                  <a:srgbClr val="141C33"/>
                </a:solidFill>
                <a:latin typeface="微软雅黑"/>
                <a:ea typeface="微软雅黑"/>
              </a:rPr>
              <a:t>ISO/IEC 27001、27701、27018；SOC 2 Type II（2026-08）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22392" cy="685800"/>
          </a:xfrm>
          <a:prstGeom prst="rect">
            <a:avLst/>
          </a:prstGeom>
          <a:solidFill>
            <a:srgbClr val="5F4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91440" rIns="228600" rtlCol="0" anchor="ctr"/>
          <a:lstStyle/>
          <a:p>
            <a:pPr algn="l"/>
            <a:r>
              <a:rPr sz="1000" b="1">
                <a:solidFill>
                  <a:srgbClr val="F8FAFD"/>
                </a:solidFill>
                <a:latin typeface="微软雅黑"/>
                <a:ea typeface="微软雅黑"/>
              </a:rPr>
              <a:t>中国标准</a:t>
            </a:r>
          </a:p>
          <a:p>
            <a:pPr algn="l">
              <a:spcBef>
                <a:spcPts val="200"/>
              </a:spcBef>
            </a:pPr>
            <a:r>
              <a:rPr sz="1800" b="1">
                <a:solidFill>
                  <a:srgbClr val="F8FAFD"/>
                </a:solidFill>
                <a:latin typeface="微软雅黑"/>
                <a:ea typeface="微软雅黑"/>
              </a:rPr>
              <a:t>本土合规与监管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5422392" cy="2839956"/>
          </a:xfrm>
          <a:prstGeom prst="rect">
            <a:avLst/>
          </a:prstGeom>
          <a:solidFill>
            <a:srgbClr val="F8FAFD"/>
          </a:solidFill>
          <a:ln w="12700">
            <a:solidFill>
              <a:srgbClr val="142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228600" bIns="137160" rtlCol="0" anchor="t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4275C"/>
                </a:solidFill>
                <a:latin typeface="微软雅黑"/>
                <a:ea typeface="微软雅黑"/>
              </a:rPr>
              <a:t>01  《电子签名法》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>
                <a:solidFill>
                  <a:srgbClr val="141C33"/>
                </a:solidFill>
                <a:latin typeface="微软雅黑"/>
                <a:ea typeface="微软雅黑"/>
              </a:rPr>
              <a:t>可靠电子签名与手写签名、盖章具有同等法律效力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14275C"/>
                </a:solidFill>
                <a:latin typeface="微软雅黑"/>
                <a:ea typeface="微软雅黑"/>
              </a:rPr>
              <a:t>02  CA 牌照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>
                <a:solidFill>
                  <a:srgbClr val="141C33"/>
                </a:solidFill>
                <a:latin typeface="微软雅黑"/>
                <a:ea typeface="微软雅黑"/>
              </a:rPr>
              <a:t>工信部《电子认证服务许可证》（2024-09），自研 CA 数字证书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14275C"/>
                </a:solidFill>
                <a:latin typeface="微软雅黑"/>
                <a:ea typeface="微软雅黑"/>
              </a:rPr>
              <a:t>03  国密签署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>
                <a:solidFill>
                  <a:srgbClr val="141C33"/>
                </a:solidFill>
                <a:latin typeface="微软雅黑"/>
                <a:ea typeface="微软雅黑"/>
              </a:rPr>
              <a:t>OFD 国密算法加密签署，符合信创要求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00" b="1">
                <a:solidFill>
                  <a:srgbClr val="14275C"/>
                </a:solidFill>
                <a:latin typeface="微软雅黑"/>
                <a:ea typeface="微软雅黑"/>
              </a:rPr>
              <a:t>04  算法备案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>
                <a:solidFill>
                  <a:srgbClr val="141C33"/>
                </a:solidFill>
                <a:latin typeface="微软雅黑"/>
                <a:ea typeface="微软雅黑"/>
              </a:rPr>
              <a:t>网信办算法备案（2024）：合同生成与分析等 2 项算法</a:t>
            </a:r>
          </a:p>
        </p:txBody>
      </p:sp>
      <p:sp>
        <p:nvSpPr>
          <p:cNvPr id="10" name="Oval 9"/>
          <p:cNvSpPr/>
          <p:nvPr/>
        </p:nvSpPr>
        <p:spPr>
          <a:xfrm>
            <a:off x="5829300" y="3429000"/>
            <a:ext cx="548640" cy="548640"/>
          </a:xfrm>
          <a:prstGeom prst="ellipse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8FAFD"/>
                </a:solidFill>
                <a:latin typeface="微软雅黑"/>
                <a:ea typeface="微软雅黑"/>
              </a:rPr>
              <a:t>VS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437280"/>
            <a:ext cx="11073384" cy="91440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74846" y="5735632"/>
            <a:ext cx="10515600" cy="2938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b="1" dirty="0">
                <a:solidFill>
                  <a:srgbClr val="FFFFFF"/>
                </a:solidFill>
                <a:latin typeface="微软雅黑"/>
              </a:rPr>
              <a:t>「</a:t>
            </a:r>
            <a:r>
              <a:rPr b="1" dirty="0" err="1">
                <a:solidFill>
                  <a:srgbClr val="FFFFFF"/>
                </a:solidFill>
                <a:latin typeface="微软雅黑"/>
              </a:rPr>
              <a:t>双核认证」既满足欧美标准，又兼容中国《电子签名法</a:t>
            </a:r>
            <a:r>
              <a:rPr b="1" dirty="0">
                <a:solidFill>
                  <a:srgbClr val="FFFFFF"/>
                </a:solidFill>
                <a:latin typeface="微软雅黑"/>
              </a:rPr>
              <a:t>》，</a:t>
            </a:r>
            <a:r>
              <a:rPr b="1" dirty="0" err="1">
                <a:solidFill>
                  <a:srgbClr val="FFFFFF"/>
                </a:solidFill>
                <a:latin typeface="微软雅黑"/>
              </a:rPr>
              <a:t>配合动态更新的多国法律合规引擎</a:t>
            </a:r>
            <a:r>
              <a:rPr b="1" dirty="0">
                <a:solidFill>
                  <a:srgbClr val="FFFFFF"/>
                </a:solidFill>
                <a:latin typeface="微软雅黑"/>
              </a:rPr>
              <a:t>。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414DBEB-0968-D2AC-3E17-AF1916212DDA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双核合规体系：一份合同，全球通行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627842"/>
            <a:ext cx="3584448" cy="274320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6384" y="1874519"/>
            <a:ext cx="3154680" cy="1796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7AF6"/>
                </a:solidFill>
                <a:latin typeface="微软雅黑"/>
              </a:rPr>
              <a:t>客户在变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49634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4275C"/>
                </a:solidFill>
                <a:latin typeface="微软雅黑"/>
              </a:rPr>
              <a:t>客户的全球化，就是我们的出海令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707046"/>
            <a:ext cx="3154680" cy="13031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客户陆续走向全球，跨境加盟、跨境协议签署需求激增。客户到哪里，可信签署服务就要到哪里 —— 我们选择与客户同行，主动把信任基础设施建到全球。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627842"/>
            <a:ext cx="3584448" cy="274320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53712" y="1874519"/>
            <a:ext cx="3154680" cy="1796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 err="1">
                <a:solidFill>
                  <a:srgbClr val="9A7AF6"/>
                </a:solidFill>
                <a:latin typeface="微软雅黑"/>
              </a:rPr>
              <a:t>市场在变</a:t>
            </a:r>
            <a:endParaRPr sz="1100" b="1" dirty="0">
              <a:solidFill>
                <a:srgbClr val="9A7AF6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53712" y="2249634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dirty="0" err="1">
                <a:solidFill>
                  <a:srgbClr val="14275C"/>
                </a:solidFill>
                <a:latin typeface="微软雅黑"/>
              </a:rPr>
              <a:t>数字信任的主动权，要握在自己手中</a:t>
            </a:r>
            <a:endParaRPr sz="15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53712" y="2707046"/>
            <a:ext cx="3154680" cy="964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中国出海企业每年 3000 万份跨境电子合同，其中 65% 依赖美国系统。我们把主动权拿回来，让中国出海企业用得上、信得过自己的数字信任底座。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627842"/>
            <a:ext cx="3584448" cy="274320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1932873"/>
            <a:ext cx="3154680" cy="1796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 err="1">
                <a:solidFill>
                  <a:srgbClr val="E1DAFE"/>
                </a:solidFill>
                <a:latin typeface="微软雅黑"/>
              </a:rPr>
              <a:t>我们在行动</a:t>
            </a:r>
            <a:endParaRPr sz="1100" b="1" dirty="0">
              <a:solidFill>
                <a:srgbClr val="E1DAFE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234626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头部企业的责任与担当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07046"/>
            <a:ext cx="3154680" cy="964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100" b="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电子合同出海投入高、周期长，但总有人要先行探路。作为连续五年</a:t>
            </a:r>
            <a:r>
              <a:rPr lang="zh-CN" sz="1100" b="0" dirty="0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全国</a:t>
            </a:r>
            <a:r>
              <a:rPr sz="1100" b="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市占率第一的头部企业，e签宝当仁不让，先行一步</a:t>
            </a:r>
            <a:r>
              <a:rPr sz="1100" b="0" dirty="0">
                <a:solidFill>
                  <a:schemeClr val="accent4">
                    <a:lumMod val="20000"/>
                    <a:lumOff val="80000"/>
                  </a:schemeClr>
                </a:solidFill>
                <a:latin typeface="微软雅黑"/>
              </a:rPr>
              <a:t>。</a:t>
            </a:r>
          </a:p>
        </p:txBody>
      </p: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5EC68BCE-1B25-67DC-2C56-27C44E882108}"/>
              </a:ext>
            </a:extLst>
          </p:cNvPr>
          <p:cNvGrpSpPr/>
          <p:nvPr/>
        </p:nvGrpSpPr>
        <p:grpSpPr>
          <a:xfrm>
            <a:off x="566928" y="4557109"/>
            <a:ext cx="11045951" cy="994997"/>
            <a:chOff x="566928" y="4663440"/>
            <a:chExt cx="11045951" cy="841248"/>
          </a:xfrm>
        </p:grpSpPr>
        <p:sp>
          <p:nvSpPr>
            <p:cNvPr id="20" name="Rectangle 19"/>
            <p:cNvSpPr/>
            <p:nvPr/>
          </p:nvSpPr>
          <p:spPr>
            <a:xfrm>
              <a:off x="566928" y="4663440"/>
              <a:ext cx="2651760" cy="8412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5E0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8368" y="4773168"/>
              <a:ext cx="2468880" cy="38404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14275C"/>
                  </a:solidFill>
                  <a:latin typeface="微软雅黑"/>
                </a:rPr>
                <a:t>29.5%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58368" y="5175504"/>
              <a:ext cx="2468880" cy="2743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0">
                  <a:solidFill>
                    <a:srgbClr val="59637D"/>
                  </a:solidFill>
                  <a:latin typeface="微软雅黑"/>
                </a:rPr>
                <a:t>大型企业已出海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364992" y="4663440"/>
              <a:ext cx="2651760" cy="8412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5E0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56432" y="4773168"/>
              <a:ext cx="2468880" cy="38404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14275C"/>
                  </a:solidFill>
                  <a:latin typeface="微软雅黑"/>
                </a:rPr>
                <a:t>39.4%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456432" y="5175504"/>
              <a:ext cx="2468880" cy="2743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0">
                  <a:solidFill>
                    <a:srgbClr val="59637D"/>
                  </a:solidFill>
                  <a:latin typeface="微软雅黑"/>
                </a:rPr>
                <a:t>中型企业正在出海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163056" y="4663440"/>
              <a:ext cx="2651760" cy="8412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5E0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254496" y="4773168"/>
              <a:ext cx="2468880" cy="38404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14275C"/>
                  </a:solidFill>
                  <a:latin typeface="微软雅黑"/>
                </a:rPr>
                <a:t>65%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254496" y="5175504"/>
              <a:ext cx="2468880" cy="2743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0">
                  <a:solidFill>
                    <a:srgbClr val="59637D"/>
                  </a:solidFill>
                  <a:latin typeface="微软雅黑"/>
                </a:rPr>
                <a:t>跨境电子合同依赖美国系统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961119" y="4663440"/>
              <a:ext cx="2651760" cy="8412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5E0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052559" y="4773168"/>
              <a:ext cx="2468880" cy="384048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14275C"/>
                  </a:solidFill>
                  <a:latin typeface="微软雅黑"/>
                </a:rPr>
                <a:t>5年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052559" y="5175504"/>
              <a:ext cx="2468880" cy="2743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0">
                  <a:solidFill>
                    <a:srgbClr val="59637D"/>
                  </a:solidFill>
                  <a:latin typeface="微软雅黑"/>
                </a:rPr>
                <a:t>中国电子合同市占率第一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566928" y="5696922"/>
            <a:ext cx="11073384" cy="566928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6112" y="5843226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电子合同出海，成本虽高，但必须有人站出来做 —— e签宝，舍我其谁。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60D6CC4-3774-9511-11AE-9AE6DDB1C2CF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为什么出海：客户与市场，让我们坚定走出这一步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43931" y="2851439"/>
            <a:ext cx="219456" cy="274320"/>
          </a:xfrm>
          <a:prstGeom prst="rightArrow">
            <a:avLst/>
          </a:prstGeom>
          <a:solidFill>
            <a:srgbClr val="9A7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5F4FD9"/>
              </a:solidFill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7911259" y="2851439"/>
            <a:ext cx="219456" cy="274320"/>
          </a:xfrm>
          <a:prstGeom prst="rightArrow">
            <a:avLst/>
          </a:prstGeom>
          <a:solidFill>
            <a:srgbClr val="9A7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5F4FD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49808" y="1993392"/>
            <a:ext cx="10698480" cy="19050"/>
          </a:xfrm>
          <a:prstGeom prst="rect">
            <a:avLst/>
          </a:prstGeom>
          <a:solidFill>
            <a:srgbClr val="D5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1572768"/>
            <a:ext cx="2103120" cy="244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 dirty="0">
                <a:solidFill>
                  <a:srgbClr val="5F4FD9"/>
                </a:solidFill>
                <a:latin typeface="微软雅黑"/>
              </a:rPr>
              <a:t>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924812"/>
            <a:ext cx="155448" cy="155448"/>
          </a:xfrm>
          <a:prstGeom prst="rect">
            <a:avLst/>
          </a:prstGeom>
          <a:solidFill>
            <a:srgbClr val="5F4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2103120" cy="169164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13232" y="2541606"/>
            <a:ext cx="18288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 dirty="0" err="1">
                <a:solidFill>
                  <a:srgbClr val="14275C"/>
                </a:solidFill>
                <a:latin typeface="微软雅黑"/>
              </a:rPr>
              <a:t>平台启航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3232" y="2923955"/>
            <a:ext cx="1828800" cy="4344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59637D"/>
                </a:solidFill>
                <a:latin typeface="微软雅黑"/>
              </a:rPr>
              <a:t>推出 eSignGlobal 跨境签署平台；设立香港全球业务总部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572768"/>
            <a:ext cx="2103120" cy="244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5F4FD9"/>
                </a:solidFill>
                <a:latin typeface="微软雅黑"/>
              </a:rPr>
              <a:t>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2072" y="1924812"/>
            <a:ext cx="155448" cy="155448"/>
          </a:xfrm>
          <a:prstGeom prst="rect">
            <a:avLst/>
          </a:prstGeom>
          <a:solidFill>
            <a:srgbClr val="5F4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07208" y="2286000"/>
            <a:ext cx="2103120" cy="169164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53512" y="2541606"/>
            <a:ext cx="18288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合规筑基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2923955"/>
            <a:ext cx="1828800" cy="4344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00" b="0" dirty="0" err="1">
                <a:solidFill>
                  <a:srgbClr val="59637D"/>
                </a:solidFill>
                <a:latin typeface="微软雅黑"/>
              </a:rPr>
              <a:t>获工信部</a:t>
            </a:r>
            <a:r>
              <a:rPr sz="1000" b="0" dirty="0">
                <a:solidFill>
                  <a:srgbClr val="59637D"/>
                </a:solidFill>
                <a:latin typeface="微软雅黑"/>
              </a:rPr>
              <a:t> CA </a:t>
            </a:r>
            <a:r>
              <a:rPr sz="1000" b="0" dirty="0" err="1">
                <a:solidFill>
                  <a:srgbClr val="59637D"/>
                </a:solidFill>
                <a:latin typeface="微软雅黑"/>
              </a:rPr>
              <a:t>牌照；完成网信办算法备案</a:t>
            </a:r>
            <a:endParaRPr sz="1000" b="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93208" y="1572768"/>
            <a:ext cx="2103120" cy="244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5F4FD9"/>
                </a:solidFill>
                <a:latin typeface="微软雅黑"/>
              </a:rPr>
              <a:t>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1924812"/>
            <a:ext cx="155448" cy="155448"/>
          </a:xfrm>
          <a:prstGeom prst="rect">
            <a:avLst/>
          </a:prstGeom>
          <a:solidFill>
            <a:srgbClr val="5F4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47488" y="2286000"/>
            <a:ext cx="2103120" cy="169164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193792" y="2541606"/>
            <a:ext cx="18288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全球覆盖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2923955"/>
            <a:ext cx="1828800" cy="6653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59637D"/>
                </a:solidFill>
                <a:latin typeface="微软雅黑"/>
              </a:rPr>
              <a:t>香港·新加坡·法兰克福三地数据中心建成；AI 合同专家新加坡全球首发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1572768"/>
            <a:ext cx="2103120" cy="244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5F4FD9"/>
                </a:solidFill>
                <a:latin typeface="微软雅黑"/>
              </a:rPr>
              <a:t>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42632" y="1924812"/>
            <a:ext cx="155448" cy="155448"/>
          </a:xfrm>
          <a:prstGeom prst="rect">
            <a:avLst/>
          </a:prstGeom>
          <a:solidFill>
            <a:srgbClr val="5F4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287768" y="2286000"/>
            <a:ext cx="2103120" cy="169164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34072" y="2541606"/>
            <a:ext cx="18288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升级与互认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2923955"/>
            <a:ext cx="1828800" cy="6653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59637D"/>
                </a:solidFill>
                <a:latin typeface="微软雅黑"/>
              </a:rPr>
              <a:t>eSignGlobal 升级为 eSign.AI；SOC 2 Type II 鉴证；承办金砖互认研讨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3768" y="1572768"/>
            <a:ext cx="2103120" cy="244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5F4FD9"/>
                </a:solidFill>
                <a:latin typeface="微软雅黑"/>
              </a:rPr>
              <a:t>未来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82912" y="1924812"/>
            <a:ext cx="155448" cy="155448"/>
          </a:xfrm>
          <a:prstGeom prst="rect">
            <a:avLst/>
          </a:prstGeom>
          <a:solidFill>
            <a:srgbClr val="5F4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528048" y="2286000"/>
            <a:ext cx="2103120" cy="169164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674352" y="2541606"/>
            <a:ext cx="18288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持续扩张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2923955"/>
            <a:ext cx="1828800" cy="4344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59637D"/>
                </a:solidFill>
                <a:latin typeface="微软雅黑"/>
              </a:rPr>
              <a:t>规划北美、中东数据中心，实现全球服务全覆盖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224528"/>
            <a:ext cx="544068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28" y="4224528"/>
            <a:ext cx="5440680" cy="31750"/>
          </a:xfrm>
          <a:prstGeom prst="rect">
            <a:avLst/>
          </a:prstGeom>
          <a:solidFill>
            <a:srgbClr val="9A7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438912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4275C"/>
                </a:solidFill>
                <a:latin typeface="微软雅黑"/>
              </a:rPr>
              <a:t>数据安全底座（数据行业出海的立身之本）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46320"/>
            <a:ext cx="31750" cy="201168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87552" y="4791456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全站 HTTPS，传输与存储 AES-256 加密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248656"/>
            <a:ext cx="31750" cy="201168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7552" y="5193792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数据本地化存储：香港 / 新加坡 / 法兰克福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650992"/>
            <a:ext cx="31750" cy="201168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87552" y="5596128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SOC 2 Type II · ISO/IEC 27001 / 27701 / 27018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4224528"/>
            <a:ext cx="544068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99632" y="4224528"/>
            <a:ext cx="5440680" cy="31750"/>
          </a:xfrm>
          <a:prstGeom prst="rect">
            <a:avLst/>
          </a:prstGeom>
          <a:solidFill>
            <a:srgbClr val="9A7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19088" y="438912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4275C"/>
                </a:solidFill>
                <a:latin typeface="微软雅黑"/>
              </a:rPr>
              <a:t>经验与启示（讲给正在出海的你）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55664" y="4846320"/>
            <a:ext cx="31750" cy="201168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20256" y="4791456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合规先行：牌照与认证先行，再谈市场扩张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55664" y="5248656"/>
            <a:ext cx="31750" cy="201168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0256" y="5193792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本地化落地：数据中心 + 区域团队双管齐下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55664" y="5650992"/>
            <a:ext cx="31750" cy="201168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0256" y="5596128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生态共建：50+ TSP 网络、仲裁与金砖互认机制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1C4BBCE-A5A1-F44D-11A2-6907FCFA31FC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出海历程：全球数字信任基建的搭建之路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691640"/>
            <a:ext cx="58064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5806440" cy="31750"/>
          </a:xfrm>
          <a:prstGeom prst="rect">
            <a:avLst/>
          </a:prstGeom>
          <a:solidFill>
            <a:srgbClr val="9A7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883664"/>
            <a:ext cx="530352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4275C"/>
                </a:solidFill>
                <a:latin typeface="微软雅黑"/>
              </a:rPr>
              <a:t>金砖国家电子签名互信互认
从探讨走向机制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679191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5207" y="2678980"/>
            <a:ext cx="1005840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 dirty="0" err="1">
                <a:solidFill>
                  <a:srgbClr val="14275C"/>
                </a:solidFill>
                <a:latin typeface="微软雅黑"/>
              </a:rPr>
              <a:t>承办研讨</a:t>
            </a:r>
            <a:endParaRPr sz="12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11680" y="2615184"/>
            <a:ext cx="4160519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2026-09 杭州承办，工信部、贸仲、武汉大学、连连数字及印尼 PT Privy 等 60 余位嘉宾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92423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5207" y="3392211"/>
            <a:ext cx="1005840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>
                <a:solidFill>
                  <a:srgbClr val="14275C"/>
                </a:solidFill>
                <a:latin typeface="微软雅黑"/>
              </a:rPr>
              <a:t>成果报告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28415"/>
            <a:ext cx="4160519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发布《推动金砖国家电子签名互信互认：意义、基础与机制方案》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05656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5207" y="4105444"/>
            <a:ext cx="1005840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>
                <a:solidFill>
                  <a:srgbClr val="14275C"/>
                </a:solidFill>
                <a:latin typeface="微软雅黑"/>
              </a:rPr>
              <a:t>推进共识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041648"/>
            <a:ext cx="4160519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工信部明确制度设计、标准对接、应用试点、产业生态四方面推进互认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18888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5207" y="4818676"/>
            <a:ext cx="1005840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>
                <a:solidFill>
                  <a:srgbClr val="14275C"/>
                </a:solidFill>
                <a:latin typeface="微软雅黑"/>
              </a:rPr>
              <a:t>e签宝角色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754880"/>
            <a:ext cx="4160519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CEO 金宏洲主题分享「AI 赋能跨境签署，构建金砖数字信任新范式」并主持圆桌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691640"/>
            <a:ext cx="50566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84848" y="184708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国际枢纽与信任网络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2212848"/>
            <a:ext cx="210312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600" b="1">
                <a:solidFill>
                  <a:srgbClr val="14275C"/>
                </a:solidFill>
                <a:latin typeface="微软雅黑"/>
              </a:rPr>
              <a:t>50+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69748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59637D"/>
                </a:solidFill>
                <a:latin typeface="微软雅黑"/>
              </a:rPr>
              <a:t>海外本地 TSP 合作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2212848"/>
            <a:ext cx="210312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600" b="1">
                <a:solidFill>
                  <a:srgbClr val="14275C"/>
                </a:solidFill>
                <a:latin typeface="微软雅黑"/>
              </a:rPr>
              <a:t>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269748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59637D"/>
                </a:solidFill>
                <a:latin typeface="微软雅黑"/>
              </a:rPr>
              <a:t>推出 eSignGlobal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3072384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9637D"/>
                </a:solidFill>
                <a:latin typeface="微软雅黑"/>
              </a:rPr>
              <a:t>香港设全球业务总部，新加坡设办公室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639312"/>
            <a:ext cx="5056632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84848" y="379476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东南亚市场开拓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4233672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67728" y="4169663"/>
            <a:ext cx="566928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>
                <a:solidFill>
                  <a:srgbClr val="14275C"/>
                </a:solidFill>
                <a:latin typeface="微软雅黑"/>
              </a:rPr>
              <a:t>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34656" y="4169663"/>
            <a:ext cx="3913631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AI 合同专家于新加坡全球首发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84848" y="4663440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67728" y="4599431"/>
            <a:ext cx="566928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>
                <a:solidFill>
                  <a:srgbClr val="14275C"/>
                </a:solidFill>
                <a:latin typeface="微软雅黑"/>
              </a:rPr>
              <a:t>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4656" y="4599431"/>
            <a:ext cx="3913631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亮相印尼数字化转型博览会，链接东盟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5093207"/>
            <a:ext cx="31750" cy="219456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67728" y="5029199"/>
            <a:ext cx="566928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>
                <a:solidFill>
                  <a:srgbClr val="14275C"/>
                </a:solidFill>
                <a:latin typeface="微软雅黑"/>
              </a:rPr>
              <a:t>6国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4656" y="5029199"/>
            <a:ext cx="3913631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59637D"/>
                </a:solidFill>
                <a:latin typeface="微软雅黑"/>
              </a:rPr>
              <a:t>区域团队覆盖新 · 马 · 印 · 越 · 泰 · 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760720"/>
            <a:ext cx="11073384" cy="566928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96112" y="5907024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微软雅黑"/>
              </a:rPr>
              <a:t>以香港为枢纽、金砖互认为支点、东南亚为前沿 —— 全球数字信任网络正在成型。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2EE126D-9C7C-574D-9A31-EAD681876673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海外市场开拓成果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37360"/>
            <a:ext cx="3566160" cy="452628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2" y="1920240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dirty="0" err="1">
                <a:solidFill>
                  <a:srgbClr val="FFFFFF"/>
                </a:solidFill>
                <a:latin typeface="微软雅黑"/>
              </a:rPr>
              <a:t>美光科技</a:t>
            </a:r>
            <a:r>
              <a:rPr sz="1650" b="1" dirty="0">
                <a:solidFill>
                  <a:srgbClr val="FFFFFF"/>
                </a:solidFill>
                <a:latin typeface="微软雅黑"/>
              </a:rPr>
              <a:t>
Micron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724912"/>
            <a:ext cx="457200" cy="19050"/>
          </a:xfrm>
          <a:prstGeom prst="rect">
            <a:avLst/>
          </a:prstGeom>
          <a:solidFill>
            <a:srgbClr val="C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E1DAFE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4672" y="2871216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行　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28529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半导体制造（内存/存储）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18688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地　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3200400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北美 · 中美跨境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566160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部　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354787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销售 / 商务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86784"/>
            <a:ext cx="310896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使用功能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187952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合同电子签名 · eSignature API 集成 · 数字签名软件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4809744"/>
            <a:ext cx="3108960" cy="9525"/>
          </a:xfrm>
          <a:prstGeom prst="rect">
            <a:avLst/>
          </a:prstGeom>
          <a:solidFill>
            <a:srgbClr val="3A4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97433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+120%  </a:t>
            </a:r>
            <a:r>
              <a:rPr sz="1000">
                <a:solidFill>
                  <a:srgbClr val="C9D6EC"/>
                </a:solidFill>
                <a:latin typeface="微软雅黑"/>
              </a:rPr>
              <a:t>签署效率提升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9496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7天→1天  </a:t>
            </a:r>
            <a:r>
              <a:rPr sz="1000">
                <a:solidFill>
                  <a:srgbClr val="C9D6EC"/>
                </a:solidFill>
                <a:latin typeface="微软雅黑"/>
              </a:rPr>
              <a:t>签署周期缩短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81558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200%  </a:t>
            </a:r>
            <a:r>
              <a:rPr sz="1000">
                <a:solidFill>
                  <a:srgbClr val="C9D6EC"/>
                </a:solidFill>
                <a:latin typeface="微软雅黑"/>
              </a:rPr>
              <a:t>合同成本下降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716094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业务痛点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136" y="2316198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dirty="0" err="1">
                <a:solidFill>
                  <a:srgbClr val="14275C"/>
                </a:solidFill>
                <a:latin typeface="微软雅黑"/>
              </a:rPr>
              <a:t>跨境协议流转难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17136" y="2700246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中美销售与供应链协议跨国确认周期长，依赖线下流转与分散工具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79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7" y="2316198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双地合规要求高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7" y="2700246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替换 Adobe Sign，须同时满足中美法律环境与严格信息安全标准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0" y="2316198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与 Salesforce 割裂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700246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签署环节独立于销售主流程，需跨系统切换与手动同步状态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764349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14275C"/>
                </a:solidFill>
                <a:latin typeface="微软雅黑"/>
              </a:rPr>
              <a:t>解决方案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315968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17136" y="4364454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协议线上签署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136" y="4748502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 dirty="0" err="1">
                <a:solidFill>
                  <a:srgbClr val="59637D"/>
                </a:solidFill>
                <a:latin typeface="微软雅黑"/>
              </a:rPr>
              <a:t>销售与供应链协议在线发起、签署、状态跟踪全程闭环</a:t>
            </a:r>
            <a:endParaRPr sz="110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812279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13447" y="4364454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中美双合规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7" y="4748502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符合美光信息安全要求，中美两地均可用的合规签署依据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08592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4364454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API 对接 Salesforce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4748502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签署能力嵌入销售流程，围绕业务节点触发协议签署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5916168"/>
            <a:ext cx="38100" cy="237744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47756" y="5923613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41C33"/>
                </a:solidFill>
                <a:latin typeface="微软雅黑"/>
              </a:rPr>
              <a:t>全球半导体巨头以 e签宝替换 Adobe Sign，完成中美跨境签署的合规与效率闭环。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D6CF23D-B52B-3DA4-DF4A-82F3851F21DD}"/>
              </a:ext>
            </a:extLst>
          </p:cNvPr>
          <p:cNvSpPr txBox="1"/>
          <p:nvPr/>
        </p:nvSpPr>
        <p:spPr>
          <a:xfrm>
            <a:off x="804040" y="672116"/>
            <a:ext cx="10583288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案例① 美光科技：中美协议合规签，替换 </a:t>
            </a:r>
            <a:r>
              <a:rPr lang="en-US" altLang="zh-CN" sz="3000" dirty="0">
                <a:sym typeface="+mn-ea"/>
              </a:rPr>
              <a:t>Adobe Sign</a:t>
            </a:r>
          </a:p>
        </p:txBody>
      </p:sp>
      <p:sp>
        <p:nvSpPr>
          <p:cNvPr id="50" name="Rectangle 8">
            <a:extLst>
              <a:ext uri="{FF2B5EF4-FFF2-40B4-BE49-F238E27FC236}">
                <a16:creationId xmlns:a16="http://schemas.microsoft.com/office/drawing/2014/main" id="{BD0E470F-27A1-9CBB-E54D-1499DE005CBC}"/>
              </a:ext>
            </a:extLst>
          </p:cNvPr>
          <p:cNvSpPr/>
          <p:nvPr/>
        </p:nvSpPr>
        <p:spPr>
          <a:xfrm>
            <a:off x="566928" y="2286000"/>
            <a:ext cx="2103120" cy="169164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37360"/>
            <a:ext cx="3566160" cy="452628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2" y="1920240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微软雅黑"/>
              </a:rPr>
              <a:t>中建国际投资
集团有限公司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724912"/>
            <a:ext cx="457200" cy="19050"/>
          </a:xfrm>
          <a:prstGeom prst="rect">
            <a:avLst/>
          </a:prstGeom>
          <a:solidFill>
            <a:srgbClr val="C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E1DAFE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4672" y="2871216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行　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28529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工业与工程（建筑央企）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18688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地　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3200400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中国香港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566160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部　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354787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人力资源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86784"/>
            <a:ext cx="310896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dirty="0" err="1">
                <a:solidFill>
                  <a:srgbClr val="E1DAFE"/>
                </a:solidFill>
                <a:latin typeface="微软雅黑"/>
              </a:rPr>
              <a:t>使用功能</a:t>
            </a:r>
            <a:endParaRPr sz="1000" b="1" dirty="0">
              <a:solidFill>
                <a:srgbClr val="E1DAFE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4672" y="4187952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合同电子签名 · eSignature API 集成 · 合同模板管理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4809744"/>
            <a:ext cx="3108960" cy="9525"/>
          </a:xfrm>
          <a:prstGeom prst="rect">
            <a:avLst/>
          </a:prstGeom>
          <a:solidFill>
            <a:srgbClr val="3A4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97433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1800+  </a:t>
            </a:r>
            <a:r>
              <a:rPr sz="1000">
                <a:solidFill>
                  <a:srgbClr val="C9D6EC"/>
                </a:solidFill>
                <a:latin typeface="微软雅黑"/>
              </a:rPr>
              <a:t>上线后线上签署量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9496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7天→1天  </a:t>
            </a:r>
            <a:r>
              <a:rPr sz="1000">
                <a:solidFill>
                  <a:srgbClr val="C9D6EC"/>
                </a:solidFill>
                <a:latin typeface="微软雅黑"/>
              </a:rPr>
              <a:t>签署周期缩短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81558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+120%  </a:t>
            </a:r>
            <a:r>
              <a:rPr sz="1000">
                <a:solidFill>
                  <a:srgbClr val="C9D6EC"/>
                </a:solidFill>
                <a:latin typeface="微软雅黑"/>
              </a:rPr>
              <a:t>签署效率提升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737360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业务痛点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136" y="2305565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dirty="0" err="1">
                <a:solidFill>
                  <a:srgbClr val="14275C"/>
                </a:solidFill>
                <a:latin typeface="微软雅黑"/>
              </a:rPr>
              <a:t>线下签署繁琐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17136" y="2668349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数十分公司 OFFER、劳动合同、各类证明高频签署，HR 重复操作负担重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79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7" y="2305565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异地寄送周期长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7" y="2668349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单份合同 2–15 天、快递 10–20 元，存在错签漏签代签风险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0" y="2305565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与 SAP 流程割裂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668349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签署数据难归集至人事系统，不满足集团数字化管理要求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785615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14275C"/>
                </a:solidFill>
                <a:latin typeface="微软雅黑"/>
              </a:rPr>
              <a:t>解决方案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315968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17136" y="4353821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人事文件线上闭环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136" y="4716605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 dirty="0" err="1">
                <a:solidFill>
                  <a:srgbClr val="59637D"/>
                </a:solidFill>
                <a:latin typeface="微软雅黑"/>
              </a:rPr>
              <a:t>OFFER、劳动合同、证明类文件在线签署或自动盖章，完成自动通知</a:t>
            </a:r>
            <a:endParaRPr sz="110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812279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13447" y="4290024"/>
            <a:ext cx="1929384" cy="2850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dirty="0">
                <a:solidFill>
                  <a:srgbClr val="14275C"/>
                </a:solidFill>
                <a:latin typeface="微软雅黑"/>
              </a:rPr>
              <a:t>SAP </a:t>
            </a:r>
            <a:r>
              <a:rPr sz="1400" b="1" dirty="0" err="1">
                <a:solidFill>
                  <a:srgbClr val="14275C"/>
                </a:solidFill>
                <a:latin typeface="微软雅黑"/>
              </a:rPr>
              <a:t>深度集成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13447" y="4716605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模板存储、PDF 生成发起、签署回调、文件归档全链路打通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08592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4353821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模板化管理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4716605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多类人事文件模板与文本域，证明类文件自动落章并抄送员工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5916168"/>
            <a:ext cx="38100" cy="237744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CADFD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90288" y="592361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41C33"/>
                </a:solidFill>
                <a:latin typeface="微软雅黑"/>
              </a:rPr>
              <a:t>2024 年 3 月下旬上线，至 7 月中旬完成 1800+ 线上签署，人事协同全面提速。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57B9F4A-8077-1162-862F-F90B27EF6200}"/>
              </a:ext>
            </a:extLst>
          </p:cNvPr>
          <p:cNvSpPr txBox="1"/>
          <p:nvPr/>
        </p:nvSpPr>
        <p:spPr>
          <a:xfrm>
            <a:off x="752224" y="672116"/>
            <a:ext cx="10686920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案例② 中建国际投资：香港上市公司的人事协同线上闭环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37360"/>
            <a:ext cx="3566160" cy="452628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2" y="1920240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微软雅黑"/>
              </a:rPr>
              <a:t>上海杨国福企业管理
（集团）有限公司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724912"/>
            <a:ext cx="457200" cy="19050"/>
          </a:xfrm>
          <a:prstGeom prst="rect">
            <a:avLst/>
          </a:prstGeom>
          <a:solidFill>
            <a:srgbClr val="E1D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871216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dirty="0">
                <a:solidFill>
                  <a:srgbClr val="E1DAFE"/>
                </a:solidFill>
                <a:latin typeface="微软雅黑"/>
              </a:rPr>
              <a:t>行　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28529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连锁餐饮（加盟连锁）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18688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地　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3200400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东南亚 · 中韩泰新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566160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部　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354787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销售 / 商务（签约部）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86784"/>
            <a:ext cx="310896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使用功能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187952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合同电子签名 · eSignature API 集成 · 合同模板管理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4809744"/>
            <a:ext cx="3108960" cy="9525"/>
          </a:xfrm>
          <a:prstGeom prst="rect">
            <a:avLst/>
          </a:prstGeom>
          <a:solidFill>
            <a:srgbClr val="3A4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97433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20多天→线上  </a:t>
            </a:r>
            <a:r>
              <a:rPr sz="1000">
                <a:solidFill>
                  <a:srgbClr val="C9D6EC"/>
                </a:solidFill>
                <a:latin typeface="微软雅黑"/>
              </a:rPr>
              <a:t>海外签署周期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9496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+120%  </a:t>
            </a:r>
            <a:r>
              <a:rPr sz="1000">
                <a:solidFill>
                  <a:srgbClr val="C9D6EC"/>
                </a:solidFill>
                <a:latin typeface="微软雅黑"/>
              </a:rPr>
              <a:t>签署效率提升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81558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200%  </a:t>
            </a:r>
            <a:r>
              <a:rPr sz="1000">
                <a:solidFill>
                  <a:srgbClr val="C9D6EC"/>
                </a:solidFill>
                <a:latin typeface="微软雅黑"/>
              </a:rPr>
              <a:t>合同成本下降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737360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业务痛点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136" y="2263032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dirty="0" err="1">
                <a:solidFill>
                  <a:srgbClr val="14275C"/>
                </a:solidFill>
                <a:latin typeface="微软雅黑"/>
              </a:rPr>
              <a:t>海外签约周期长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17136" y="2647084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 dirty="0" err="1">
                <a:solidFill>
                  <a:srgbClr val="59637D"/>
                </a:solidFill>
                <a:latin typeface="微软雅黑"/>
              </a:rPr>
              <a:t>线下签署海外合同要</a:t>
            </a:r>
            <a:r>
              <a:rPr sz="1100" dirty="0">
                <a:solidFill>
                  <a:srgbClr val="59637D"/>
                </a:solidFill>
                <a:latin typeface="微软雅黑"/>
              </a:rPr>
              <a:t> 20 </a:t>
            </a:r>
            <a:r>
              <a:rPr sz="1100" dirty="0" err="1">
                <a:solidFill>
                  <a:srgbClr val="59637D"/>
                </a:solidFill>
                <a:latin typeface="微软雅黑"/>
              </a:rPr>
              <a:t>多天，拖慢加盟门店筹备与出海扩张节奏</a:t>
            </a:r>
            <a:endParaRPr sz="110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12279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7" y="2263032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各国规则不一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7" y="2647084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不同国家法律环境、签署习惯、身份验证方式各异，合规压力大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0" y="2263032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双域数据孤岛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647084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海外年约 150 份、大陆年约 5 万份，两域分散管理难统一查看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785615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解决方案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17136" y="4311288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双域共签同管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136" y="4695340"/>
            <a:ext cx="1929384" cy="477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海外 + 大陆同一平台，分别适配流程，数据连接统一管理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79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13447" y="4311288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模板化发起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7" y="4695340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按加盟商类型选模板发起加盟/供货协议，催办、撤回全程可控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08592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4311288"/>
            <a:ext cx="192938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4275C"/>
                </a:solidFill>
                <a:latin typeface="微软雅黑"/>
              </a:rPr>
              <a:t>邮件口令验证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4695340"/>
            <a:ext cx="1929384" cy="7318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00">
                <a:solidFill>
                  <a:srgbClr val="59637D"/>
                </a:solidFill>
                <a:latin typeface="微软雅黑"/>
              </a:rPr>
              <a:t>海外经邮件链接 + 口令验证签署，大陆走短信 + 实名意愿认证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5916168"/>
            <a:ext cx="38100" cy="237744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592361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>
                <a:solidFill>
                  <a:srgbClr val="141C33"/>
                </a:solidFill>
                <a:latin typeface="微软雅黑"/>
              </a:rPr>
              <a:t>「</a:t>
            </a:r>
            <a:r>
              <a:rPr sz="1200" b="1" dirty="0" err="1">
                <a:solidFill>
                  <a:srgbClr val="141C33"/>
                </a:solidFill>
                <a:latin typeface="微软雅黑"/>
              </a:rPr>
              <a:t>海外</a:t>
            </a:r>
            <a:r>
              <a:rPr sz="1200" b="1" dirty="0">
                <a:solidFill>
                  <a:srgbClr val="141C33"/>
                </a:solidFill>
                <a:latin typeface="微软雅黑"/>
              </a:rPr>
              <a:t> + </a:t>
            </a:r>
            <a:r>
              <a:rPr sz="1200" b="1" dirty="0" err="1">
                <a:solidFill>
                  <a:srgbClr val="141C33"/>
                </a:solidFill>
                <a:latin typeface="微软雅黑"/>
              </a:rPr>
              <a:t>大陆，同一平台，双域共签同管」成为餐饮出海的签约新范式</a:t>
            </a:r>
            <a:r>
              <a:rPr sz="1200" b="1" dirty="0">
                <a:solidFill>
                  <a:srgbClr val="141C33"/>
                </a:solidFill>
                <a:latin typeface="微软雅黑"/>
              </a:rPr>
              <a:t>。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40B1A71-9451-DA3A-5B22-7CB00962158A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案例③ 杨国福麻辣烫：海外加盟线上签，双域共签同管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37360"/>
            <a:ext cx="3566160" cy="452628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2" y="1920240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微软雅黑"/>
              </a:rPr>
              <a:t>蜜雪冰城
MIXUE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724912"/>
            <a:ext cx="457200" cy="19050"/>
          </a:xfrm>
          <a:prstGeom prst="rect">
            <a:avLst/>
          </a:prstGeom>
          <a:solidFill>
            <a:srgbClr val="E1D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871216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行　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28529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连锁餐饮（现制饮品）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18688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地　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3200400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多国跨境 · 全球拓店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566160"/>
            <a:ext cx="86868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1" dirty="0">
                <a:solidFill>
                  <a:srgbClr val="E1DAFE"/>
                </a:solidFill>
                <a:latin typeface="微软雅黑"/>
              </a:rPr>
              <a:t>部　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3547872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销售 / 商务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86784"/>
            <a:ext cx="3108960" cy="16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1">
                <a:solidFill>
                  <a:srgbClr val="E1DAFE"/>
                </a:solidFill>
                <a:latin typeface="微软雅黑"/>
              </a:rPr>
              <a:t>使用功能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187952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eSignature API 集成 · 合同电子签名 · eSignature 身份验证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4809744"/>
            <a:ext cx="3108960" cy="9525"/>
          </a:xfrm>
          <a:prstGeom prst="rect">
            <a:avLst/>
          </a:prstGeom>
          <a:solidFill>
            <a:srgbClr val="3A4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97433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15天→1-3天  </a:t>
            </a:r>
            <a:r>
              <a:rPr sz="1000">
                <a:solidFill>
                  <a:srgbClr val="C9D6EC"/>
                </a:solidFill>
                <a:latin typeface="微软雅黑"/>
              </a:rPr>
              <a:t>海外加盟签署周期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9496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72%  </a:t>
            </a:r>
            <a:r>
              <a:rPr sz="1000">
                <a:solidFill>
                  <a:srgbClr val="C9D6EC"/>
                </a:solidFill>
                <a:latin typeface="微软雅黑"/>
              </a:rPr>
              <a:t>综合成本下降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81558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微软雅黑"/>
              </a:rPr>
              <a:t>+120%  </a:t>
            </a:r>
            <a:r>
              <a:rPr sz="1000">
                <a:solidFill>
                  <a:srgbClr val="C9D6EC"/>
                </a:solidFill>
                <a:latin typeface="微软雅黑"/>
              </a:rPr>
              <a:t>签署效率提升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737360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 dirty="0" err="1">
                <a:solidFill>
                  <a:srgbClr val="14275C"/>
                </a:solidFill>
                <a:latin typeface="微软雅黑"/>
              </a:rPr>
              <a:t>业务痛点</a:t>
            </a:r>
            <a:endParaRPr sz="14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15968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98848" y="2258356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dirty="0" err="1">
                <a:solidFill>
                  <a:srgbClr val="14275C"/>
                </a:solidFill>
                <a:latin typeface="微软雅黑"/>
              </a:rPr>
              <a:t>多国缺统一工具</a:t>
            </a:r>
            <a:endParaRPr sz="135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98848" y="2616462"/>
            <a:ext cx="1965960" cy="698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50" dirty="0" err="1">
                <a:solidFill>
                  <a:srgbClr val="59637D"/>
                </a:solidFill>
                <a:latin typeface="微软雅黑"/>
              </a:rPr>
              <a:t>海外扩张覆盖多国家、多法律体系，加盟</a:t>
            </a:r>
            <a:r>
              <a:rPr sz="1050" dirty="0">
                <a:solidFill>
                  <a:srgbClr val="59637D"/>
                </a:solidFill>
                <a:latin typeface="微软雅黑"/>
              </a:rPr>
              <a:t>/</a:t>
            </a:r>
            <a:r>
              <a:rPr sz="1050" dirty="0" err="1">
                <a:solidFill>
                  <a:srgbClr val="59637D"/>
                </a:solidFill>
                <a:latin typeface="微软雅黑"/>
              </a:rPr>
              <a:t>供货协议高频流转，分散签署难统一跟踪</a:t>
            </a:r>
            <a:endParaRPr sz="105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12279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95159" y="2258356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>
                <a:solidFill>
                  <a:srgbClr val="14275C"/>
                </a:solidFill>
                <a:latin typeface="微软雅黑"/>
              </a:rPr>
              <a:t>跨境纸质流转慢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2616462"/>
            <a:ext cx="1965960" cy="698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59637D"/>
                </a:solidFill>
                <a:latin typeface="微软雅黑"/>
              </a:rPr>
              <a:t>打印、寄送、回收周期长，海外加盟合同签署周期约 15 天，难匹配快速拓店节奏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2066543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91472" y="2258356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>
                <a:solidFill>
                  <a:srgbClr val="14275C"/>
                </a:solidFill>
                <a:latin typeface="微软雅黑"/>
              </a:rPr>
              <a:t>身份证据保障弱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1472" y="2616462"/>
            <a:ext cx="1965960" cy="698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59637D"/>
                </a:solidFill>
                <a:latin typeface="微软雅黑"/>
              </a:rPr>
              <a:t>境外加盟商身份、签署真实性与后续纠纷证据，需要更强的核验与存证保障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785615"/>
            <a:ext cx="7315200" cy="228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4275C"/>
                </a:solidFill>
                <a:latin typeface="微软雅黑"/>
              </a:rPr>
              <a:t>解决方案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8848" y="43066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>
                <a:solidFill>
                  <a:srgbClr val="14275C"/>
                </a:solidFill>
                <a:latin typeface="微软雅黑"/>
              </a:rPr>
              <a:t>门店管家深度集成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4664718"/>
            <a:ext cx="1965960" cy="698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59637D"/>
                </a:solidFill>
                <a:latin typeface="微软雅黑"/>
              </a:rPr>
              <a:t>eSignature API 嵌入门店管家流程，选国家/地区模板自动触发签署与归档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79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95159" y="43066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>
                <a:solidFill>
                  <a:srgbClr val="14275C"/>
                </a:solidFill>
                <a:latin typeface="微软雅黑"/>
              </a:rPr>
              <a:t>加盟供货线上签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59" y="4664718"/>
            <a:ext cx="1965960" cy="698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50" dirty="0" err="1">
                <a:solidFill>
                  <a:srgbClr val="59637D"/>
                </a:solidFill>
                <a:latin typeface="微软雅黑"/>
              </a:rPr>
              <a:t>海外加盟商邮件接收</a:t>
            </a:r>
            <a:r>
              <a:rPr sz="1050" dirty="0">
                <a:solidFill>
                  <a:srgbClr val="59637D"/>
                </a:solidFill>
                <a:latin typeface="微软雅黑"/>
              </a:rPr>
              <a:t> + </a:t>
            </a:r>
            <a:r>
              <a:rPr sz="1050" dirty="0" err="1">
                <a:solidFill>
                  <a:srgbClr val="59637D"/>
                </a:solidFill>
                <a:latin typeface="微软雅黑"/>
              </a:rPr>
              <a:t>口令核身在线签名，海外主体盖章后自动归档</a:t>
            </a:r>
            <a:endParaRPr sz="105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308592" y="4114800"/>
            <a:ext cx="23317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91472" y="43066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>
                <a:solidFill>
                  <a:srgbClr val="14275C"/>
                </a:solidFill>
                <a:latin typeface="微软雅黑"/>
              </a:rPr>
              <a:t>多国合规与存证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4664718"/>
            <a:ext cx="1965960" cy="698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59637D"/>
                </a:solidFill>
                <a:latin typeface="微软雅黑"/>
              </a:rPr>
              <a:t>多国法律体系认证与证据调取能力，为跨境合同争议提供证据支撑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5916168"/>
            <a:ext cx="38100" cy="237744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5944876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141C33"/>
                </a:solidFill>
                <a:latin typeface="微软雅黑"/>
              </a:rPr>
              <a:t>「15 天到 1–3 天」：现制饮品出海品牌的全球拓店签约新速度。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5BA3E12-E7D5-AF4C-44DA-2905046570CC}"/>
              </a:ext>
            </a:extLst>
          </p:cNvPr>
          <p:cNvSpPr txBox="1"/>
          <p:nvPr/>
        </p:nvSpPr>
        <p:spPr>
          <a:xfrm>
            <a:off x="942121" y="672116"/>
            <a:ext cx="10307126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案例④ 蜜雪冰城：加盟签署 </a:t>
            </a:r>
            <a:r>
              <a:rPr lang="en-US" altLang="zh-CN" sz="3000" dirty="0">
                <a:sym typeface="+mn-ea"/>
              </a:rPr>
              <a:t>15 </a:t>
            </a:r>
            <a:r>
              <a:rPr lang="zh-CN" altLang="en-US" sz="3000" dirty="0">
                <a:sym typeface="+mn-ea"/>
              </a:rPr>
              <a:t>天缩至 </a:t>
            </a:r>
            <a:r>
              <a:rPr lang="en-US" altLang="zh-CN" sz="3000" dirty="0">
                <a:sym typeface="+mn-ea"/>
              </a:rPr>
              <a:t>3 </a:t>
            </a:r>
            <a:r>
              <a:rPr lang="zh-CN" altLang="en-US" sz="3000" dirty="0">
                <a:sym typeface="+mn-ea"/>
              </a:rPr>
              <a:t>天，提速海外拓店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66928" y="171907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全球签 / 海外签平台服务客户（部分）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21408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304288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华为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2121408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2304288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大疆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2121408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5936" y="2304288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比亚迪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19" y="2121408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3999" y="2304288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罗氏制药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26079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1089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Canada Goose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4992" y="2926079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47872" y="31089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HP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2926079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31089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麦芽传媒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19" y="2926079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3999" y="31089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绿茶集团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86200"/>
            <a:ext cx="11073384" cy="210312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6112" y="4114800"/>
            <a:ext cx="10424160" cy="204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 err="1">
                <a:solidFill>
                  <a:srgbClr val="E1DAFE"/>
                </a:solidFill>
                <a:latin typeface="微软雅黑"/>
              </a:rPr>
              <a:t>标杆客户实践数据</a:t>
            </a:r>
            <a:endParaRPr sz="1250" b="1" dirty="0">
              <a:solidFill>
                <a:srgbClr val="E1DAF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4400" y="46177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500万+次/年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85232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华为以电子签章支撑全球业务协同，服务覆盖 70 余个国家及地区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6177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32家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285232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头部电动车品牌全集团子公司接入 e签宝 AI 服务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177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43万次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285232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9D6EC"/>
                </a:solidFill>
                <a:latin typeface="微软雅黑"/>
              </a:rPr>
              <a:t>AI 智能审查累计使用（智能归档累计调用 39 万次）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E62CD50-0775-93FF-88BB-8C9FB997E9A1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更多标杆客户：从中国龙头到全球品牌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83080"/>
            <a:ext cx="2651760" cy="201168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F8FAFD"/>
                </a:solidFill>
                <a:latin typeface="微软雅黑"/>
                <a:ea typeface="微软雅黑"/>
              </a:rPr>
              <a:t>海外合同签署周期</a:t>
            </a:r>
            <a:endParaRPr sz="1100" b="1" dirty="0">
              <a:solidFill>
                <a:srgbClr val="F8FAF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2600" b="1" dirty="0">
                <a:solidFill>
                  <a:srgbClr val="F8FAFD"/>
                </a:solidFill>
                <a:latin typeface="微软雅黑"/>
                <a:ea typeface="微软雅黑"/>
              </a:rPr>
              <a:t>缩短</a:t>
            </a:r>
            <a:r>
              <a:rPr sz="4000" b="1" dirty="0">
                <a:solidFill>
                  <a:srgbClr val="F8FAFD"/>
                </a:solidFill>
                <a:latin typeface="微软雅黑"/>
                <a:ea typeface="微软雅黑"/>
              </a:rPr>
              <a:t>96</a:t>
            </a:r>
            <a:r>
              <a:rPr sz="2600" b="1" dirty="0">
                <a:solidFill>
                  <a:srgbClr val="F8FAFD"/>
                </a:solidFill>
                <a:latin typeface="微软雅黑"/>
                <a:ea typeface="微软雅黑"/>
              </a:rPr>
              <a:t>%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F8FAFD"/>
                </a:solidFill>
                <a:latin typeface="微软雅黑"/>
                <a:ea typeface="微软雅黑"/>
              </a:rPr>
              <a:t>从跨周邮寄到在线即时签署</a:t>
            </a:r>
            <a:endParaRPr sz="1200" dirty="0">
              <a:solidFill>
                <a:srgbClr val="F8FAFD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364992" y="1783080"/>
            <a:ext cx="2651760" cy="201168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59637D"/>
                </a:solidFill>
                <a:latin typeface="微软雅黑"/>
                <a:ea typeface="微软雅黑"/>
              </a:rPr>
              <a:t>外贸综合效率</a:t>
            </a:r>
            <a:endParaRPr sz="1100" b="1" dirty="0">
              <a:solidFill>
                <a:srgbClr val="59637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提升</a:t>
            </a:r>
            <a:r>
              <a:rPr sz="4000" b="1" dirty="0">
                <a:solidFill>
                  <a:srgbClr val="14275C"/>
                </a:solidFill>
                <a:latin typeface="微软雅黑"/>
                <a:ea typeface="微软雅黑"/>
              </a:rPr>
              <a:t>85</a:t>
            </a: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%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发起</a:t>
            </a:r>
            <a:r>
              <a:rPr sz="1200" dirty="0">
                <a:solidFill>
                  <a:srgbClr val="141C33"/>
                </a:solidFill>
                <a:latin typeface="微软雅黑"/>
                <a:ea typeface="微软雅黑"/>
              </a:rPr>
              <a:t>—</a:t>
            </a: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签署</a:t>
            </a:r>
            <a:r>
              <a:rPr sz="1200" dirty="0">
                <a:solidFill>
                  <a:srgbClr val="141C33"/>
                </a:solidFill>
                <a:latin typeface="微软雅黑"/>
                <a:ea typeface="微软雅黑"/>
              </a:rPr>
              <a:t>—</a:t>
            </a: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归档全链路提效</a:t>
            </a:r>
            <a:endParaRPr sz="1200" dirty="0">
              <a:solidFill>
                <a:srgbClr val="141C33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63056" y="1783080"/>
            <a:ext cx="2651760" cy="201168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59637D"/>
                </a:solidFill>
                <a:latin typeface="微软雅黑"/>
                <a:ea typeface="微软雅黑"/>
              </a:rPr>
              <a:t>签署综合成本</a:t>
            </a:r>
            <a:endParaRPr sz="1100" b="1" dirty="0">
              <a:solidFill>
                <a:srgbClr val="59637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降低</a:t>
            </a:r>
            <a:r>
              <a:rPr sz="4000" b="1" dirty="0">
                <a:solidFill>
                  <a:srgbClr val="14275C"/>
                </a:solidFill>
                <a:latin typeface="微软雅黑"/>
                <a:ea typeface="微软雅黑"/>
              </a:rPr>
              <a:t>75</a:t>
            </a: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%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纸质打印、国际邮寄与人力成本</a:t>
            </a:r>
            <a:endParaRPr sz="1200" dirty="0">
              <a:solidFill>
                <a:srgbClr val="141C33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961119" y="1783080"/>
            <a:ext cx="2755960" cy="201168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>
            <a:solidFill>
              <a:srgbClr val="D5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l"/>
            <a:r>
              <a:rPr sz="1100" b="1" dirty="0" err="1">
                <a:solidFill>
                  <a:srgbClr val="59637D"/>
                </a:solidFill>
                <a:latin typeface="微软雅黑"/>
                <a:ea typeface="微软雅黑"/>
              </a:rPr>
              <a:t>方案覆盖范围</a:t>
            </a:r>
            <a:endParaRPr sz="1100" b="1" dirty="0">
              <a:solidFill>
                <a:srgbClr val="59637D"/>
              </a:solidFill>
              <a:latin typeface="微软雅黑"/>
              <a:ea typeface="微软雅黑"/>
            </a:endParaRPr>
          </a:p>
          <a:p>
            <a:pPr algn="l">
              <a:spcBef>
                <a:spcPts val="400"/>
              </a:spcBef>
            </a:pPr>
            <a:r>
              <a:rPr sz="4000" b="1" dirty="0">
                <a:solidFill>
                  <a:srgbClr val="14275C"/>
                </a:solidFill>
                <a:latin typeface="微软雅黑"/>
                <a:ea typeface="微软雅黑"/>
              </a:rPr>
              <a:t>70</a:t>
            </a:r>
            <a:r>
              <a:rPr sz="2700" b="1" dirty="0">
                <a:solidFill>
                  <a:srgbClr val="14275C"/>
                </a:solidFill>
                <a:latin typeface="微软雅黑"/>
                <a:ea typeface="微软雅黑"/>
              </a:rPr>
              <a:t>+</a:t>
            </a:r>
            <a:r>
              <a:rPr sz="2600" b="1" dirty="0">
                <a:solidFill>
                  <a:srgbClr val="14275C"/>
                </a:solidFill>
                <a:latin typeface="微软雅黑"/>
                <a:ea typeface="微软雅黑"/>
              </a:rPr>
              <a:t>国家地区</a:t>
            </a:r>
          </a:p>
          <a:p>
            <a:pPr algn="l">
              <a:spcBef>
                <a:spcPts val="600"/>
              </a:spcBef>
            </a:pPr>
            <a:r>
              <a:rPr sz="1200" dirty="0" err="1">
                <a:solidFill>
                  <a:srgbClr val="141C33"/>
                </a:solidFill>
                <a:latin typeface="微软雅黑"/>
                <a:ea typeface="微软雅黑"/>
              </a:rPr>
              <a:t>动态更新的多国合规引擎</a:t>
            </a:r>
            <a:endParaRPr sz="1200" dirty="0">
              <a:solidFill>
                <a:srgbClr val="141C33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411480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275C"/>
                </a:solidFill>
                <a:latin typeface="微软雅黑"/>
              </a:rPr>
              <a:t>行业认可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608576"/>
            <a:ext cx="38100" cy="256032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986" y="4611342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D"/>
                </a:solidFill>
                <a:latin typeface="微软雅黑"/>
              </a:rPr>
              <a:t>浙江数字贸易创新优秀案例 · 二等奖　—　浙江省国际数字贸易协会主办评选，第四届全球数字贸易博览会发布（2025）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5175504"/>
            <a:ext cx="38100" cy="256032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2986" y="517827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D"/>
                </a:solidFill>
                <a:latin typeface="微软雅黑"/>
              </a:rPr>
              <a:t>香港「2024金融科技大奖」　—　Outstanding Comprehensive eSignature Technology Service（2025-03）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" y="5742432"/>
            <a:ext cx="38100" cy="256032"/>
          </a:xfrm>
          <a:prstGeom prst="rect">
            <a:avLst/>
          </a:prstGeom>
          <a:solidFill>
            <a:srgbClr val="BCA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2986" y="574519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 err="1">
                <a:solidFill>
                  <a:srgbClr val="59637D"/>
                </a:solidFill>
                <a:latin typeface="微软雅黑"/>
              </a:rPr>
              <a:t>浙江省数字贸易高质量发展重点项目</a:t>
            </a:r>
            <a:r>
              <a:rPr sz="1200" b="0" dirty="0">
                <a:solidFill>
                  <a:srgbClr val="59637D"/>
                </a:solidFill>
                <a:latin typeface="微软雅黑"/>
              </a:rPr>
              <a:t>　—　浙江省商务厅评定（2025-06）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F3B253-5322-9E28-5E7B-AF6E34E85683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实践成效：数字信任云的量化价值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66928" y="1783080"/>
            <a:ext cx="3584448" cy="287398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8096" y="2160323"/>
            <a:ext cx="318211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dirty="0" err="1">
                <a:solidFill>
                  <a:srgbClr val="14275C"/>
                </a:solidFill>
                <a:latin typeface="微软雅黑"/>
              </a:rPr>
              <a:t>可信</a:t>
            </a:r>
            <a:endParaRPr sz="2000" b="1" dirty="0">
              <a:solidFill>
                <a:srgbClr val="14275C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8096" y="2640067"/>
            <a:ext cx="3182112" cy="11399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300" dirty="0" err="1">
                <a:solidFill>
                  <a:srgbClr val="59637D"/>
                </a:solidFill>
                <a:latin typeface="微软雅黑"/>
              </a:rPr>
              <a:t>双核合规体系：eIDAS</a:t>
            </a:r>
            <a:r>
              <a:rPr sz="1300" dirty="0">
                <a:solidFill>
                  <a:srgbClr val="59637D"/>
                </a:solidFill>
                <a:latin typeface="微软雅黑"/>
              </a:rPr>
              <a:t> / ESIGN / UETA + </a:t>
            </a:r>
            <a:r>
              <a:rPr sz="1300" dirty="0" err="1">
                <a:solidFill>
                  <a:srgbClr val="59637D"/>
                </a:solidFill>
                <a:latin typeface="微软雅黑"/>
              </a:rPr>
              <a:t>中国《电子签名法</a:t>
            </a:r>
            <a:r>
              <a:rPr sz="1300" dirty="0">
                <a:solidFill>
                  <a:srgbClr val="59637D"/>
                </a:solidFill>
                <a:latin typeface="微软雅黑"/>
              </a:rPr>
              <a:t>》，</a:t>
            </a:r>
            <a:r>
              <a:rPr sz="1300" dirty="0" err="1">
                <a:solidFill>
                  <a:srgbClr val="59637D"/>
                </a:solidFill>
                <a:latin typeface="微软雅黑"/>
              </a:rPr>
              <a:t>司法采信覆盖</a:t>
            </a:r>
            <a:r>
              <a:rPr sz="1300" dirty="0">
                <a:solidFill>
                  <a:srgbClr val="59637D"/>
                </a:solidFill>
                <a:latin typeface="微软雅黑"/>
              </a:rPr>
              <a:t> 570 </a:t>
            </a:r>
            <a:r>
              <a:rPr sz="1300" dirty="0" err="1">
                <a:solidFill>
                  <a:srgbClr val="59637D"/>
                </a:solidFill>
                <a:latin typeface="微软雅黑"/>
              </a:rPr>
              <a:t>余家法院及仲裁机构、判例超</a:t>
            </a:r>
            <a:r>
              <a:rPr sz="1300" dirty="0">
                <a:solidFill>
                  <a:srgbClr val="59637D"/>
                </a:solidFill>
                <a:latin typeface="微软雅黑"/>
              </a:rPr>
              <a:t> 1 </a:t>
            </a:r>
            <a:r>
              <a:rPr sz="1300" dirty="0" err="1">
                <a:solidFill>
                  <a:srgbClr val="59637D"/>
                </a:solidFill>
                <a:latin typeface="微软雅黑"/>
              </a:rPr>
              <a:t>万个</a:t>
            </a:r>
            <a:endParaRPr sz="1300" dirty="0">
              <a:solidFill>
                <a:srgbClr val="59637D"/>
              </a:solidFill>
              <a:latin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34256" y="1783080"/>
            <a:ext cx="3584448" cy="287398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35424" y="2160323"/>
            <a:ext cx="318211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14275C"/>
                </a:solidFill>
                <a:latin typeface="微软雅黑"/>
              </a:rPr>
              <a:t>智能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640067"/>
            <a:ext cx="3182112" cy="11399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300">
                <a:solidFill>
                  <a:srgbClr val="59637D"/>
                </a:solidFill>
                <a:latin typeface="微软雅黑"/>
              </a:rPr>
              <a:t>AI 全生命周期合同管理：起草、审查、比对、台账、归档、Agent 助理，审查准确率约 91%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1783080"/>
            <a:ext cx="3584448" cy="2873980"/>
          </a:xfrm>
          <a:prstGeom prst="rect">
            <a:avLst/>
          </a:prstGeom>
          <a:solidFill>
            <a:srgbClr val="E1DAFE">
              <a:alpha val="30000"/>
            </a:srgbClr>
          </a:solidFill>
          <a:ln w="12700" cap="flat" cmpd="sng" algn="ctr">
            <a:solidFill>
              <a:srgbClr val="BCADFD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sz="3150">
              <a:solidFill>
                <a:prstClr val="white"/>
              </a:solidFill>
              <a:latin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02752" y="2160323"/>
            <a:ext cx="318211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14275C"/>
                </a:solidFill>
                <a:latin typeface="微软雅黑"/>
              </a:rPr>
              <a:t>全球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640067"/>
            <a:ext cx="3182112" cy="11399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</a:pPr>
            <a:r>
              <a:rPr sz="1300">
                <a:solidFill>
                  <a:srgbClr val="59637D"/>
                </a:solidFill>
                <a:latin typeface="微软雅黑"/>
              </a:rPr>
              <a:t>100+ 国家和地区合规覆盖、三地海外数据中心、40+ 语种互译，北美与中东节点已在规划中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28251"/>
            <a:ext cx="11073384" cy="1188720"/>
          </a:xfrm>
          <a:prstGeom prst="rect">
            <a:avLst/>
          </a:prstGeom>
          <a:gradFill>
            <a:gsLst>
              <a:gs pos="4000">
                <a:srgbClr val="9A7AF6"/>
              </a:gs>
              <a:gs pos="82000">
                <a:srgbClr val="5F4FD9"/>
              </a:gs>
            </a:gsLst>
            <a:lin ang="2700000" scaled="1"/>
          </a:gra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6112" y="5269506"/>
            <a:ext cx="10515600" cy="2938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b="1" dirty="0" err="1">
                <a:solidFill>
                  <a:srgbClr val="FFFFFF"/>
                </a:solidFill>
                <a:latin typeface="微软雅黑"/>
              </a:rPr>
              <a:t>出海企业需要的不是又一个签署工具，而是一张可信、智能、通行全球的数字信任网络</a:t>
            </a:r>
            <a:r>
              <a:rPr b="1" dirty="0">
                <a:solidFill>
                  <a:srgbClr val="FFFFFF"/>
                </a:solidFill>
                <a:latin typeface="微软雅黑"/>
              </a:rPr>
              <a:t>。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F796384-3C5A-C9FA-0FEB-B7D57E9B5A97}"/>
              </a:ext>
            </a:extLst>
          </p:cNvPr>
          <p:cNvSpPr txBox="1"/>
          <p:nvPr/>
        </p:nvSpPr>
        <p:spPr>
          <a:xfrm>
            <a:off x="1346158" y="672116"/>
            <a:ext cx="9499052" cy="752444"/>
          </a:xfrm>
          <a:prstGeom prst="rect">
            <a:avLst/>
          </a:prstGeom>
        </p:spPr>
        <p:txBody>
          <a:bodyPr rot="0" spcFirstLastPara="0" vert="horz" wrap="square" lIns="91435" tIns="45717" rIns="91435" bIns="45717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lvl="0" algn="ctr">
              <a:lnSpc>
                <a:spcPct val="100000"/>
              </a:lnSpc>
              <a:buClrTx/>
              <a:buSzTx/>
              <a:buFontTx/>
              <a:defRPr sz="2600" b="1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r>
              <a:rPr lang="zh-CN" altLang="en-US" sz="3000" dirty="0">
                <a:sym typeface="+mn-ea"/>
              </a:rPr>
              <a:t>总结：给出海企业一张通行全球的「数字通行证」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508000" y="1315922"/>
            <a:ext cx="11176000" cy="1544525"/>
          </a:xfrm>
          <a:prstGeom prst="rect">
            <a:avLst/>
          </a:prstGeom>
        </p:spPr>
        <p:txBody>
          <a:bodyPr rot="0" spcFirstLastPara="0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buClrTx/>
              <a:buFontTx/>
            </a:pPr>
            <a:r>
              <a:rPr lang="zh-CN" altLang="en-US" sz="6600" b="1" spc="600" dirty="0">
                <a:gradFill>
                  <a:gsLst>
                    <a:gs pos="22000">
                      <a:schemeClr val="tx1">
                        <a:lumMod val="85000"/>
                        <a:lumOff val="15000"/>
                      </a:schemeClr>
                    </a:gs>
                    <a:gs pos="100000">
                      <a:srgbClr val="570BDF"/>
                    </a:gs>
                  </a:gsLst>
                  <a:lin ang="0" scaled="0"/>
                </a:gradFill>
                <a:latin typeface="微软雅黑" panose="020B0503020204020204" charset="-122"/>
                <a:ea typeface="微软雅黑" panose="020B0503020204020204" charset="-122"/>
                <a:sym typeface="Noto Sans SC"/>
              </a:rPr>
              <a:t>谢谢聆听</a:t>
            </a:r>
          </a:p>
        </p:txBody>
      </p:sp>
      <p:cxnSp>
        <p:nvCxnSpPr>
          <p:cNvPr id="5" name="Connector 5"/>
          <p:cNvCxnSpPr>
            <a:cxnSpLocks/>
          </p:cNvCxnSpPr>
          <p:nvPr/>
        </p:nvCxnSpPr>
        <p:spPr>
          <a:xfrm>
            <a:off x="2214756" y="2893714"/>
            <a:ext cx="7762488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D3E72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1648691" y="3244324"/>
            <a:ext cx="8894618" cy="27699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 marL="0" indent="0" algn="ctr">
              <a:defRPr/>
            </a:pPr>
            <a:r>
              <a:rPr lang="zh-CN" altLang="en-US" b="0" i="0" u="none" strike="noStrike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期待与每一位出海企业合作，让每一份跨境合同都可信、合规、高效。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F836D04C-FDF8-F454-6DF5-D6344F8DE8A4}"/>
              </a:ext>
            </a:extLst>
          </p:cNvPr>
          <p:cNvSpPr txBox="1"/>
          <p:nvPr/>
        </p:nvSpPr>
        <p:spPr>
          <a:xfrm>
            <a:off x="3032760" y="4344847"/>
            <a:ext cx="6126480" cy="7967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400" b="0" dirty="0" err="1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e签宝</a:t>
            </a:r>
            <a:r>
              <a:rPr sz="1400" b="0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· eSign.AI
 </a:t>
            </a:r>
            <a:r>
              <a:rPr lang="zh-CN" sz="1400" b="0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海内外统一官网</a:t>
            </a:r>
            <a:r>
              <a:rPr lang="en-US" altLang="zh-CN" sz="1400" b="0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sz="1400" b="0" dirty="0">
                <a:solidFill>
                  <a:srgbClr val="4D3E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www.esign.ai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6.35,&quot;left&quot;:-46.05,&quot;top&quot;:119.7,&quot;width&quot;:1058.0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6.35,&quot;left&quot;:-46.05,&quot;top&quot;:119.7,&quot;width&quot;:1058.0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6.35,&quot;left&quot;:-46.05,&quot;top&quot;:119.7,&quot;width&quot;:1058.0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6.35,&quot;left&quot;:-46.05,&quot;top&quot;:119.7,&quot;width&quot;:1058.0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0.7,&quot;left&quot;:61.867978593391626,&quot;top&quot;:57.15,&quot;width&quot;:840.6363521152696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6.35,&quot;left&quot;:-46.05,&quot;top&quot;:119.7,&quot;width&quot;:1058.0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1753</Words>
  <Application>Microsoft Office PowerPoint</Application>
  <PresentationFormat>宽屏</PresentationFormat>
  <Paragraphs>326</Paragraphs>
  <Slides>18</Slides>
  <Notes>5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川柏</dc:creator>
  <dc:description>generated using python-pptx</dc:description>
  <cp:lastModifiedBy>川柏</cp:lastModifiedBy>
  <cp:revision>11</cp:revision>
  <dcterms:created xsi:type="dcterms:W3CDTF">2026-10-09T06:14:57Z</dcterms:created>
  <dcterms:modified xsi:type="dcterms:W3CDTF">2026-10-12T02:56:40Z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2052-12.1.24709.24709</vt:lpwstr>
  </property>
  <property fmtid="{D5CDD505-2E9C-101B-9397-08002B2CF9AE}" pid="3" name="ICV">
    <vt:lpwstr>0DACD2F44B3232976086C86A10E5A0DE_43</vt:lpwstr>
  </property>
</Properties>
</file>