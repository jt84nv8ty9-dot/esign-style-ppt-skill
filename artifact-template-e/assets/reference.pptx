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2"/>
    <p:sldMasterId id="2147483665" r:id="rId3"/>
  </p:sldMasterIdLst>
  <p:notesMasterIdLst>
    <p:notesMasterId r:id="rId39"/>
  </p:notesMasterIdLst>
  <p:sldIdLst>
    <p:sldId id="279" r:id="rId4"/>
    <p:sldId id="601" r:id="rId5"/>
    <p:sldId id="658" r:id="rId6"/>
    <p:sldId id="609" r:id="rId7"/>
    <p:sldId id="602" r:id="rId8"/>
    <p:sldId id="618" r:id="rId9"/>
    <p:sldId id="656" r:id="rId10"/>
    <p:sldId id="657" r:id="rId11"/>
    <p:sldId id="619" r:id="rId12"/>
    <p:sldId id="603" r:id="rId13"/>
    <p:sldId id="653" r:id="rId14"/>
    <p:sldId id="654" r:id="rId15"/>
    <p:sldId id="645" r:id="rId16"/>
    <p:sldId id="651" r:id="rId17"/>
    <p:sldId id="652" r:id="rId18"/>
    <p:sldId id="611" r:id="rId19"/>
    <p:sldId id="612" r:id="rId20"/>
    <p:sldId id="613" r:id="rId21"/>
    <p:sldId id="610" r:id="rId22"/>
    <p:sldId id="604" r:id="rId23"/>
    <p:sldId id="659" r:id="rId24"/>
    <p:sldId id="507" r:id="rId25"/>
    <p:sldId id="605" r:id="rId26"/>
    <p:sldId id="606" r:id="rId27"/>
    <p:sldId id="614" r:id="rId28"/>
    <p:sldId id="615" r:id="rId29"/>
    <p:sldId id="616" r:id="rId30"/>
    <p:sldId id="607" r:id="rId31"/>
    <p:sldId id="617" r:id="rId32"/>
    <p:sldId id="259" r:id="rId33"/>
    <p:sldId id="655" r:id="rId34"/>
    <p:sldId id="608" r:id="rId35"/>
    <p:sldId id="277" r:id="rId36"/>
    <p:sldId id="265" r:id="rId37"/>
    <p:sldId id="28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9" name="古拉" initials="古" lastIdx="0" clrIdx="28"/>
  <p:cmAuthor id="1" name="ming qiu" initials="m" lastIdx="0" clrIdx="0"/>
  <p:cmAuthor id="30" name="周 俊" initials="周" lastIdx="0" clrIdx="29"/>
  <p:cmAuthor id="2" name="zhangbin" initials="z" lastIdx="0" clrIdx="1"/>
  <p:cmAuthor id="31" name="Microsoft Office User" initials="MOU" lastIdx="0" clrIdx="30"/>
  <p:cmAuthor id="3" name="Liu Haitao" initials="C" lastIdx="0" clrIdx="2"/>
  <p:cmAuthor id="4" name="WPS" initials="W" lastIdx="0" clrIdx="3"/>
  <p:cmAuthor id="5" name="WPS_1679281038" initials="W" lastIdx="0" clrIdx="4"/>
  <p:cmAuthor id="6" name="作者" initials="A" lastIdx="0" clrIdx="5"/>
  <p:cmAuthor id="7" name="叔夜" initials="叔夜" lastIdx="0" clrIdx="6"/>
  <p:cmAuthor id="8" name="mocheng" initials="m" lastIdx="0" clrIdx="7"/>
  <p:cmAuthor id="9" name="知里" initials="知里" lastIdx="0" clrIdx="8"/>
  <p:cmAuthor id="10" name="kasenwong" initials="k" lastIdx="0" clrIdx="9"/>
  <p:cmAuthor id="11" name="Author" initials="A" lastIdx="0" clrIdx="10"/>
  <p:cmAuthor id="12" name="Jiajia Wen (Bei Jing Di Mei Jia Yi Shu Ju)" initials="JW(JDMJYSJ" lastIdx="0" clrIdx="11"/>
  <p:cmAuthor id="13" name="上官" initials="上官" lastIdx="0" clrIdx="12"/>
  <p:cmAuthor id="14" name="xiwu" initials="x" lastIdx="0" clrIdx="13"/>
  <p:cmAuthor id="15" name="羽落" initials="羽落" lastIdx="0" clrIdx="14"/>
  <p:cmAuthor id="16" name="王红东" initials="K" lastIdx="0" clrIdx="15"/>
  <p:cmAuthor id="17" name="okyus" initials="o" lastIdx="0" clrIdx="16"/>
  <p:cmAuthor id="18" name="Ben" initials="B" lastIdx="0" clrIdx="17"/>
  <p:cmAuthor id="19" name="Huawei" initials="H" lastIdx="0" clrIdx="18"/>
  <p:cmAuthor id="20" name="曾 琴琴" initials="曾" lastIdx="0" clrIdx="19"/>
  <p:cmAuthor id="21" name="swz" initials="s" lastIdx="0" clrIdx="20"/>
  <p:cmAuthor id="22" name="云笙" initials="云笙" lastIdx="0" clrIdx="21"/>
  <p:cmAuthor id="23" name="墨成" initials="墨成" lastIdx="0" clrIdx="22"/>
  <p:cmAuthor id="24" name="tangyb" initials="t" lastIdx="0" clrIdx="23"/>
  <p:cmAuthor id="25" name="junlele" initials="j" lastIdx="0" clrIdx="24"/>
  <p:cmAuthor id="26" name="陈某" initials="陈某" lastIdx="0" clrIdx="25"/>
  <p:cmAuthor id="27" name="绝影" initials="绝影" lastIdx="0" clrIdx="26"/>
  <p:cmAuthor id="28" name="Windows 用户" initials="W用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3E72"/>
    <a:srgbClr val="5F4FD9"/>
    <a:srgbClr val="BCADFD"/>
    <a:srgbClr val="E1DAFE"/>
    <a:srgbClr val="9A7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95" d="100"/>
          <a:sy n="95" d="100"/>
        </p:scale>
        <p:origin x="1272" y="720"/>
      </p:cViewPr>
      <p:guideLst>
        <p:guide orient="horz" pos="2160"/>
        <p:guide pos="28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AC-4B83-8582-835EC0A38182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AC-4B83-8582-835EC0A381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979032954"/>
        <c:axId val="981042952"/>
      </c:barChart>
      <c:catAx>
        <c:axId val="97903295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" panose="020B0500000000000000" pitchFamily="34" charset="-122"/>
              </a:defRPr>
            </a:pPr>
            <a:endParaRPr lang="zh-CN"/>
          </a:p>
        </c:txPr>
        <c:crossAx val="981042952"/>
        <c:crosses val="autoZero"/>
        <c:auto val="1"/>
        <c:lblAlgn val="ctr"/>
        <c:lblOffset val="100"/>
        <c:noMultiLvlLbl val="0"/>
      </c:catAx>
      <c:valAx>
        <c:axId val="981042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" panose="020B0500000000000000" pitchFamily="34" charset="-122"/>
              </a:defRPr>
            </a:pPr>
            <a:endParaRPr lang="zh-CN"/>
          </a:p>
        </c:txPr>
        <c:crossAx val="9790329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思源黑体 CN" panose="020B0500000000000000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8520f0e-733a-4eda-ab16-25a4a5afda10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F9138-A83E-A458-18B4-B58EB7A2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95585F-B43E-86F6-D956-4AFA352060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90A799-80B8-D390-4CAD-E15A0205F5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2E4D8E-CA77-CDED-D2E3-F648146ED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7C9B3F-4B76-F352-6084-B6D7D5C9B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非常荣幸能参加第四届DSG金融领袖峰会。今天我分享的主题是“坚守本体权责，构建金融智能合约合规新范式”。近期，金发8号文的出台为金融AI的发展划定了清晰的红线。在AI技术浪潮席卷金融行业的今天，我们如何在拥抱创新的同时，守住合规的底线，保障每一个市场主体的核心权利？这正是我今天想要与各位探讨的核心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5C698-A7F7-2CA5-B13E-F8AB022169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58DFF-8C45-1074-FCFD-70D0249C0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10599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479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FA1E-7EC8-0152-0087-2F389417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A97FB8-5D38-0A02-40B6-44D2C94E4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760CCC-F2EF-4741-0F0D-CDEA34F16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03497B-F128-BB72-7E05-18BB053F5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954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4D0E-42C0-B690-DA2F-B7663466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8C9CD5-E7BC-CAEA-DF62-7606E0CA7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D61641-9FAE-B9CA-7504-16C4FE1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9FC8BE-88D3-05DB-656F-BA97127F9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755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ADC5C-FDF2-1804-F52C-7F922B07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4C7CF5-A1C5-B5BD-3964-0912041C5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3C99BC-3003-2013-952E-BCB711116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9474B2-7AEA-7751-5259-D482BB13A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956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724C-B08D-EEB1-0D2E-44A02847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99ADC-9CF7-21D1-6631-FE737924D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483714-E980-375B-92B7-15B4C7584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69D95F-637E-F9AC-87F4-3F8653B8A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243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A61A-44B1-3757-411A-F378606D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7B93E1-16EA-E2F0-15B6-DB458A53E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08C81E-8548-1AC0-DC7C-51E3B97DF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D8162D-21CB-EB1D-AC4A-005E04F24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452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FC3C-679C-0683-E920-6AE5DCFBD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F1E699-E15E-0915-E9BB-735F2006A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1F0472-79CF-9E16-A23E-57C64FE6A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96F1FD-E039-2B35-FE83-A39317D45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4B92-F17F-D5C8-B576-9D2B350F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D67966-2E0F-8EF4-C35F-692FACAF1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DB26EB-C7F9-BD73-AA89-39A4239A2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1D5783-06DD-776B-A613-A75A361B9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155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223E-2956-DE3B-4457-C9FBD4A1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2167A1-61A3-05D1-EB42-1A684757D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6DBE70-1B21-C868-0263-91056AE47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BD164F-6073-8688-2C2D-83D6B368E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073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CCDD-7226-D6AE-9715-02BA0F7B8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CD4640-CCDE-3614-B3F6-91468D1B7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FA2681-AD48-7364-5EEA-9F46F6DC3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6695CC-79A5-AAAC-F0DD-CDA9A3220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996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3CE0E-6509-83A4-D990-3E4B7B6F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E77CCE-0DCF-05A9-A268-4C90E6E0D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71F253-DB0A-3599-3B61-534D227E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C647D7-6F00-0DE2-AB48-1168F6B17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436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最后，我想总结一下。AI赋能业务提速，合规守护发展根基。面向未来，金融机构的数字化转型，需要AI创新能力与可信合约合规能力双向并行。只有坚守本体权责，我们才能在创新的道路上行稳致远。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9965E8E-65EA-573E-7460-50F7846996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971" t="36401" r="17239" b="7937"/>
          <a:stretch>
            <a:fillRect/>
          </a:stretch>
        </p:blipFill>
        <p:spPr>
          <a:xfrm>
            <a:off x="0" y="-885"/>
            <a:ext cx="12192000" cy="6858001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A1B83B-F79B-7B7E-4A89-67809D8C51DC}"/>
              </a:ext>
            </a:extLst>
          </p:cNvPr>
          <p:cNvSpPr/>
          <p:nvPr userDrawn="1"/>
        </p:nvSpPr>
        <p:spPr>
          <a:xfrm>
            <a:off x="-3533" y="-884"/>
            <a:ext cx="9687860" cy="6858883"/>
          </a:xfrm>
          <a:prstGeom prst="roundRect">
            <a:avLst>
              <a:gd name="adj" fmla="val 0"/>
            </a:avLst>
          </a:prstGeom>
          <a:gradFill>
            <a:gsLst>
              <a:gs pos="34000">
                <a:srgbClr val="E6EAFA">
                  <a:alpha val="60000"/>
                </a:srgbClr>
              </a:gs>
              <a:gs pos="97000">
                <a:schemeClr val="bg1">
                  <a:lumMod val="9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6398B69-AE38-BF45-DFBD-918C57D58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  <a14:imgEffect>
                      <a14:brightnessContrast bright="20000" contrast="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4110" t="47760" r="38034" b="2240"/>
          <a:stretch>
            <a:fillRect/>
          </a:stretch>
        </p:blipFill>
        <p:spPr>
          <a:xfrm rot="10800000">
            <a:off x="0" y="1674627"/>
            <a:ext cx="8564491" cy="5183372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E024AEB1-B3D4-5EF5-4617-3F7E8F9D41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429" y="273413"/>
            <a:ext cx="2608263" cy="289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10" t="47760" r="38034" b="2240"/>
          <a:stretch>
            <a:fillRect/>
          </a:stretch>
        </p:blipFill>
        <p:spPr>
          <a:xfrm>
            <a:off x="3627320" y="0"/>
            <a:ext cx="8564045" cy="518337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47" t="6753" r="6185" b="42366"/>
          <a:stretch>
            <a:fillRect/>
          </a:stretch>
        </p:blipFill>
        <p:spPr>
          <a:xfrm>
            <a:off x="-1" y="1337481"/>
            <a:ext cx="7731018" cy="5520519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520" y="192441"/>
            <a:ext cx="2385358" cy="2648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4809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272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600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971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84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2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962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12" Type="http://schemas.openxmlformats.org/officeDocument/2006/relationships/image" Target="../media/image4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sv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svg"/><Relationship Id="rId4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8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81.svg"/><Relationship Id="rId5" Type="http://schemas.openxmlformats.org/officeDocument/2006/relationships/tags" Target="../tags/tag6.xml"/><Relationship Id="rId10" Type="http://schemas.openxmlformats.org/officeDocument/2006/relationships/image" Target="../media/image80.png"/><Relationship Id="rId4" Type="http://schemas.openxmlformats.org/officeDocument/2006/relationships/tags" Target="../tags/tag5.xml"/><Relationship Id="rId9" Type="http://schemas.openxmlformats.org/officeDocument/2006/relationships/image" Target="../media/image79.png"/><Relationship Id="rId14" Type="http://schemas.openxmlformats.org/officeDocument/2006/relationships/image" Target="../media/image8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FA9C-E191-5554-55EC-29364863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87BF25EA-C369-2E75-11E0-C639FFF480F2}"/>
              </a:ext>
            </a:extLst>
          </p:cNvPr>
          <p:cNvSpPr/>
          <p:nvPr/>
        </p:nvSpPr>
        <p:spPr>
          <a:xfrm>
            <a:off x="849801" y="1210653"/>
            <a:ext cx="7714689" cy="2259273"/>
          </a:xfrm>
          <a:prstGeom prst="rect">
            <a:avLst/>
          </a:prstGeom>
          <a:noFill/>
        </p:spPr>
        <p:txBody>
          <a:bodyPr wrap="square" lIns="22225" tIns="0" rIns="22225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200" b="1" dirty="0">
                <a:gradFill>
                  <a:gsLst>
                    <a:gs pos="99000">
                      <a:srgbClr val="04066C"/>
                    </a:gs>
                    <a:gs pos="5000">
                      <a:srgbClr val="495AF9"/>
                    </a:gs>
                    <a:gs pos="52000">
                      <a:srgbClr val="6336E2"/>
                    </a:gs>
                  </a:gsLst>
                  <a:lin ang="0" scaled="0"/>
                </a:gradFill>
                <a:effectLst>
                  <a:outerShdw blurRad="88900" dist="101600" dir="2700000" algn="tl" rotWithShape="0">
                    <a:schemeClr val="bg1">
                      <a:alpha val="8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数字信任云服务出海</a:t>
            </a:r>
            <a:endParaRPr lang="en-US" altLang="zh-CN" sz="5200" b="1" dirty="0">
              <a:gradFill>
                <a:gsLst>
                  <a:gs pos="99000">
                    <a:srgbClr val="04066C"/>
                  </a:gs>
                  <a:gs pos="5000">
                    <a:srgbClr val="495AF9"/>
                  </a:gs>
                  <a:gs pos="52000">
                    <a:srgbClr val="6336E2"/>
                  </a:gs>
                </a:gsLst>
                <a:lin ang="0" scaled="0"/>
              </a:gradFill>
              <a:effectLst>
                <a:outerShdw blurRad="88900" dist="101600" dir="2700000" algn="tl" rotWithShape="0">
                  <a:schemeClr val="bg1">
                    <a:alpha val="8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  <a:p>
            <a:pPr>
              <a:lnSpc>
                <a:spcPct val="150000"/>
              </a:lnSpc>
            </a:pPr>
            <a:r>
              <a:rPr lang="zh-CN" altLang="en-US" sz="5200" b="1" dirty="0">
                <a:gradFill>
                  <a:gsLst>
                    <a:gs pos="99000">
                      <a:srgbClr val="04066C"/>
                    </a:gs>
                    <a:gs pos="5000">
                      <a:srgbClr val="495AF9"/>
                    </a:gs>
                    <a:gs pos="52000">
                      <a:srgbClr val="6336E2"/>
                    </a:gs>
                  </a:gsLst>
                  <a:lin ang="0" scaled="0"/>
                </a:gradFill>
                <a:effectLst>
                  <a:outerShdw blurRad="88900" dist="101600" dir="2700000" algn="tl" rotWithShape="0">
                    <a:schemeClr val="bg1">
                      <a:alpha val="8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实践案例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2BF6263-8CBE-3B76-0EEC-9A23D81766AB}"/>
              </a:ext>
            </a:extLst>
          </p:cNvPr>
          <p:cNvSpPr/>
          <p:nvPr/>
        </p:nvSpPr>
        <p:spPr>
          <a:xfrm>
            <a:off x="849802" y="3504282"/>
            <a:ext cx="5935546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08000"/>
              </a:lnSpc>
              <a:defRPr/>
            </a:pPr>
            <a:r>
              <a:rPr lang="zh-CN" altLang="en-US" sz="1600" b="0" i="0" u="none" strike="noStrike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从跨境合规签署到 </a:t>
            </a:r>
            <a:r>
              <a:rPr lang="en-US" altLang="zh-CN" sz="1600" b="0" i="0" u="none" strike="noStrike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合同管理 </a:t>
            </a:r>
            <a:r>
              <a:rPr lang="en-US" altLang="zh-CN" sz="1600" b="0" i="0" u="none" strike="noStrike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—— e</a:t>
            </a:r>
            <a:r>
              <a:rPr lang="zh-CN" altLang="en-US" sz="1600" b="0" i="0" u="none" strike="noStrike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签宝的全球化答卷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EE693D4-C3B4-30D8-BF0B-6D89C7378D81}"/>
              </a:ext>
            </a:extLst>
          </p:cNvPr>
          <p:cNvSpPr/>
          <p:nvPr/>
        </p:nvSpPr>
        <p:spPr>
          <a:xfrm>
            <a:off x="849802" y="4687370"/>
            <a:ext cx="2794000" cy="25400"/>
          </a:xfrm>
          <a:prstGeom prst="roundRect">
            <a:avLst>
              <a:gd name="adj" fmla="val 0"/>
            </a:avLst>
          </a:prstGeom>
          <a:solidFill>
            <a:srgbClr val="E1DAFE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6515F59-A726-D196-89C5-8AC54C281F43}"/>
              </a:ext>
            </a:extLst>
          </p:cNvPr>
          <p:cNvSpPr/>
          <p:nvPr/>
        </p:nvSpPr>
        <p:spPr>
          <a:xfrm>
            <a:off x="828738" y="4778277"/>
            <a:ext cx="529497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演讲嘉宾：</a:t>
            </a:r>
            <a:r>
              <a:rPr lang="en-US" altLang="zh-CN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e</a:t>
            </a:r>
            <a:r>
              <a:rPr lang="zh-CN" altLang="en-US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签宝（拟邀）</a:t>
            </a:r>
            <a:r>
              <a:rPr lang="en-US" altLang="zh-CN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2026</a:t>
            </a:r>
            <a:r>
              <a:rPr lang="zh-CN" altLang="en-US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年</a:t>
            </a:r>
            <a:r>
              <a:rPr lang="en-US" altLang="zh-CN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10</a:t>
            </a:r>
            <a:r>
              <a:rPr lang="zh-CN" altLang="en-US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月</a:t>
            </a:r>
            <a:r>
              <a:rPr lang="en-US" altLang="zh-CN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15</a:t>
            </a:r>
            <a:r>
              <a:rPr lang="zh-CN" altLang="en-US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日  </a:t>
            </a:r>
            <a:r>
              <a:rPr lang="en-US" altLang="zh-CN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·  </a:t>
            </a:r>
            <a:r>
              <a:rPr lang="zh-CN" altLang="en-US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杭州 </a:t>
            </a:r>
            <a:r>
              <a:rPr lang="en-US" altLang="zh-CN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· </a:t>
            </a:r>
            <a:r>
              <a:rPr lang="zh-CN" altLang="en-US" sz="1600" b="0" i="0" u="none" strike="noStrike" dirty="0">
                <a:solidFill>
                  <a:srgbClr val="4D3E72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滨江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0D169C2C-BC8E-B070-0072-B9A9B19C88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429" y="273413"/>
            <a:ext cx="2608263" cy="289539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AFC308E2-3F56-DD30-9AC6-F9C2CC882005}"/>
              </a:ext>
            </a:extLst>
          </p:cNvPr>
          <p:cNvSpPr txBox="1"/>
          <p:nvPr/>
        </p:nvSpPr>
        <p:spPr>
          <a:xfrm>
            <a:off x="870648" y="5926613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dirty="0" err="1">
                <a:solidFill>
                  <a:srgbClr val="59637D"/>
                </a:solidFill>
                <a:latin typeface="微软雅黑"/>
              </a:rPr>
              <a:t>指导单位：中国民主建国会浙江省委会</a:t>
            </a:r>
            <a:r>
              <a:rPr sz="950" b="0" dirty="0">
                <a:solidFill>
                  <a:srgbClr val="59637D"/>
                </a:solidFill>
                <a:latin typeface="微软雅黑"/>
              </a:rPr>
              <a:t>    </a:t>
            </a:r>
            <a:r>
              <a:rPr sz="950" b="0" dirty="0" err="1">
                <a:solidFill>
                  <a:srgbClr val="59637D"/>
                </a:solidFill>
                <a:latin typeface="微软雅黑"/>
              </a:rPr>
              <a:t>主办：浙江省国际数字贸易协会等</a:t>
            </a:r>
            <a:endParaRPr sz="950" b="0" dirty="0">
              <a:solidFill>
                <a:srgbClr val="59637D"/>
              </a:solidFill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49359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: 圆角 131">
            <a:extLst>
              <a:ext uri="{FF2B5EF4-FFF2-40B4-BE49-F238E27FC236}">
                <a16:creationId xmlns:a16="http://schemas.microsoft.com/office/drawing/2014/main" id="{884ABC9C-CB0E-5C79-AAF4-F80DCA4F39CC}"/>
              </a:ext>
            </a:extLst>
          </p:cNvPr>
          <p:cNvSpPr/>
          <p:nvPr/>
        </p:nvSpPr>
        <p:spPr>
          <a:xfrm>
            <a:off x="4269740" y="1395095"/>
            <a:ext cx="3645535" cy="504571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406400" dir="5400000" sx="93000" sy="93000" algn="t" rotWithShape="0">
              <a:prstClr val="black">
                <a:alpha val="18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76" name="矩形: 圆角 131">
            <a:extLst>
              <a:ext uri="{FF2B5EF4-FFF2-40B4-BE49-F238E27FC236}">
                <a16:creationId xmlns:a16="http://schemas.microsoft.com/office/drawing/2014/main" id="{5338A99E-7266-2718-4DEF-4B2F2BB71A9B}"/>
              </a:ext>
            </a:extLst>
          </p:cNvPr>
          <p:cNvSpPr/>
          <p:nvPr/>
        </p:nvSpPr>
        <p:spPr>
          <a:xfrm>
            <a:off x="524510" y="1395095"/>
            <a:ext cx="3645535" cy="504571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482600" dist="482600" dir="5400000" sx="91000" sy="91000" algn="t" rotWithShape="0">
              <a:prstClr val="black">
                <a:alpha val="13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A65445D-9163-08BF-47BC-450CF005EE9A}"/>
              </a:ext>
            </a:extLst>
          </p:cNvPr>
          <p:cNvGrpSpPr/>
          <p:nvPr/>
        </p:nvGrpSpPr>
        <p:grpSpPr>
          <a:xfrm>
            <a:off x="732790" y="3754120"/>
            <a:ext cx="3251835" cy="2348865"/>
            <a:chOff x="1154" y="5912"/>
            <a:chExt cx="5121" cy="3699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58FBF45-CB1F-8286-B689-E6C455C667ED}"/>
                </a:ext>
              </a:extLst>
            </p:cNvPr>
            <p:cNvSpPr txBox="1"/>
            <p:nvPr/>
          </p:nvSpPr>
          <p:spPr>
            <a:xfrm>
              <a:off x="1154" y="5912"/>
              <a:ext cx="4810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Continuously  innovative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811AE796-976E-D747-D99D-139302666041}"/>
                </a:ext>
              </a:extLst>
            </p:cNvPr>
            <p:cNvSpPr txBox="1"/>
            <p:nvPr/>
          </p:nvSpPr>
          <p:spPr>
            <a:xfrm>
              <a:off x="1154" y="6395"/>
              <a:ext cx="4475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38000"/>
                    </a:srgbClr>
                  </a:solidFill>
                  <a:effectLst/>
                  <a:uLnTx/>
                  <a:uFillTx/>
                  <a:latin typeface="Fluent Light" charset="0"/>
                  <a:ea typeface="思源黑体 CN" panose="020B0500000000000000" pitchFamily="34" charset="-122"/>
                  <a:cs typeface="Fluent Light" charset="0"/>
                </a:rPr>
                <a:t>Continuously  innovative</a:t>
              </a:r>
            </a:p>
          </p:txBody>
        </p: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44362F53-CD23-F87F-E948-DA4F149D3D7D}"/>
                </a:ext>
              </a:extLst>
            </p:cNvPr>
            <p:cNvGrpSpPr/>
            <p:nvPr/>
          </p:nvGrpSpPr>
          <p:grpSpPr>
            <a:xfrm>
              <a:off x="1154" y="7401"/>
              <a:ext cx="2458" cy="2210"/>
              <a:chOff x="1154" y="7401"/>
              <a:chExt cx="2458" cy="2210"/>
            </a:xfrm>
          </p:grpSpPr>
          <p:sp>
            <p:nvSpPr>
              <p:cNvPr id="321" name="矩形: 圆角 131">
                <a:extLst>
                  <a:ext uri="{FF2B5EF4-FFF2-40B4-BE49-F238E27FC236}">
                    <a16:creationId xmlns:a16="http://schemas.microsoft.com/office/drawing/2014/main" id="{3C8BCAFA-03FC-D1DB-BE92-008BF8FDB3C7}"/>
                  </a:ext>
                </a:extLst>
              </p:cNvPr>
              <p:cNvSpPr/>
              <p:nvPr/>
            </p:nvSpPr>
            <p:spPr>
              <a:xfrm>
                <a:off x="1154" y="7401"/>
                <a:ext cx="2457" cy="2210"/>
              </a:xfrm>
              <a:prstGeom prst="rect">
                <a:avLst/>
              </a:prstGeom>
              <a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endParaRPr>
              </a:p>
            </p:txBody>
          </p:sp>
          <p:sp>
            <p:nvSpPr>
              <p:cNvPr id="322" name="矩形: 圆角 131">
                <a:extLst>
                  <a:ext uri="{FF2B5EF4-FFF2-40B4-BE49-F238E27FC236}">
                    <a16:creationId xmlns:a16="http://schemas.microsoft.com/office/drawing/2014/main" id="{FF0BD95E-4187-9565-38C1-CB6B225F8707}"/>
                  </a:ext>
                </a:extLst>
              </p:cNvPr>
              <p:cNvSpPr/>
              <p:nvPr/>
            </p:nvSpPr>
            <p:spPr>
              <a:xfrm>
                <a:off x="1154" y="7401"/>
                <a:ext cx="2457" cy="2210"/>
              </a:xfrm>
              <a:prstGeom prst="rect">
                <a:avLst/>
              </a:prstGeom>
              <a:solidFill>
                <a:srgbClr val="7928D5">
                  <a:alpha val="67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endParaRPr>
              </a:p>
            </p:txBody>
          </p:sp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3199539A-A85E-8263-A570-DE0DE5D75FDC}"/>
                  </a:ext>
                </a:extLst>
              </p:cNvPr>
              <p:cNvSpPr txBox="1"/>
              <p:nvPr/>
            </p:nvSpPr>
            <p:spPr>
              <a:xfrm>
                <a:off x="1154" y="8555"/>
                <a:ext cx="245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" panose="020B0500000000000000" pitchFamily="34" charset="-122"/>
                    <a:sym typeface="+mn-ea"/>
                  </a:rPr>
                  <a:t>异常行为识别准确率达</a:t>
                </a:r>
                <a:r>
                  <a:rPr kumimoji="0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" panose="020B0500000000000000" pitchFamily="34" charset="-122"/>
                    <a:sym typeface="+mn-ea"/>
                  </a:rPr>
                  <a:t> </a:t>
                </a:r>
              </a:p>
            </p:txBody>
          </p:sp>
          <p:sp>
            <p:nvSpPr>
              <p:cNvPr id="324" name="文本框 323">
                <a:extLst>
                  <a:ext uri="{FF2B5EF4-FFF2-40B4-BE49-F238E27FC236}">
                    <a16:creationId xmlns:a16="http://schemas.microsoft.com/office/drawing/2014/main" id="{205FB341-BDEB-439A-6898-2A2F95ADAB50}"/>
                  </a:ext>
                </a:extLst>
              </p:cNvPr>
              <p:cNvSpPr txBox="1"/>
              <p:nvPr/>
            </p:nvSpPr>
            <p:spPr>
              <a:xfrm>
                <a:off x="1154" y="7975"/>
                <a:ext cx="162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99.2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%</a:t>
                </a:r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8BB44C84-CE1F-97BB-D196-C2B46C10B919}"/>
                </a:ext>
              </a:extLst>
            </p:cNvPr>
            <p:cNvGrpSpPr/>
            <p:nvPr/>
          </p:nvGrpSpPr>
          <p:grpSpPr>
            <a:xfrm>
              <a:off x="3747" y="7401"/>
              <a:ext cx="2528" cy="2210"/>
              <a:chOff x="3747" y="7401"/>
              <a:chExt cx="2528" cy="2210"/>
            </a:xfrm>
          </p:grpSpPr>
          <p:sp>
            <p:nvSpPr>
              <p:cNvPr id="93" name="矩形: 圆角 131">
                <a:extLst>
                  <a:ext uri="{FF2B5EF4-FFF2-40B4-BE49-F238E27FC236}">
                    <a16:creationId xmlns:a16="http://schemas.microsoft.com/office/drawing/2014/main" id="{1172092B-C810-B82C-F274-074620B079F4}"/>
                  </a:ext>
                </a:extLst>
              </p:cNvPr>
              <p:cNvSpPr/>
              <p:nvPr/>
            </p:nvSpPr>
            <p:spPr>
              <a:xfrm>
                <a:off x="3747" y="7401"/>
                <a:ext cx="2457" cy="2210"/>
              </a:xfrm>
              <a:prstGeom prst="rect">
                <a:avLst/>
              </a:prstGeom>
              <a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endParaRPr>
              </a:p>
            </p:txBody>
          </p:sp>
          <p:sp>
            <p:nvSpPr>
              <p:cNvPr id="94" name="矩形: 圆角 131">
                <a:extLst>
                  <a:ext uri="{FF2B5EF4-FFF2-40B4-BE49-F238E27FC236}">
                    <a16:creationId xmlns:a16="http://schemas.microsoft.com/office/drawing/2014/main" id="{D62E0B32-CB1B-3838-38EC-A6A5FBC27367}"/>
                  </a:ext>
                </a:extLst>
              </p:cNvPr>
              <p:cNvSpPr/>
              <p:nvPr/>
            </p:nvSpPr>
            <p:spPr>
              <a:xfrm>
                <a:off x="3747" y="7401"/>
                <a:ext cx="2457" cy="2210"/>
              </a:xfrm>
              <a:prstGeom prst="rect">
                <a:avLst/>
              </a:prstGeom>
              <a:solidFill>
                <a:srgbClr val="7928D5">
                  <a:alpha val="67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046EC2B4-9D47-A589-B3AF-4199F9A0F866}"/>
                  </a:ext>
                </a:extLst>
              </p:cNvPr>
              <p:cNvSpPr txBox="1"/>
              <p:nvPr/>
            </p:nvSpPr>
            <p:spPr>
              <a:xfrm>
                <a:off x="3747" y="8555"/>
                <a:ext cx="252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" panose="020B0500000000000000" pitchFamily="34" charset="-122"/>
                    <a:sym typeface="+mn-ea"/>
                  </a:rPr>
                  <a:t>边缘节点威胁检测时效</a:t>
                </a:r>
              </a:p>
            </p:txBody>
          </p:sp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842AC97A-0B8B-3553-A898-00C0FA0309D7}"/>
                  </a:ext>
                </a:extLst>
              </p:cNvPr>
              <p:cNvSpPr txBox="1"/>
              <p:nvPr/>
            </p:nvSpPr>
            <p:spPr>
              <a:xfrm>
                <a:off x="3747" y="7975"/>
                <a:ext cx="162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＜</a:t>
                </a: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3 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秒</a:t>
                </a:r>
              </a:p>
            </p:txBody>
          </p:sp>
        </p:grpSp>
      </p:grpSp>
      <p:sp>
        <p:nvSpPr>
          <p:cNvPr id="325" name="矩形: 圆角 131">
            <a:extLst>
              <a:ext uri="{FF2B5EF4-FFF2-40B4-BE49-F238E27FC236}">
                <a16:creationId xmlns:a16="http://schemas.microsoft.com/office/drawing/2014/main" id="{A819585B-E4DB-FFA5-1D9F-832FF5B7859B}"/>
              </a:ext>
            </a:extLst>
          </p:cNvPr>
          <p:cNvSpPr/>
          <p:nvPr/>
        </p:nvSpPr>
        <p:spPr>
          <a:xfrm>
            <a:off x="4269740" y="1395095"/>
            <a:ext cx="3645535" cy="5019675"/>
          </a:xfrm>
          <a:prstGeom prst="rect">
            <a:avLst/>
          </a:prstGeom>
          <a:gradFill>
            <a:gsLst>
              <a:gs pos="0">
                <a:srgbClr val="7928D5">
                  <a:alpha val="0"/>
                </a:srgbClr>
              </a:gs>
              <a:gs pos="100000">
                <a:srgbClr val="7928D5"/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grpSp>
        <p:nvGrpSpPr>
          <p:cNvPr id="326" name="组合 325">
            <a:extLst>
              <a:ext uri="{FF2B5EF4-FFF2-40B4-BE49-F238E27FC236}">
                <a16:creationId xmlns:a16="http://schemas.microsoft.com/office/drawing/2014/main" id="{F2BE4366-2F36-3466-952F-2FE3BFD1D411}"/>
              </a:ext>
            </a:extLst>
          </p:cNvPr>
          <p:cNvGrpSpPr/>
          <p:nvPr/>
        </p:nvGrpSpPr>
        <p:grpSpPr>
          <a:xfrm>
            <a:off x="4493895" y="3754120"/>
            <a:ext cx="3054350" cy="551815"/>
            <a:chOff x="7077" y="5912"/>
            <a:chExt cx="4810" cy="869"/>
          </a:xfrm>
        </p:grpSpPr>
        <p:sp>
          <p:nvSpPr>
            <p:cNvPr id="327" name="文本框 326">
              <a:extLst>
                <a:ext uri="{FF2B5EF4-FFF2-40B4-BE49-F238E27FC236}">
                  <a16:creationId xmlns:a16="http://schemas.microsoft.com/office/drawing/2014/main" id="{895BB33F-2F18-2704-B081-EB1D91C34C19}"/>
                </a:ext>
              </a:extLst>
            </p:cNvPr>
            <p:cNvSpPr txBox="1"/>
            <p:nvPr/>
          </p:nvSpPr>
          <p:spPr>
            <a:xfrm>
              <a:off x="7077" y="5912"/>
              <a:ext cx="4810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en-US" altLang="zh-CN" sz="1400" dirty="0">
                  <a:solidFill>
                    <a:srgbClr val="FFFF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Continuously  innovative</a:t>
              </a:r>
            </a:p>
          </p:txBody>
        </p:sp>
        <p:sp>
          <p:nvSpPr>
            <p:cNvPr id="328" name="文本框 327">
              <a:extLst>
                <a:ext uri="{FF2B5EF4-FFF2-40B4-BE49-F238E27FC236}">
                  <a16:creationId xmlns:a16="http://schemas.microsoft.com/office/drawing/2014/main" id="{7EE13863-563D-779A-EB0C-9DAB359FF210}"/>
                </a:ext>
              </a:extLst>
            </p:cNvPr>
            <p:cNvSpPr txBox="1"/>
            <p:nvPr/>
          </p:nvSpPr>
          <p:spPr>
            <a:xfrm>
              <a:off x="7077" y="6395"/>
              <a:ext cx="4475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en-US" altLang="zh-CN" sz="1000" dirty="0">
                  <a:solidFill>
                    <a:srgbClr val="FFFFFF">
                      <a:alpha val="38000"/>
                    </a:srgbClr>
                  </a:solidFill>
                  <a:latin typeface="Fluent Light" charset="0"/>
                  <a:ea typeface="思源黑体 CN" panose="020B0500000000000000" pitchFamily="34" charset="-122"/>
                  <a:cs typeface="Fluent Light" charset="0"/>
                </a:rPr>
                <a:t>Continuously  innovative</a:t>
              </a:r>
            </a:p>
          </p:txBody>
        </p:sp>
      </p:grpSp>
      <p:grpSp>
        <p:nvGrpSpPr>
          <p:cNvPr id="329" name="组合 328">
            <a:extLst>
              <a:ext uri="{FF2B5EF4-FFF2-40B4-BE49-F238E27FC236}">
                <a16:creationId xmlns:a16="http://schemas.microsoft.com/office/drawing/2014/main" id="{BBFB2CA9-7CA8-0301-DF55-49F20BF3A038}"/>
              </a:ext>
            </a:extLst>
          </p:cNvPr>
          <p:cNvGrpSpPr/>
          <p:nvPr/>
        </p:nvGrpSpPr>
        <p:grpSpPr>
          <a:xfrm>
            <a:off x="8014970" y="1441450"/>
            <a:ext cx="3735070" cy="2278380"/>
            <a:chOff x="12622" y="2270"/>
            <a:chExt cx="5882" cy="3588"/>
          </a:xfrm>
        </p:grpSpPr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AE8690EA-7F79-B686-A2D1-19F69D3C06AE}"/>
                </a:ext>
              </a:extLst>
            </p:cNvPr>
            <p:cNvSpPr txBox="1"/>
            <p:nvPr/>
          </p:nvSpPr>
          <p:spPr>
            <a:xfrm>
              <a:off x="12622" y="2753"/>
              <a:ext cx="588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2000" b="1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边缘守界</a:t>
              </a:r>
              <a:r>
                <a:rPr lang="en-US" altLang="zh-CN" sz="2000" b="1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异常速拦</a:t>
              </a:r>
            </a:p>
          </p:txBody>
        </p:sp>
        <p:sp>
          <p:nvSpPr>
            <p:cNvPr id="333" name="文本框 332">
              <a:extLst>
                <a:ext uri="{FF2B5EF4-FFF2-40B4-BE49-F238E27FC236}">
                  <a16:creationId xmlns:a16="http://schemas.microsoft.com/office/drawing/2014/main" id="{AF5B3445-31B1-AD9E-EC6D-AD56E047B762}"/>
                </a:ext>
              </a:extLst>
            </p:cNvPr>
            <p:cNvSpPr txBox="1"/>
            <p:nvPr/>
          </p:nvSpPr>
          <p:spPr>
            <a:xfrm>
              <a:off x="12622" y="3656"/>
              <a:ext cx="5653" cy="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70000"/>
                </a:lnSpc>
                <a:defRPr/>
              </a:pPr>
              <a:r>
                <a:rPr lang="zh-CN" altLang="en-US" sz="1000" dirty="0">
                  <a:solidFill>
                    <a:srgbClr val="000000">
                      <a:lumMod val="65000"/>
                      <a:lumOff val="35000"/>
                      <a:alpha val="63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聚焦边缘计算节点安全防护需求，搭载轻量化</a:t>
              </a:r>
              <a:r>
                <a:rPr lang="en-US" altLang="zh-CN" sz="1000" dirty="0">
                  <a:solidFill>
                    <a:srgbClr val="000000">
                      <a:lumMod val="65000"/>
                      <a:lumOff val="35000"/>
                      <a:alpha val="63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 AI </a:t>
              </a:r>
              <a:r>
                <a:rPr lang="zh-CN" altLang="en-US" sz="1000" dirty="0">
                  <a:solidFill>
                    <a:srgbClr val="000000">
                      <a:lumMod val="65000"/>
                      <a:lumOff val="35000"/>
                      <a:alpha val="63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威胁检测模型，对节点内网络流量、设备访问、数据交互做实时监控与分析，精准识别入侵、异常访问、恶意指令等威胁行为，实现秒级检测、快速处置，从边缘源头筑牢防线，避免威胁向核心算力网络渗透。</a:t>
              </a:r>
            </a:p>
          </p:txBody>
        </p:sp>
        <p:sp>
          <p:nvSpPr>
            <p:cNvPr id="334" name="文本框 333">
              <a:extLst>
                <a:ext uri="{FF2B5EF4-FFF2-40B4-BE49-F238E27FC236}">
                  <a16:creationId xmlns:a16="http://schemas.microsoft.com/office/drawing/2014/main" id="{8866F3C0-3D1E-709A-4B5E-DDBCC45341DA}"/>
                </a:ext>
              </a:extLst>
            </p:cNvPr>
            <p:cNvSpPr txBox="1"/>
            <p:nvPr/>
          </p:nvSpPr>
          <p:spPr>
            <a:xfrm>
              <a:off x="12622" y="2270"/>
              <a:ext cx="588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000000"/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智检节点</a:t>
              </a:r>
              <a:r>
                <a:rPr lang="en-US" altLang="zh-CN" sz="1400" dirty="0">
                  <a:solidFill>
                    <a:srgbClr val="000000"/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zh-CN" altLang="en-US" sz="1400" dirty="0">
                  <a:solidFill>
                    <a:srgbClr val="000000"/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防护全域</a:t>
              </a:r>
            </a:p>
          </p:txBody>
        </p:sp>
      </p:grpSp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A2466004-3921-5177-4796-B1EC4561FA28}"/>
              </a:ext>
            </a:extLst>
          </p:cNvPr>
          <p:cNvGrpSpPr/>
          <p:nvPr/>
        </p:nvGrpSpPr>
        <p:grpSpPr>
          <a:xfrm>
            <a:off x="8126730" y="6102985"/>
            <a:ext cx="3191510" cy="311150"/>
            <a:chOff x="12798" y="9611"/>
            <a:chExt cx="5026" cy="490"/>
          </a:xfrm>
        </p:grpSpPr>
        <p:sp>
          <p:nvSpPr>
            <p:cNvPr id="336" name="矩形 335">
              <a:extLst>
                <a:ext uri="{FF2B5EF4-FFF2-40B4-BE49-F238E27FC236}">
                  <a16:creationId xmlns:a16="http://schemas.microsoft.com/office/drawing/2014/main" id="{24AE4A56-A7A8-6487-1438-6C27CA118FCC}"/>
                </a:ext>
              </a:extLst>
            </p:cNvPr>
            <p:cNvSpPr/>
            <p:nvPr/>
          </p:nvSpPr>
          <p:spPr>
            <a:xfrm>
              <a:off x="12798" y="9611"/>
              <a:ext cx="1644" cy="4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边缘智检</a:t>
              </a:r>
            </a:p>
          </p:txBody>
        </p:sp>
        <p:sp>
          <p:nvSpPr>
            <p:cNvPr id="337" name="矩形 336">
              <a:extLst>
                <a:ext uri="{FF2B5EF4-FFF2-40B4-BE49-F238E27FC236}">
                  <a16:creationId xmlns:a16="http://schemas.microsoft.com/office/drawing/2014/main" id="{1AA397CB-D08E-DCCB-4240-0096C096E2EB}"/>
                </a:ext>
              </a:extLst>
            </p:cNvPr>
            <p:cNvSpPr/>
            <p:nvPr/>
          </p:nvSpPr>
          <p:spPr>
            <a:xfrm>
              <a:off x="14489" y="9611"/>
              <a:ext cx="1644" cy="4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节点防危</a:t>
              </a:r>
            </a:p>
          </p:txBody>
        </p:sp>
        <p:sp>
          <p:nvSpPr>
            <p:cNvPr id="338" name="矩形 337">
              <a:extLst>
                <a:ext uri="{FF2B5EF4-FFF2-40B4-BE49-F238E27FC236}">
                  <a16:creationId xmlns:a16="http://schemas.microsoft.com/office/drawing/2014/main" id="{03AA1FE9-E3DC-32EB-B86F-9A3ABD5BCBA8}"/>
                </a:ext>
              </a:extLst>
            </p:cNvPr>
            <p:cNvSpPr/>
            <p:nvPr/>
          </p:nvSpPr>
          <p:spPr>
            <a:xfrm>
              <a:off x="16180" y="9611"/>
              <a:ext cx="1644" cy="4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动态拦胁</a:t>
              </a:r>
            </a:p>
          </p:txBody>
        </p:sp>
      </p:grpSp>
      <p:grpSp>
        <p:nvGrpSpPr>
          <p:cNvPr id="339" name="组合 338">
            <a:extLst>
              <a:ext uri="{FF2B5EF4-FFF2-40B4-BE49-F238E27FC236}">
                <a16:creationId xmlns:a16="http://schemas.microsoft.com/office/drawing/2014/main" id="{5085D463-AC39-FF7B-48E9-DD8FCA893EF3}"/>
              </a:ext>
            </a:extLst>
          </p:cNvPr>
          <p:cNvGrpSpPr/>
          <p:nvPr/>
        </p:nvGrpSpPr>
        <p:grpSpPr>
          <a:xfrm>
            <a:off x="636905" y="1591945"/>
            <a:ext cx="3421380" cy="1522730"/>
            <a:chOff x="1003" y="2507"/>
            <a:chExt cx="5388" cy="2398"/>
          </a:xfrm>
        </p:grpSpPr>
        <p:sp>
          <p:nvSpPr>
            <p:cNvPr id="340" name="文本框 339">
              <a:extLst>
                <a:ext uri="{FF2B5EF4-FFF2-40B4-BE49-F238E27FC236}">
                  <a16:creationId xmlns:a16="http://schemas.microsoft.com/office/drawing/2014/main" id="{D3F88E51-2369-BAD6-C6CA-3B7B97DD71B8}"/>
                </a:ext>
              </a:extLst>
            </p:cNvPr>
            <p:cNvSpPr txBox="1"/>
            <p:nvPr/>
          </p:nvSpPr>
          <p:spPr>
            <a:xfrm>
              <a:off x="1003" y="4035"/>
              <a:ext cx="538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针对边缘计算节点部署轻量检测模型，实时监控网络流量，精准识别异常行为，从边缘源头阻断威胁扩散。</a:t>
              </a:r>
            </a:p>
          </p:txBody>
        </p:sp>
        <p:sp>
          <p:nvSpPr>
            <p:cNvPr id="341" name="文本框 340">
              <a:extLst>
                <a:ext uri="{FF2B5EF4-FFF2-40B4-BE49-F238E27FC236}">
                  <a16:creationId xmlns:a16="http://schemas.microsoft.com/office/drawing/2014/main" id="{E6D8D731-4952-2BDA-D332-EE85EC900794}"/>
                </a:ext>
              </a:extLst>
            </p:cNvPr>
            <p:cNvSpPr txBox="1"/>
            <p:nvPr/>
          </p:nvSpPr>
          <p:spPr>
            <a:xfrm>
              <a:off x="1003" y="3381"/>
              <a:ext cx="39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边缘筑防</a:t>
              </a:r>
              <a:r>
                <a:rPr lang="en-US" altLang="zh-CN" sz="1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zh-CN" alt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动态检</a:t>
              </a:r>
              <a:r>
                <a:rPr lang="en-US" altLang="zh-CN" sz="1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Threat</a:t>
              </a:r>
            </a:p>
          </p:txBody>
        </p:sp>
        <p:sp>
          <p:nvSpPr>
            <p:cNvPr id="342" name="文本框 341">
              <a:extLst>
                <a:ext uri="{FF2B5EF4-FFF2-40B4-BE49-F238E27FC236}">
                  <a16:creationId xmlns:a16="http://schemas.microsoft.com/office/drawing/2014/main" id="{C26E143F-6DFD-80C7-621F-F2D44EA235CD}"/>
                </a:ext>
              </a:extLst>
            </p:cNvPr>
            <p:cNvSpPr txBox="1"/>
            <p:nvPr/>
          </p:nvSpPr>
          <p:spPr>
            <a:xfrm>
              <a:off x="1003" y="2507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800" dirty="0">
                  <a:solidFill>
                    <a:srgbClr val="000000">
                      <a:lumMod val="75000"/>
                      <a:lumOff val="25000"/>
                      <a:alpha val="80000"/>
                    </a:srgbClr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343" name="文本框 342">
              <a:extLst>
                <a:ext uri="{FF2B5EF4-FFF2-40B4-BE49-F238E27FC236}">
                  <a16:creationId xmlns:a16="http://schemas.microsoft.com/office/drawing/2014/main" id="{937756E2-8917-58E2-09F3-FB8F3ADECF8C}"/>
                </a:ext>
              </a:extLst>
            </p:cNvPr>
            <p:cNvSpPr txBox="1"/>
            <p:nvPr/>
          </p:nvSpPr>
          <p:spPr>
            <a:xfrm>
              <a:off x="4621" y="2507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400"/>
              <a:r>
                <a:rPr lang="en-US" altLang="zh-CN" sz="800" dirty="0">
                  <a:solidFill>
                    <a:srgbClr val="000000">
                      <a:lumMod val="75000"/>
                      <a:lumOff val="25000"/>
                      <a:alpha val="80000"/>
                    </a:srgbClr>
                  </a:solidFill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Explanatory Text 1</a:t>
              </a:r>
            </a:p>
          </p:txBody>
        </p:sp>
      </p:grpSp>
      <p:grpSp>
        <p:nvGrpSpPr>
          <p:cNvPr id="344" name="组合 343">
            <a:extLst>
              <a:ext uri="{FF2B5EF4-FFF2-40B4-BE49-F238E27FC236}">
                <a16:creationId xmlns:a16="http://schemas.microsoft.com/office/drawing/2014/main" id="{1B32606F-E860-B62F-A9F2-3EB6AF5665F9}"/>
              </a:ext>
            </a:extLst>
          </p:cNvPr>
          <p:cNvGrpSpPr/>
          <p:nvPr/>
        </p:nvGrpSpPr>
        <p:grpSpPr>
          <a:xfrm>
            <a:off x="4432935" y="1591945"/>
            <a:ext cx="3421380" cy="1522730"/>
            <a:chOff x="6981" y="2507"/>
            <a:chExt cx="5388" cy="2398"/>
          </a:xfrm>
        </p:grpSpPr>
        <p:sp>
          <p:nvSpPr>
            <p:cNvPr id="345" name="文本框 344">
              <a:extLst>
                <a:ext uri="{FF2B5EF4-FFF2-40B4-BE49-F238E27FC236}">
                  <a16:creationId xmlns:a16="http://schemas.microsoft.com/office/drawing/2014/main" id="{E3D3B308-2189-BA3C-5750-D03513B43491}"/>
                </a:ext>
              </a:extLst>
            </p:cNvPr>
            <p:cNvSpPr txBox="1"/>
            <p:nvPr/>
          </p:nvSpPr>
          <p:spPr>
            <a:xfrm>
              <a:off x="6981" y="4035"/>
              <a:ext cx="538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zh-CN" altLang="en-US" sz="1000" dirty="0">
                  <a:solidFill>
                    <a:srgbClr val="FFFFFF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对边缘节点做全维度动态巡检，秒级发现入侵、恶意访问等威胁，快速响应处置，守护边缘算力安全。</a:t>
              </a:r>
            </a:p>
          </p:txBody>
        </p:sp>
        <p:sp>
          <p:nvSpPr>
            <p:cNvPr id="346" name="文本框 345">
              <a:extLst>
                <a:ext uri="{FF2B5EF4-FFF2-40B4-BE49-F238E27FC236}">
                  <a16:creationId xmlns:a16="http://schemas.microsoft.com/office/drawing/2014/main" id="{2504AA61-F57C-383C-582D-B8E69F367762}"/>
                </a:ext>
              </a:extLst>
            </p:cNvPr>
            <p:cNvSpPr txBox="1"/>
            <p:nvPr/>
          </p:nvSpPr>
          <p:spPr>
            <a:xfrm>
              <a:off x="6981" y="3381"/>
              <a:ext cx="39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FFFF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节点布控</a:t>
              </a:r>
              <a:r>
                <a:rPr lang="en-US" altLang="zh-CN" sz="1400" dirty="0">
                  <a:solidFill>
                    <a:srgbClr val="FFFF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zh-CN" altLang="en-US" sz="1400" dirty="0">
                  <a:solidFill>
                    <a:srgbClr val="FFFF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威胁秒判</a:t>
              </a:r>
            </a:p>
          </p:txBody>
        </p:sp>
        <p:sp>
          <p:nvSpPr>
            <p:cNvPr id="347" name="文本框 346">
              <a:extLst>
                <a:ext uri="{FF2B5EF4-FFF2-40B4-BE49-F238E27FC236}">
                  <a16:creationId xmlns:a16="http://schemas.microsoft.com/office/drawing/2014/main" id="{680C2BB1-BA2F-4B26-F50D-FC6AFF412BB0}"/>
                </a:ext>
              </a:extLst>
            </p:cNvPr>
            <p:cNvSpPr txBox="1"/>
            <p:nvPr/>
          </p:nvSpPr>
          <p:spPr>
            <a:xfrm>
              <a:off x="6981" y="2507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800" dirty="0">
                  <a:solidFill>
                    <a:srgbClr val="FFFFFF">
                      <a:alpha val="80000"/>
                    </a:srgbClr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26D7979A-8A5D-614B-570E-56D19A26CCED}"/>
                </a:ext>
              </a:extLst>
            </p:cNvPr>
            <p:cNvSpPr txBox="1"/>
            <p:nvPr/>
          </p:nvSpPr>
          <p:spPr>
            <a:xfrm>
              <a:off x="10493" y="2507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400"/>
              <a:r>
                <a:rPr lang="en-US" altLang="zh-CN" sz="800" dirty="0">
                  <a:solidFill>
                    <a:srgbClr val="FFFFFF">
                      <a:alpha val="80000"/>
                    </a:srgbClr>
                  </a:solidFill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Explanatory Text 2</a:t>
              </a:r>
            </a:p>
          </p:txBody>
        </p:sp>
      </p:grpSp>
      <p:graphicFrame>
        <p:nvGraphicFramePr>
          <p:cNvPr id="349" name="图表 348">
            <a:extLst>
              <a:ext uri="{FF2B5EF4-FFF2-40B4-BE49-F238E27FC236}">
                <a16:creationId xmlns:a16="http://schemas.microsoft.com/office/drawing/2014/main" id="{DCFBAA1C-A0FD-63F3-2349-7BA170C90EAA}"/>
              </a:ext>
            </a:extLst>
          </p:cNvPr>
          <p:cNvGraphicFramePr/>
          <p:nvPr/>
        </p:nvGraphicFramePr>
        <p:xfrm>
          <a:off x="8014970" y="3937635"/>
          <a:ext cx="3507740" cy="192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51" name="文本框 350">
            <a:extLst>
              <a:ext uri="{FF2B5EF4-FFF2-40B4-BE49-F238E27FC236}">
                <a16:creationId xmlns:a16="http://schemas.microsoft.com/office/drawing/2014/main" id="{BBF4852B-76E1-126F-1EBE-F8C49C256475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ja-JP" altLang="en-US" sz="3000" dirty="0">
                <a:sym typeface="+mn-ea"/>
              </a:rPr>
              <a:t>边缘防护・边缘节点动态威胁检测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FC451-A962-DCCE-F2E7-F247C6B0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17BE3C76-9AC4-D494-81B7-52266F3EC3E5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ja-JP" altLang="en-US" sz="3000" dirty="0">
                <a:sym typeface="+mn-ea"/>
              </a:rPr>
              <a:t>终端加固・智能设备固件防篡改 </a:t>
            </a:r>
          </a:p>
        </p:txBody>
      </p:sp>
      <p:grpSp>
        <p:nvGrpSpPr>
          <p:cNvPr id="572" name="组合 571">
            <a:extLst>
              <a:ext uri="{FF2B5EF4-FFF2-40B4-BE49-F238E27FC236}">
                <a16:creationId xmlns:a16="http://schemas.microsoft.com/office/drawing/2014/main" id="{94C5866E-2A64-EF4E-23B0-B1B444CFF522}"/>
              </a:ext>
            </a:extLst>
          </p:cNvPr>
          <p:cNvGrpSpPr/>
          <p:nvPr/>
        </p:nvGrpSpPr>
        <p:grpSpPr>
          <a:xfrm>
            <a:off x="524510" y="2113817"/>
            <a:ext cx="3644900" cy="3647440"/>
            <a:chOff x="826" y="4215"/>
            <a:chExt cx="5740" cy="5744"/>
          </a:xfrm>
        </p:grpSpPr>
        <p:sp>
          <p:nvSpPr>
            <p:cNvPr id="573" name="矩形: 圆角 131">
              <a:extLst>
                <a:ext uri="{FF2B5EF4-FFF2-40B4-BE49-F238E27FC236}">
                  <a16:creationId xmlns:a16="http://schemas.microsoft.com/office/drawing/2014/main" id="{6AF22709-A0A7-BCD4-6A68-33D64507B7C9}"/>
                </a:ext>
              </a:extLst>
            </p:cNvPr>
            <p:cNvSpPr/>
            <p:nvPr/>
          </p:nvSpPr>
          <p:spPr>
            <a:xfrm>
              <a:off x="826" y="4215"/>
              <a:ext cx="5741" cy="572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574" name="文本框 573">
              <a:extLst>
                <a:ext uri="{FF2B5EF4-FFF2-40B4-BE49-F238E27FC236}">
                  <a16:creationId xmlns:a16="http://schemas.microsoft.com/office/drawing/2014/main" id="{220934A8-3C1A-BD23-45AA-CE6208FC1D4B}"/>
                </a:ext>
              </a:extLst>
            </p:cNvPr>
            <p:cNvSpPr txBox="1"/>
            <p:nvPr/>
          </p:nvSpPr>
          <p:spPr>
            <a:xfrm>
              <a:off x="1003" y="8083"/>
              <a:ext cx="538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对智能终端固件做签名校验，拦截恶意篡改指令，从底层守住设备安全第一道关。</a:t>
              </a:r>
            </a:p>
          </p:txBody>
        </p:sp>
        <p:sp>
          <p:nvSpPr>
            <p:cNvPr id="575" name="椭圆 574">
              <a:extLst>
                <a:ext uri="{FF2B5EF4-FFF2-40B4-BE49-F238E27FC236}">
                  <a16:creationId xmlns:a16="http://schemas.microsoft.com/office/drawing/2014/main" id="{4F63716E-BD05-697C-FE87-E2F24F279167}"/>
                </a:ext>
              </a:extLst>
            </p:cNvPr>
            <p:cNvSpPr/>
            <p:nvPr/>
          </p:nvSpPr>
          <p:spPr>
            <a:xfrm>
              <a:off x="3614" y="5345"/>
              <a:ext cx="164" cy="164"/>
            </a:xfrm>
            <a:prstGeom prst="ellipse">
              <a:avLst/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576" name="椭圆 575">
              <a:extLst>
                <a:ext uri="{FF2B5EF4-FFF2-40B4-BE49-F238E27FC236}">
                  <a16:creationId xmlns:a16="http://schemas.microsoft.com/office/drawing/2014/main" id="{377C0447-80D1-6BC4-6F4E-A74394ABEECB}"/>
                </a:ext>
              </a:extLst>
            </p:cNvPr>
            <p:cNvSpPr/>
            <p:nvPr/>
          </p:nvSpPr>
          <p:spPr>
            <a:xfrm>
              <a:off x="3074" y="5691"/>
              <a:ext cx="1246" cy="1246"/>
            </a:xfrm>
            <a:prstGeom prst="ellipse">
              <a:avLst/>
            </a:prstGeom>
            <a:solidFill>
              <a:srgbClr val="7928D5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577" name="椭圆 576">
              <a:extLst>
                <a:ext uri="{FF2B5EF4-FFF2-40B4-BE49-F238E27FC236}">
                  <a16:creationId xmlns:a16="http://schemas.microsoft.com/office/drawing/2014/main" id="{79FB1F64-CF0E-301B-D877-8B16E287EF75}"/>
                </a:ext>
              </a:extLst>
            </p:cNvPr>
            <p:cNvSpPr/>
            <p:nvPr/>
          </p:nvSpPr>
          <p:spPr>
            <a:xfrm>
              <a:off x="3138" y="5756"/>
              <a:ext cx="1118" cy="1118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406400" dist="279400" dir="5400000" sx="81000" sy="81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578" name="文本框 577">
              <a:extLst>
                <a:ext uri="{FF2B5EF4-FFF2-40B4-BE49-F238E27FC236}">
                  <a16:creationId xmlns:a16="http://schemas.microsoft.com/office/drawing/2014/main" id="{68A6D2F2-56D1-9964-3D91-C7CF7BA089F7}"/>
                </a:ext>
              </a:extLst>
            </p:cNvPr>
            <p:cNvSpPr txBox="1"/>
            <p:nvPr/>
          </p:nvSpPr>
          <p:spPr>
            <a:xfrm>
              <a:off x="1725" y="7429"/>
              <a:ext cx="39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终端筑盾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固件防篡</a:t>
              </a:r>
            </a:p>
          </p:txBody>
        </p:sp>
        <p:sp>
          <p:nvSpPr>
            <p:cNvPr id="579" name="椭圆 578">
              <a:extLst>
                <a:ext uri="{FF2B5EF4-FFF2-40B4-BE49-F238E27FC236}">
                  <a16:creationId xmlns:a16="http://schemas.microsoft.com/office/drawing/2014/main" id="{191F295E-6493-4C64-7198-0AD3BC0D9456}"/>
                </a:ext>
              </a:extLst>
            </p:cNvPr>
            <p:cNvSpPr/>
            <p:nvPr/>
          </p:nvSpPr>
          <p:spPr>
            <a:xfrm>
              <a:off x="3614" y="5107"/>
              <a:ext cx="164" cy="164"/>
            </a:xfrm>
            <a:prstGeom prst="ellipse">
              <a:avLst/>
            </a:prstGeom>
            <a:solidFill>
              <a:srgbClr val="FFFFFF">
                <a:lumMod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580" name="文本框 579">
              <a:extLst>
                <a:ext uri="{FF2B5EF4-FFF2-40B4-BE49-F238E27FC236}">
                  <a16:creationId xmlns:a16="http://schemas.microsoft.com/office/drawing/2014/main" id="{04D5561B-429A-EF9D-DCAA-F1A533B65B1B}"/>
                </a:ext>
              </a:extLst>
            </p:cNvPr>
            <p:cNvSpPr txBox="1"/>
            <p:nvPr/>
          </p:nvSpPr>
          <p:spPr>
            <a:xfrm>
              <a:off x="1003" y="4545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581" name="文本框 580">
              <a:extLst>
                <a:ext uri="{FF2B5EF4-FFF2-40B4-BE49-F238E27FC236}">
                  <a16:creationId xmlns:a16="http://schemas.microsoft.com/office/drawing/2014/main" id="{E5D9225F-A198-4707-D503-A044544C2440}"/>
                </a:ext>
              </a:extLst>
            </p:cNvPr>
            <p:cNvSpPr txBox="1"/>
            <p:nvPr/>
          </p:nvSpPr>
          <p:spPr>
            <a:xfrm>
              <a:off x="4621" y="4545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80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PORT 01</a:t>
              </a:r>
            </a:p>
          </p:txBody>
        </p:sp>
        <p:sp>
          <p:nvSpPr>
            <p:cNvPr id="582" name="任意多边形 140">
              <a:extLst>
                <a:ext uri="{FF2B5EF4-FFF2-40B4-BE49-F238E27FC236}">
                  <a16:creationId xmlns:a16="http://schemas.microsoft.com/office/drawing/2014/main" id="{2651714E-666F-815A-31AE-72AA1255FA39}"/>
                </a:ext>
              </a:extLst>
            </p:cNvPr>
            <p:cNvSpPr/>
            <p:nvPr/>
          </p:nvSpPr>
          <p:spPr>
            <a:xfrm>
              <a:off x="2237" y="9847"/>
              <a:ext cx="2919" cy="112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42" h="101">
                  <a:moveTo>
                    <a:pt x="91" y="0"/>
                  </a:moveTo>
                  <a:lnTo>
                    <a:pt x="2551" y="0"/>
                  </a:lnTo>
                  <a:cubicBezTo>
                    <a:pt x="2601" y="0"/>
                    <a:pt x="2642" y="41"/>
                    <a:pt x="2642" y="91"/>
                  </a:cubicBezTo>
                  <a:cubicBezTo>
                    <a:pt x="2642" y="94"/>
                    <a:pt x="2642" y="97"/>
                    <a:pt x="2642" y="100"/>
                  </a:cubicBezTo>
                  <a:lnTo>
                    <a:pt x="2641" y="101"/>
                  </a:lnTo>
                  <a:lnTo>
                    <a:pt x="1" y="101"/>
                  </a:lnTo>
                  <a:lnTo>
                    <a:pt x="0" y="100"/>
                  </a:lnTo>
                  <a:cubicBezTo>
                    <a:pt x="0" y="97"/>
                    <a:pt x="0" y="94"/>
                    <a:pt x="0" y="91"/>
                  </a:cubicBezTo>
                  <a:cubicBezTo>
                    <a:pt x="0" y="41"/>
                    <a:pt x="41" y="0"/>
                    <a:pt x="91" y="0"/>
                  </a:cubicBezTo>
                  <a:close/>
                </a:path>
              </a:pathLst>
            </a:custGeom>
            <a:solidFill>
              <a:srgbClr val="7928D5">
                <a:alpha val="94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583" name="矩形 582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92D6D31F-E5F7-54C6-5C02-EAF8815C8EA5}"/>
                </a:ext>
              </a:extLst>
            </p:cNvPr>
            <p:cNvSpPr/>
            <p:nvPr/>
          </p:nvSpPr>
          <p:spPr>
            <a:xfrm>
              <a:off x="1995" y="9337"/>
              <a:ext cx="3405" cy="38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Text placeholder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  <a:alpha val="47000"/>
                  </a:srgbClr>
                </a:solidFill>
                <a:effectLst/>
                <a:uLnTx/>
                <a:uFillTx/>
                <a:latin typeface="Fluent" charset="0"/>
                <a:ea typeface="思源黑体 CN Light" panose="020B0300000000000000" charset="-122"/>
                <a:cs typeface="Fluent" charset="0"/>
                <a:sym typeface="+mn-ea"/>
              </a:endParaRPr>
            </a:p>
          </p:txBody>
        </p:sp>
        <p:pic>
          <p:nvPicPr>
            <p:cNvPr id="584" name="图片 1" descr="警报_alarm">
              <a:extLst>
                <a:ext uri="{FF2B5EF4-FFF2-40B4-BE49-F238E27FC236}">
                  <a16:creationId xmlns:a16="http://schemas.microsoft.com/office/drawing/2014/main" id="{B95A4BD6-6BC3-CD1D-CDDD-A92181479A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44" y="6062"/>
              <a:ext cx="504" cy="504"/>
            </a:xfrm>
            <a:prstGeom prst="rect">
              <a:avLst/>
            </a:prstGeom>
          </p:spPr>
        </p:pic>
      </p:grpSp>
      <p:grpSp>
        <p:nvGrpSpPr>
          <p:cNvPr id="585" name="组合 584">
            <a:extLst>
              <a:ext uri="{FF2B5EF4-FFF2-40B4-BE49-F238E27FC236}">
                <a16:creationId xmlns:a16="http://schemas.microsoft.com/office/drawing/2014/main" id="{8CC27D38-6A12-1DB0-03AD-38CEAAEB75B9}"/>
              </a:ext>
            </a:extLst>
          </p:cNvPr>
          <p:cNvGrpSpPr/>
          <p:nvPr/>
        </p:nvGrpSpPr>
        <p:grpSpPr>
          <a:xfrm>
            <a:off x="4273550" y="2113817"/>
            <a:ext cx="3644900" cy="3647440"/>
            <a:chOff x="6730" y="4215"/>
            <a:chExt cx="5740" cy="5744"/>
          </a:xfrm>
        </p:grpSpPr>
        <p:sp>
          <p:nvSpPr>
            <p:cNvPr id="586" name="矩形: 圆角 131">
              <a:extLst>
                <a:ext uri="{FF2B5EF4-FFF2-40B4-BE49-F238E27FC236}">
                  <a16:creationId xmlns:a16="http://schemas.microsoft.com/office/drawing/2014/main" id="{E50A4D3B-0877-7C3C-05BF-BEE3B9A8B18F}"/>
                </a:ext>
              </a:extLst>
            </p:cNvPr>
            <p:cNvSpPr/>
            <p:nvPr/>
          </p:nvSpPr>
          <p:spPr>
            <a:xfrm>
              <a:off x="6730" y="4215"/>
              <a:ext cx="5741" cy="572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587" name="文本框 586">
              <a:extLst>
                <a:ext uri="{FF2B5EF4-FFF2-40B4-BE49-F238E27FC236}">
                  <a16:creationId xmlns:a16="http://schemas.microsoft.com/office/drawing/2014/main" id="{A27FB2B7-F57C-D137-707E-E4EC4A3308E8}"/>
                </a:ext>
              </a:extLst>
            </p:cNvPr>
            <p:cNvSpPr txBox="1"/>
            <p:nvPr/>
          </p:nvSpPr>
          <p:spPr>
            <a:xfrm>
              <a:off x="6907" y="8083"/>
              <a:ext cx="538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加密保护终端固件数据，杜绝非法刷机、固件替换，筑牢设备硬件级安全屏障。</a:t>
              </a:r>
            </a:p>
          </p:txBody>
        </p:sp>
        <p:sp>
          <p:nvSpPr>
            <p:cNvPr id="588" name="椭圆 587">
              <a:extLst>
                <a:ext uri="{FF2B5EF4-FFF2-40B4-BE49-F238E27FC236}">
                  <a16:creationId xmlns:a16="http://schemas.microsoft.com/office/drawing/2014/main" id="{7070ECF3-C423-C4D6-C756-36788C1091E3}"/>
                </a:ext>
              </a:extLst>
            </p:cNvPr>
            <p:cNvSpPr/>
            <p:nvPr/>
          </p:nvSpPr>
          <p:spPr>
            <a:xfrm>
              <a:off x="9518" y="5345"/>
              <a:ext cx="164" cy="164"/>
            </a:xfrm>
            <a:prstGeom prst="ellipse">
              <a:avLst/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589" name="椭圆 588">
              <a:extLst>
                <a:ext uri="{FF2B5EF4-FFF2-40B4-BE49-F238E27FC236}">
                  <a16:creationId xmlns:a16="http://schemas.microsoft.com/office/drawing/2014/main" id="{D3DB9C38-7795-2405-C66D-D486B45C6C67}"/>
                </a:ext>
              </a:extLst>
            </p:cNvPr>
            <p:cNvSpPr/>
            <p:nvPr/>
          </p:nvSpPr>
          <p:spPr>
            <a:xfrm>
              <a:off x="8978" y="5691"/>
              <a:ext cx="1246" cy="1246"/>
            </a:xfrm>
            <a:prstGeom prst="ellipse">
              <a:avLst/>
            </a:prstGeom>
            <a:solidFill>
              <a:srgbClr val="7928D5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590" name="椭圆 589">
              <a:extLst>
                <a:ext uri="{FF2B5EF4-FFF2-40B4-BE49-F238E27FC236}">
                  <a16:creationId xmlns:a16="http://schemas.microsoft.com/office/drawing/2014/main" id="{7A927119-15C6-3C3A-46DA-CFC09BDFB9DF}"/>
                </a:ext>
              </a:extLst>
            </p:cNvPr>
            <p:cNvSpPr/>
            <p:nvPr/>
          </p:nvSpPr>
          <p:spPr>
            <a:xfrm>
              <a:off x="9042" y="5756"/>
              <a:ext cx="1118" cy="1118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406400" dist="279400" dir="5400000" sx="81000" sy="81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591" name="文本框 590">
              <a:extLst>
                <a:ext uri="{FF2B5EF4-FFF2-40B4-BE49-F238E27FC236}">
                  <a16:creationId xmlns:a16="http://schemas.microsoft.com/office/drawing/2014/main" id="{2A67B8DA-A1C4-6510-30A9-03A6E76A6AA0}"/>
                </a:ext>
              </a:extLst>
            </p:cNvPr>
            <p:cNvSpPr txBox="1"/>
            <p:nvPr/>
          </p:nvSpPr>
          <p:spPr>
            <a:xfrm>
              <a:off x="7629" y="7429"/>
              <a:ext cx="39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硬防固件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智守终端</a:t>
              </a:r>
            </a:p>
          </p:txBody>
        </p:sp>
        <p:sp>
          <p:nvSpPr>
            <p:cNvPr id="592" name="椭圆 591">
              <a:extLst>
                <a:ext uri="{FF2B5EF4-FFF2-40B4-BE49-F238E27FC236}">
                  <a16:creationId xmlns:a16="http://schemas.microsoft.com/office/drawing/2014/main" id="{634B1B07-EDCE-56CB-BAD3-DFC9749528F4}"/>
                </a:ext>
              </a:extLst>
            </p:cNvPr>
            <p:cNvSpPr/>
            <p:nvPr/>
          </p:nvSpPr>
          <p:spPr>
            <a:xfrm>
              <a:off x="9518" y="5107"/>
              <a:ext cx="164" cy="164"/>
            </a:xfrm>
            <a:prstGeom prst="ellipse">
              <a:avLst/>
            </a:prstGeom>
            <a:solidFill>
              <a:srgbClr val="FFFFFF">
                <a:lumMod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593" name="文本框 592">
              <a:extLst>
                <a:ext uri="{FF2B5EF4-FFF2-40B4-BE49-F238E27FC236}">
                  <a16:creationId xmlns:a16="http://schemas.microsoft.com/office/drawing/2014/main" id="{4BB1060A-D86E-C688-E973-6C0C39CFB0E5}"/>
                </a:ext>
              </a:extLst>
            </p:cNvPr>
            <p:cNvSpPr txBox="1"/>
            <p:nvPr/>
          </p:nvSpPr>
          <p:spPr>
            <a:xfrm>
              <a:off x="6907" y="4545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594" name="文本框 593">
              <a:extLst>
                <a:ext uri="{FF2B5EF4-FFF2-40B4-BE49-F238E27FC236}">
                  <a16:creationId xmlns:a16="http://schemas.microsoft.com/office/drawing/2014/main" id="{AE6C3E34-AF71-8DCA-315F-F7B8D1DA7FC6}"/>
                </a:ext>
              </a:extLst>
            </p:cNvPr>
            <p:cNvSpPr txBox="1"/>
            <p:nvPr/>
          </p:nvSpPr>
          <p:spPr>
            <a:xfrm>
              <a:off x="10525" y="4545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80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PORT 01</a:t>
              </a:r>
            </a:p>
          </p:txBody>
        </p:sp>
        <p:sp>
          <p:nvSpPr>
            <p:cNvPr id="595" name="任意多边形 144">
              <a:extLst>
                <a:ext uri="{FF2B5EF4-FFF2-40B4-BE49-F238E27FC236}">
                  <a16:creationId xmlns:a16="http://schemas.microsoft.com/office/drawing/2014/main" id="{865E06A5-C11D-86FA-706C-E19A7122DC94}"/>
                </a:ext>
              </a:extLst>
            </p:cNvPr>
            <p:cNvSpPr/>
            <p:nvPr/>
          </p:nvSpPr>
          <p:spPr>
            <a:xfrm>
              <a:off x="8139" y="9847"/>
              <a:ext cx="2919" cy="112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42" h="101">
                  <a:moveTo>
                    <a:pt x="91" y="0"/>
                  </a:moveTo>
                  <a:lnTo>
                    <a:pt x="2551" y="0"/>
                  </a:lnTo>
                  <a:cubicBezTo>
                    <a:pt x="2601" y="0"/>
                    <a:pt x="2642" y="41"/>
                    <a:pt x="2642" y="91"/>
                  </a:cubicBezTo>
                  <a:cubicBezTo>
                    <a:pt x="2642" y="94"/>
                    <a:pt x="2642" y="97"/>
                    <a:pt x="2642" y="100"/>
                  </a:cubicBezTo>
                  <a:lnTo>
                    <a:pt x="2641" y="101"/>
                  </a:lnTo>
                  <a:lnTo>
                    <a:pt x="1" y="101"/>
                  </a:lnTo>
                  <a:lnTo>
                    <a:pt x="0" y="100"/>
                  </a:lnTo>
                  <a:cubicBezTo>
                    <a:pt x="0" y="97"/>
                    <a:pt x="0" y="94"/>
                    <a:pt x="0" y="91"/>
                  </a:cubicBezTo>
                  <a:cubicBezTo>
                    <a:pt x="0" y="41"/>
                    <a:pt x="41" y="0"/>
                    <a:pt x="91" y="0"/>
                  </a:cubicBezTo>
                  <a:close/>
                </a:path>
              </a:pathLst>
            </a:custGeom>
            <a:solidFill>
              <a:srgbClr val="7928D5">
                <a:alpha val="94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596" name="矩形 595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CE30474F-1E4C-71F5-38DC-7E8F4545494A}"/>
                </a:ext>
              </a:extLst>
            </p:cNvPr>
            <p:cNvSpPr/>
            <p:nvPr/>
          </p:nvSpPr>
          <p:spPr>
            <a:xfrm>
              <a:off x="7896" y="9337"/>
              <a:ext cx="3405" cy="38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Text placeholder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  <a:alpha val="47000"/>
                  </a:srgbClr>
                </a:solidFill>
                <a:effectLst/>
                <a:uLnTx/>
                <a:uFillTx/>
                <a:latin typeface="Fluent" charset="0"/>
                <a:ea typeface="思源黑体 CN Light" panose="020B0300000000000000" charset="-122"/>
                <a:cs typeface="Fluent" charset="0"/>
                <a:sym typeface="+mn-ea"/>
              </a:endParaRPr>
            </a:p>
          </p:txBody>
        </p:sp>
        <p:pic>
          <p:nvPicPr>
            <p:cNvPr id="597" name="图片 2" descr="计算机添加_add-computer">
              <a:extLst>
                <a:ext uri="{FF2B5EF4-FFF2-40B4-BE49-F238E27FC236}">
                  <a16:creationId xmlns:a16="http://schemas.microsoft.com/office/drawing/2014/main" id="{A107A984-7F89-C225-5407-0C2F4CCBB3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46" y="6062"/>
              <a:ext cx="504" cy="504"/>
            </a:xfrm>
            <a:prstGeom prst="rect">
              <a:avLst/>
            </a:prstGeom>
          </p:spPr>
        </p:pic>
      </p:grpSp>
      <p:grpSp>
        <p:nvGrpSpPr>
          <p:cNvPr id="598" name="组合 597">
            <a:extLst>
              <a:ext uri="{FF2B5EF4-FFF2-40B4-BE49-F238E27FC236}">
                <a16:creationId xmlns:a16="http://schemas.microsoft.com/office/drawing/2014/main" id="{0CEECEE7-8F92-FB37-4383-4DC262D35CB3}"/>
              </a:ext>
            </a:extLst>
          </p:cNvPr>
          <p:cNvGrpSpPr/>
          <p:nvPr/>
        </p:nvGrpSpPr>
        <p:grpSpPr>
          <a:xfrm>
            <a:off x="8022590" y="2113817"/>
            <a:ext cx="3644900" cy="3647440"/>
            <a:chOff x="12634" y="4215"/>
            <a:chExt cx="5740" cy="5744"/>
          </a:xfrm>
        </p:grpSpPr>
        <p:sp>
          <p:nvSpPr>
            <p:cNvPr id="599" name="矩形: 圆角 131">
              <a:extLst>
                <a:ext uri="{FF2B5EF4-FFF2-40B4-BE49-F238E27FC236}">
                  <a16:creationId xmlns:a16="http://schemas.microsoft.com/office/drawing/2014/main" id="{688899CA-1A6D-00ED-773D-AB357903EA54}"/>
                </a:ext>
              </a:extLst>
            </p:cNvPr>
            <p:cNvSpPr/>
            <p:nvPr/>
          </p:nvSpPr>
          <p:spPr>
            <a:xfrm>
              <a:off x="12634" y="4215"/>
              <a:ext cx="5741" cy="572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600" name="文本框 599">
              <a:extLst>
                <a:ext uri="{FF2B5EF4-FFF2-40B4-BE49-F238E27FC236}">
                  <a16:creationId xmlns:a16="http://schemas.microsoft.com/office/drawing/2014/main" id="{78C06672-CEDA-A96D-28E0-9A62E2A3F3C0}"/>
                </a:ext>
              </a:extLst>
            </p:cNvPr>
            <p:cNvSpPr txBox="1"/>
            <p:nvPr/>
          </p:nvSpPr>
          <p:spPr>
            <a:xfrm>
              <a:off x="12810" y="8083"/>
              <a:ext cx="538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实时监控固件运行状态，发现篡改行为立即阻断，保障终端设备稳定安全运行。</a:t>
              </a:r>
            </a:p>
          </p:txBody>
        </p:sp>
        <p:sp>
          <p:nvSpPr>
            <p:cNvPr id="601" name="椭圆 600">
              <a:extLst>
                <a:ext uri="{FF2B5EF4-FFF2-40B4-BE49-F238E27FC236}">
                  <a16:creationId xmlns:a16="http://schemas.microsoft.com/office/drawing/2014/main" id="{B689EEBF-905F-5D14-C9C7-6E3B8C565743}"/>
                </a:ext>
              </a:extLst>
            </p:cNvPr>
            <p:cNvSpPr/>
            <p:nvPr/>
          </p:nvSpPr>
          <p:spPr>
            <a:xfrm>
              <a:off x="15422" y="5345"/>
              <a:ext cx="164" cy="164"/>
            </a:xfrm>
            <a:prstGeom prst="ellipse">
              <a:avLst/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02" name="椭圆 601">
              <a:extLst>
                <a:ext uri="{FF2B5EF4-FFF2-40B4-BE49-F238E27FC236}">
                  <a16:creationId xmlns:a16="http://schemas.microsoft.com/office/drawing/2014/main" id="{C13E2609-471E-75B3-04BF-F1F134BAC3EE}"/>
                </a:ext>
              </a:extLst>
            </p:cNvPr>
            <p:cNvSpPr/>
            <p:nvPr/>
          </p:nvSpPr>
          <p:spPr>
            <a:xfrm>
              <a:off x="14882" y="5691"/>
              <a:ext cx="1246" cy="1246"/>
            </a:xfrm>
            <a:prstGeom prst="ellipse">
              <a:avLst/>
            </a:prstGeom>
            <a:solidFill>
              <a:srgbClr val="7928D5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03" name="椭圆 602">
              <a:extLst>
                <a:ext uri="{FF2B5EF4-FFF2-40B4-BE49-F238E27FC236}">
                  <a16:creationId xmlns:a16="http://schemas.microsoft.com/office/drawing/2014/main" id="{A8D37033-0950-9208-BC0D-F5DEB3E74DE5}"/>
                </a:ext>
              </a:extLst>
            </p:cNvPr>
            <p:cNvSpPr/>
            <p:nvPr/>
          </p:nvSpPr>
          <p:spPr>
            <a:xfrm>
              <a:off x="14946" y="5756"/>
              <a:ext cx="1118" cy="1118"/>
            </a:xfrm>
            <a:prstGeom prst="ellipse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406400" dist="279400" dir="5400000" sx="81000" sy="81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04" name="文本框 603">
              <a:extLst>
                <a:ext uri="{FF2B5EF4-FFF2-40B4-BE49-F238E27FC236}">
                  <a16:creationId xmlns:a16="http://schemas.microsoft.com/office/drawing/2014/main" id="{AFD642ED-3454-C73F-A5B1-82C116D49446}"/>
                </a:ext>
              </a:extLst>
            </p:cNvPr>
            <p:cNvSpPr txBox="1"/>
            <p:nvPr/>
          </p:nvSpPr>
          <p:spPr>
            <a:xfrm>
              <a:off x="13533" y="7429"/>
              <a:ext cx="39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终端立防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固件无篡</a:t>
              </a:r>
            </a:p>
          </p:txBody>
        </p:sp>
        <p:sp>
          <p:nvSpPr>
            <p:cNvPr id="605" name="椭圆 604">
              <a:extLst>
                <a:ext uri="{FF2B5EF4-FFF2-40B4-BE49-F238E27FC236}">
                  <a16:creationId xmlns:a16="http://schemas.microsoft.com/office/drawing/2014/main" id="{F3E26D40-A879-6775-E675-4D1C68B28449}"/>
                </a:ext>
              </a:extLst>
            </p:cNvPr>
            <p:cNvSpPr/>
            <p:nvPr/>
          </p:nvSpPr>
          <p:spPr>
            <a:xfrm>
              <a:off x="15422" y="5107"/>
              <a:ext cx="164" cy="164"/>
            </a:xfrm>
            <a:prstGeom prst="ellipse">
              <a:avLst/>
            </a:prstGeom>
            <a:solidFill>
              <a:srgbClr val="FFFFFF">
                <a:lumMod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06" name="文本框 605">
              <a:extLst>
                <a:ext uri="{FF2B5EF4-FFF2-40B4-BE49-F238E27FC236}">
                  <a16:creationId xmlns:a16="http://schemas.microsoft.com/office/drawing/2014/main" id="{DAC3F114-9DB2-CAD4-6C96-185465F5E5CE}"/>
                </a:ext>
              </a:extLst>
            </p:cNvPr>
            <p:cNvSpPr txBox="1"/>
            <p:nvPr/>
          </p:nvSpPr>
          <p:spPr>
            <a:xfrm>
              <a:off x="12810" y="4545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607" name="文本框 606">
              <a:extLst>
                <a:ext uri="{FF2B5EF4-FFF2-40B4-BE49-F238E27FC236}">
                  <a16:creationId xmlns:a16="http://schemas.microsoft.com/office/drawing/2014/main" id="{8D4CAA51-7CD2-A69A-48EF-6F871729394D}"/>
                </a:ext>
              </a:extLst>
            </p:cNvPr>
            <p:cNvSpPr txBox="1"/>
            <p:nvPr/>
          </p:nvSpPr>
          <p:spPr>
            <a:xfrm>
              <a:off x="16429" y="4545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80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PORT 01</a:t>
              </a:r>
            </a:p>
          </p:txBody>
        </p:sp>
        <p:sp>
          <p:nvSpPr>
            <p:cNvPr id="608" name="任意多边形 146">
              <a:extLst>
                <a:ext uri="{FF2B5EF4-FFF2-40B4-BE49-F238E27FC236}">
                  <a16:creationId xmlns:a16="http://schemas.microsoft.com/office/drawing/2014/main" id="{176D27E3-94FE-4A4E-ED46-B9BAA83FC4FF}"/>
                </a:ext>
              </a:extLst>
            </p:cNvPr>
            <p:cNvSpPr/>
            <p:nvPr/>
          </p:nvSpPr>
          <p:spPr>
            <a:xfrm>
              <a:off x="14045" y="9847"/>
              <a:ext cx="2919" cy="112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42" h="101">
                  <a:moveTo>
                    <a:pt x="91" y="0"/>
                  </a:moveTo>
                  <a:lnTo>
                    <a:pt x="2551" y="0"/>
                  </a:lnTo>
                  <a:cubicBezTo>
                    <a:pt x="2601" y="0"/>
                    <a:pt x="2642" y="41"/>
                    <a:pt x="2642" y="91"/>
                  </a:cubicBezTo>
                  <a:cubicBezTo>
                    <a:pt x="2642" y="94"/>
                    <a:pt x="2642" y="97"/>
                    <a:pt x="2642" y="100"/>
                  </a:cubicBezTo>
                  <a:lnTo>
                    <a:pt x="2641" y="101"/>
                  </a:lnTo>
                  <a:lnTo>
                    <a:pt x="1" y="101"/>
                  </a:lnTo>
                  <a:lnTo>
                    <a:pt x="0" y="100"/>
                  </a:lnTo>
                  <a:cubicBezTo>
                    <a:pt x="0" y="97"/>
                    <a:pt x="0" y="94"/>
                    <a:pt x="0" y="91"/>
                  </a:cubicBezTo>
                  <a:cubicBezTo>
                    <a:pt x="0" y="41"/>
                    <a:pt x="41" y="0"/>
                    <a:pt x="91" y="0"/>
                  </a:cubicBezTo>
                  <a:close/>
                </a:path>
              </a:pathLst>
            </a:custGeom>
            <a:solidFill>
              <a:srgbClr val="7928D5">
                <a:alpha val="94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609" name="矩形 608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8088535C-61C3-6E96-18F9-559500188AB5}"/>
                </a:ext>
              </a:extLst>
            </p:cNvPr>
            <p:cNvSpPr/>
            <p:nvPr/>
          </p:nvSpPr>
          <p:spPr>
            <a:xfrm>
              <a:off x="13803" y="9337"/>
              <a:ext cx="3405" cy="38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Text placeholder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  <a:alpha val="47000"/>
                  </a:srgbClr>
                </a:solidFill>
                <a:effectLst/>
                <a:uLnTx/>
                <a:uFillTx/>
                <a:latin typeface="Fluent" charset="0"/>
                <a:ea typeface="思源黑体 CN Light" panose="020B0300000000000000" charset="-122"/>
                <a:cs typeface="Fluent" charset="0"/>
                <a:sym typeface="+mn-ea"/>
              </a:endParaRPr>
            </a:p>
          </p:txBody>
        </p:sp>
        <p:pic>
          <p:nvPicPr>
            <p:cNvPr id="610" name="图片 3" descr="保护_protect">
              <a:extLst>
                <a:ext uri="{FF2B5EF4-FFF2-40B4-BE49-F238E27FC236}">
                  <a16:creationId xmlns:a16="http://schemas.microsoft.com/office/drawing/2014/main" id="{74766E13-E6C8-E5BE-7A53-47A2E1CAA0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254" y="6062"/>
              <a:ext cx="504" cy="504"/>
            </a:xfrm>
            <a:prstGeom prst="rect">
              <a:avLst/>
            </a:prstGeom>
          </p:spPr>
        </p:pic>
      </p:grpSp>
      <p:sp>
        <p:nvSpPr>
          <p:cNvPr id="612" name="文本框 611">
            <a:extLst>
              <a:ext uri="{FF2B5EF4-FFF2-40B4-BE49-F238E27FC236}">
                <a16:creationId xmlns:a16="http://schemas.microsoft.com/office/drawing/2014/main" id="{FC310180-7F65-41DB-F99B-E2A7AE678995}"/>
              </a:ext>
            </a:extLst>
          </p:cNvPr>
          <p:cNvSpPr txBox="1"/>
          <p:nvPr/>
        </p:nvSpPr>
        <p:spPr>
          <a:xfrm>
            <a:off x="1246505" y="1378487"/>
            <a:ext cx="9700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solidFill>
                  <a:srgbClr val="26323B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聚焦智能</a:t>
            </a:r>
            <a:r>
              <a:rPr lang="en-US" altLang="zh-CN" sz="1200" noProof="0" dirty="0">
                <a:solidFill>
                  <a:srgbClr val="26323B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 IoT</a:t>
            </a:r>
            <a:r>
              <a:rPr lang="zh-CN" altLang="en-US" sz="1200" noProof="0" dirty="0">
                <a:solidFill>
                  <a:srgbClr val="26323B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、工业传感等终端设备，部署固件数字签名、实时校验与加密存储机制，拦截恶意篡改、刷机及固件植入行为，从设备底层筑牢安全防线，杜绝因固件被改引发的设备失控、数据泄露等风险。</a:t>
            </a:r>
          </a:p>
        </p:txBody>
      </p:sp>
    </p:spTree>
    <p:extLst>
      <p:ext uri="{BB962C8B-B14F-4D97-AF65-F5344CB8AC3E}">
        <p14:creationId xmlns:p14="http://schemas.microsoft.com/office/powerpoint/2010/main" val="62769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066F8-4DD1-9A78-7108-C40953B65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图片 456" descr="32">
            <a:extLst>
              <a:ext uri="{FF2B5EF4-FFF2-40B4-BE49-F238E27FC236}">
                <a16:creationId xmlns:a16="http://schemas.microsoft.com/office/drawing/2014/main" id="{A417E01A-5A6D-07E1-1408-2337CFFD23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2852" y="603885"/>
            <a:ext cx="4804410" cy="6251575"/>
          </a:xfrm>
          <a:prstGeom prst="rect">
            <a:avLst/>
          </a:prstGeom>
        </p:spPr>
      </p:pic>
      <p:sp>
        <p:nvSpPr>
          <p:cNvPr id="460" name="文本框 47">
            <a:extLst>
              <a:ext uri="{FF2B5EF4-FFF2-40B4-BE49-F238E27FC236}">
                <a16:creationId xmlns:a16="http://schemas.microsoft.com/office/drawing/2014/main" id="{1D88E7A5-4335-788C-4B53-2FE7D266265C}"/>
              </a:ext>
            </a:extLst>
          </p:cNvPr>
          <p:cNvSpPr txBox="1"/>
          <p:nvPr/>
        </p:nvSpPr>
        <p:spPr>
          <a:xfrm>
            <a:off x="8669337" y="1968500"/>
            <a:ext cx="30422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 Light" panose="020B0300000000000000" charset="-122"/>
                <a:sym typeface="+mn-ea"/>
              </a:rPr>
              <a:t>深挖行业痛点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 Light" panose="020B0300000000000000" charset="-122"/>
                <a:sym typeface="+mn-ea"/>
              </a:rPr>
              <a:t>建模适配精准提效</a:t>
            </a:r>
          </a:p>
        </p:txBody>
      </p:sp>
      <p:sp>
        <p:nvSpPr>
          <p:cNvPr id="461" name="文本框 48">
            <a:extLst>
              <a:ext uri="{FF2B5EF4-FFF2-40B4-BE49-F238E27FC236}">
                <a16:creationId xmlns:a16="http://schemas.microsoft.com/office/drawing/2014/main" id="{825492A1-1840-1B66-B3AD-8A4EADA7007D}"/>
              </a:ext>
            </a:extLst>
          </p:cNvPr>
          <p:cNvSpPr txBox="1"/>
          <p:nvPr/>
        </p:nvSpPr>
        <p:spPr>
          <a:xfrm>
            <a:off x="8290242" y="2675255"/>
            <a:ext cx="34213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solidFill>
                  <a:srgbClr val="26323B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聚焦行业真实业务痛点拆解需求，针对性研发专属算法模型，实现场景精准适配与业务效率跃升</a:t>
            </a:r>
          </a:p>
        </p:txBody>
      </p:sp>
      <p:sp>
        <p:nvSpPr>
          <p:cNvPr id="462" name="椭圆 461">
            <a:extLst>
              <a:ext uri="{FF2B5EF4-FFF2-40B4-BE49-F238E27FC236}">
                <a16:creationId xmlns:a16="http://schemas.microsoft.com/office/drawing/2014/main" id="{3E26C81E-C3C9-740C-55B3-17CEBBC4A626}"/>
              </a:ext>
            </a:extLst>
          </p:cNvPr>
          <p:cNvSpPr/>
          <p:nvPr/>
        </p:nvSpPr>
        <p:spPr>
          <a:xfrm>
            <a:off x="2982912" y="5042535"/>
            <a:ext cx="6266180" cy="1305560"/>
          </a:xfrm>
          <a:prstGeom prst="ellipse">
            <a:avLst/>
          </a:prstGeom>
          <a:noFill/>
          <a:ln w="6350" cap="flat" cmpd="sng" algn="ctr">
            <a:gradFill>
              <a:gsLst>
                <a:gs pos="0">
                  <a:srgbClr val="7928D5">
                    <a:alpha val="0"/>
                  </a:srgbClr>
                </a:gs>
                <a:gs pos="100000">
                  <a:srgbClr val="7928D5"/>
                </a:gs>
              </a:gsLst>
              <a:lin ang="5400000" scaled="1"/>
            </a:gradFill>
            <a:prstDash val="dash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grpSp>
        <p:nvGrpSpPr>
          <p:cNvPr id="463" name="组合 462">
            <a:extLst>
              <a:ext uri="{FF2B5EF4-FFF2-40B4-BE49-F238E27FC236}">
                <a16:creationId xmlns:a16="http://schemas.microsoft.com/office/drawing/2014/main" id="{CBF3B5EB-C413-DA09-A731-6BB6C25B4355}"/>
              </a:ext>
            </a:extLst>
          </p:cNvPr>
          <p:cNvGrpSpPr/>
          <p:nvPr/>
        </p:nvGrpSpPr>
        <p:grpSpPr>
          <a:xfrm>
            <a:off x="6414512" y="4135853"/>
            <a:ext cx="3062791" cy="1419681"/>
            <a:chOff x="-1932089" y="4674172"/>
            <a:chExt cx="3683889" cy="1707578"/>
          </a:xfrm>
        </p:grpSpPr>
        <p:pic>
          <p:nvPicPr>
            <p:cNvPr id="487" name="图片 486">
              <a:extLst>
                <a:ext uri="{FF2B5EF4-FFF2-40B4-BE49-F238E27FC236}">
                  <a16:creationId xmlns:a16="http://schemas.microsoft.com/office/drawing/2014/main" id="{6D1110F1-3E5D-B1BE-88D5-484FEA4B7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-1932089" y="4674172"/>
              <a:ext cx="3683889" cy="1707578"/>
            </a:xfrm>
            <a:prstGeom prst="rect">
              <a:avLst/>
            </a:prstGeom>
          </p:spPr>
        </p:pic>
        <p:pic>
          <p:nvPicPr>
            <p:cNvPr id="488" name="图片 487">
              <a:extLst>
                <a:ext uri="{FF2B5EF4-FFF2-40B4-BE49-F238E27FC236}">
                  <a16:creationId xmlns:a16="http://schemas.microsoft.com/office/drawing/2014/main" id="{C3D95683-78DF-599D-6CD4-203F1ABF0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-309650" y="5319479"/>
              <a:ext cx="2005588" cy="929642"/>
            </a:xfrm>
            <a:prstGeom prst="rect">
              <a:avLst/>
            </a:prstGeom>
          </p:spPr>
        </p:pic>
      </p:grpSp>
      <p:grpSp>
        <p:nvGrpSpPr>
          <p:cNvPr id="464" name="组合 463">
            <a:extLst>
              <a:ext uri="{FF2B5EF4-FFF2-40B4-BE49-F238E27FC236}">
                <a16:creationId xmlns:a16="http://schemas.microsoft.com/office/drawing/2014/main" id="{28658650-2846-FFEF-B3AE-003C6D0CEAA4}"/>
              </a:ext>
            </a:extLst>
          </p:cNvPr>
          <p:cNvGrpSpPr/>
          <p:nvPr/>
        </p:nvGrpSpPr>
        <p:grpSpPr>
          <a:xfrm>
            <a:off x="2732147" y="3250028"/>
            <a:ext cx="3062791" cy="1419681"/>
            <a:chOff x="-1932089" y="4674172"/>
            <a:chExt cx="3683889" cy="1707578"/>
          </a:xfrm>
        </p:grpSpPr>
        <p:pic>
          <p:nvPicPr>
            <p:cNvPr id="485" name="图片 484">
              <a:extLst>
                <a:ext uri="{FF2B5EF4-FFF2-40B4-BE49-F238E27FC236}">
                  <a16:creationId xmlns:a16="http://schemas.microsoft.com/office/drawing/2014/main" id="{8C7ED4BE-DEF9-A468-4D6E-CBF96DE19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-1932089" y="4674172"/>
              <a:ext cx="3683889" cy="1707578"/>
            </a:xfrm>
            <a:prstGeom prst="rect">
              <a:avLst/>
            </a:prstGeom>
          </p:spPr>
        </p:pic>
        <p:pic>
          <p:nvPicPr>
            <p:cNvPr id="486" name="图片 485">
              <a:extLst>
                <a:ext uri="{FF2B5EF4-FFF2-40B4-BE49-F238E27FC236}">
                  <a16:creationId xmlns:a16="http://schemas.microsoft.com/office/drawing/2014/main" id="{136DA0FD-ABC4-BBE0-E464-61DF741D5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-309650" y="5319479"/>
              <a:ext cx="2005588" cy="929642"/>
            </a:xfrm>
            <a:prstGeom prst="rect">
              <a:avLst/>
            </a:prstGeom>
          </p:spPr>
        </p:pic>
      </p:grpSp>
      <p:grpSp>
        <p:nvGrpSpPr>
          <p:cNvPr id="465" name="组合 464">
            <a:extLst>
              <a:ext uri="{FF2B5EF4-FFF2-40B4-BE49-F238E27FC236}">
                <a16:creationId xmlns:a16="http://schemas.microsoft.com/office/drawing/2014/main" id="{63B9C127-787F-2CCD-8139-DAB61C966A50}"/>
              </a:ext>
            </a:extLst>
          </p:cNvPr>
          <p:cNvGrpSpPr/>
          <p:nvPr/>
        </p:nvGrpSpPr>
        <p:grpSpPr>
          <a:xfrm>
            <a:off x="314642" y="3739515"/>
            <a:ext cx="11562715" cy="1986280"/>
            <a:chOff x="449" y="5894"/>
            <a:chExt cx="18209" cy="3128"/>
          </a:xfrm>
        </p:grpSpPr>
        <p:sp>
          <p:nvSpPr>
            <p:cNvPr id="466" name="椭圆 465">
              <a:extLst>
                <a:ext uri="{FF2B5EF4-FFF2-40B4-BE49-F238E27FC236}">
                  <a16:creationId xmlns:a16="http://schemas.microsoft.com/office/drawing/2014/main" id="{C9C7F48F-9F48-2B85-E50B-28A4FAE666C9}"/>
                </a:ext>
              </a:extLst>
            </p:cNvPr>
            <p:cNvSpPr/>
            <p:nvPr/>
          </p:nvSpPr>
          <p:spPr>
            <a:xfrm>
              <a:off x="3004" y="5894"/>
              <a:ext cx="13162" cy="2742"/>
            </a:xfrm>
            <a:prstGeom prst="ellipse">
              <a:avLst/>
            </a:prstGeom>
            <a:noFill/>
            <a:ln w="2540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67" name="椭圆 466">
              <a:extLst>
                <a:ext uri="{FF2B5EF4-FFF2-40B4-BE49-F238E27FC236}">
                  <a16:creationId xmlns:a16="http://schemas.microsoft.com/office/drawing/2014/main" id="{50F4671B-3687-3EED-7F59-D0D3AB7F7558}"/>
                </a:ext>
              </a:extLst>
            </p:cNvPr>
            <p:cNvSpPr/>
            <p:nvPr/>
          </p:nvSpPr>
          <p:spPr>
            <a:xfrm>
              <a:off x="2863" y="7138"/>
              <a:ext cx="254" cy="254"/>
            </a:xfrm>
            <a:prstGeom prst="ellipse">
              <a:avLst/>
            </a:prstGeom>
            <a:solidFill>
              <a:srgbClr val="FFFFFF"/>
            </a:solidFill>
            <a:ln w="15875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6C5994A9-22E1-56F6-0ED1-DE9B5EE0422C}"/>
                </a:ext>
              </a:extLst>
            </p:cNvPr>
            <p:cNvSpPr/>
            <p:nvPr/>
          </p:nvSpPr>
          <p:spPr>
            <a:xfrm>
              <a:off x="5101" y="8153"/>
              <a:ext cx="254" cy="254"/>
            </a:xfrm>
            <a:prstGeom prst="ellipse">
              <a:avLst/>
            </a:prstGeom>
            <a:solidFill>
              <a:srgbClr val="FFFFFF"/>
            </a:solidFill>
            <a:ln w="15875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69" name="文本框 5">
              <a:extLst>
                <a:ext uri="{FF2B5EF4-FFF2-40B4-BE49-F238E27FC236}">
                  <a16:creationId xmlns:a16="http://schemas.microsoft.com/office/drawing/2014/main" id="{DA5F1DFD-21CD-4E50-DA15-75132E3DCA42}"/>
                </a:ext>
              </a:extLst>
            </p:cNvPr>
            <p:cNvSpPr txBox="1"/>
            <p:nvPr/>
          </p:nvSpPr>
          <p:spPr>
            <a:xfrm>
              <a:off x="1125" y="7040"/>
              <a:ext cx="166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70" name="文本框 6">
              <a:extLst>
                <a:ext uri="{FF2B5EF4-FFF2-40B4-BE49-F238E27FC236}">
                  <a16:creationId xmlns:a16="http://schemas.microsoft.com/office/drawing/2014/main" id="{36BAE5A2-26C2-4389-FCC5-CD8A6959C133}"/>
                </a:ext>
              </a:extLst>
            </p:cNvPr>
            <p:cNvSpPr txBox="1"/>
            <p:nvPr/>
          </p:nvSpPr>
          <p:spPr>
            <a:xfrm>
              <a:off x="449" y="7392"/>
              <a:ext cx="234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  <p:sp>
          <p:nvSpPr>
            <p:cNvPr id="471" name="文本框 10">
              <a:extLst>
                <a:ext uri="{FF2B5EF4-FFF2-40B4-BE49-F238E27FC236}">
                  <a16:creationId xmlns:a16="http://schemas.microsoft.com/office/drawing/2014/main" id="{79530820-B604-83EF-5009-B520C2319AFD}"/>
                </a:ext>
              </a:extLst>
            </p:cNvPr>
            <p:cNvSpPr txBox="1"/>
            <p:nvPr/>
          </p:nvSpPr>
          <p:spPr>
            <a:xfrm>
              <a:off x="3437" y="8284"/>
              <a:ext cx="166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72" name="文本框 24">
              <a:extLst>
                <a:ext uri="{FF2B5EF4-FFF2-40B4-BE49-F238E27FC236}">
                  <a16:creationId xmlns:a16="http://schemas.microsoft.com/office/drawing/2014/main" id="{F270E447-418F-01EC-3C8F-E0BE239F8F6D}"/>
                </a:ext>
              </a:extLst>
            </p:cNvPr>
            <p:cNvSpPr txBox="1"/>
            <p:nvPr/>
          </p:nvSpPr>
          <p:spPr>
            <a:xfrm>
              <a:off x="2761" y="8636"/>
              <a:ext cx="234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  <p:sp>
          <p:nvSpPr>
            <p:cNvPr id="473" name="椭圆 472">
              <a:extLst>
                <a:ext uri="{FF2B5EF4-FFF2-40B4-BE49-F238E27FC236}">
                  <a16:creationId xmlns:a16="http://schemas.microsoft.com/office/drawing/2014/main" id="{5AE9726C-5DB4-B27C-65F6-5100693A384C}"/>
                </a:ext>
              </a:extLst>
            </p:cNvPr>
            <p:cNvSpPr/>
            <p:nvPr/>
          </p:nvSpPr>
          <p:spPr>
            <a:xfrm>
              <a:off x="4672" y="6098"/>
              <a:ext cx="254" cy="254"/>
            </a:xfrm>
            <a:prstGeom prst="ellipse">
              <a:avLst/>
            </a:prstGeom>
            <a:solidFill>
              <a:srgbClr val="FFFFFF"/>
            </a:solidFill>
            <a:ln w="15875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74" name="文本框 26">
              <a:extLst>
                <a:ext uri="{FF2B5EF4-FFF2-40B4-BE49-F238E27FC236}">
                  <a16:creationId xmlns:a16="http://schemas.microsoft.com/office/drawing/2014/main" id="{1ED78D54-EBCD-3B05-164A-91B7FCE84CC8}"/>
                </a:ext>
              </a:extLst>
            </p:cNvPr>
            <p:cNvSpPr txBox="1"/>
            <p:nvPr/>
          </p:nvSpPr>
          <p:spPr>
            <a:xfrm>
              <a:off x="2934" y="6000"/>
              <a:ext cx="166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75" name="文本框 29">
              <a:extLst>
                <a:ext uri="{FF2B5EF4-FFF2-40B4-BE49-F238E27FC236}">
                  <a16:creationId xmlns:a16="http://schemas.microsoft.com/office/drawing/2014/main" id="{C42228B6-D958-6086-FACF-A0CBE0A506BC}"/>
                </a:ext>
              </a:extLst>
            </p:cNvPr>
            <p:cNvSpPr txBox="1"/>
            <p:nvPr/>
          </p:nvSpPr>
          <p:spPr>
            <a:xfrm>
              <a:off x="2258" y="6352"/>
              <a:ext cx="234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  <p:sp>
          <p:nvSpPr>
            <p:cNvPr id="476" name="椭圆 475">
              <a:extLst>
                <a:ext uri="{FF2B5EF4-FFF2-40B4-BE49-F238E27FC236}">
                  <a16:creationId xmlns:a16="http://schemas.microsoft.com/office/drawing/2014/main" id="{8A59DB7F-B6DB-94C0-53F7-26ECFCCC856B}"/>
                </a:ext>
              </a:extLst>
            </p:cNvPr>
            <p:cNvSpPr/>
            <p:nvPr/>
          </p:nvSpPr>
          <p:spPr>
            <a:xfrm>
              <a:off x="16053" y="7138"/>
              <a:ext cx="254" cy="254"/>
            </a:xfrm>
            <a:prstGeom prst="ellipse">
              <a:avLst/>
            </a:prstGeom>
            <a:solidFill>
              <a:srgbClr val="FFFFFF"/>
            </a:solidFill>
            <a:ln w="15875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119256C2-69A0-3A56-D756-606CA840826B}"/>
                </a:ext>
              </a:extLst>
            </p:cNvPr>
            <p:cNvSpPr/>
            <p:nvPr/>
          </p:nvSpPr>
          <p:spPr>
            <a:xfrm>
              <a:off x="13828" y="8153"/>
              <a:ext cx="254" cy="254"/>
            </a:xfrm>
            <a:prstGeom prst="ellipse">
              <a:avLst/>
            </a:prstGeom>
            <a:solidFill>
              <a:srgbClr val="FFFFFF"/>
            </a:solidFill>
            <a:ln w="15875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78" name="文本框 37">
              <a:extLst>
                <a:ext uri="{FF2B5EF4-FFF2-40B4-BE49-F238E27FC236}">
                  <a16:creationId xmlns:a16="http://schemas.microsoft.com/office/drawing/2014/main" id="{F0A3AEEF-41F3-5FAE-5945-534411B1206E}"/>
                </a:ext>
              </a:extLst>
            </p:cNvPr>
            <p:cNvSpPr txBox="1"/>
            <p:nvPr/>
          </p:nvSpPr>
          <p:spPr>
            <a:xfrm>
              <a:off x="16318" y="7040"/>
              <a:ext cx="166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79" name="文本框 38">
              <a:extLst>
                <a:ext uri="{FF2B5EF4-FFF2-40B4-BE49-F238E27FC236}">
                  <a16:creationId xmlns:a16="http://schemas.microsoft.com/office/drawing/2014/main" id="{8CBA0228-14A1-3391-90E2-C5AB8956D197}"/>
                </a:ext>
              </a:extLst>
            </p:cNvPr>
            <p:cNvSpPr txBox="1"/>
            <p:nvPr/>
          </p:nvSpPr>
          <p:spPr>
            <a:xfrm>
              <a:off x="16318" y="7392"/>
              <a:ext cx="234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  <p:sp>
          <p:nvSpPr>
            <p:cNvPr id="480" name="文本框 40">
              <a:extLst>
                <a:ext uri="{FF2B5EF4-FFF2-40B4-BE49-F238E27FC236}">
                  <a16:creationId xmlns:a16="http://schemas.microsoft.com/office/drawing/2014/main" id="{1A969DEE-0390-3C04-A309-86A0082AC2C2}"/>
                </a:ext>
              </a:extLst>
            </p:cNvPr>
            <p:cNvSpPr txBox="1"/>
            <p:nvPr/>
          </p:nvSpPr>
          <p:spPr>
            <a:xfrm>
              <a:off x="14082" y="8284"/>
              <a:ext cx="166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81" name="文本框 42">
              <a:extLst>
                <a:ext uri="{FF2B5EF4-FFF2-40B4-BE49-F238E27FC236}">
                  <a16:creationId xmlns:a16="http://schemas.microsoft.com/office/drawing/2014/main" id="{C40C0FFA-62B0-FB51-8B00-50C16F500D16}"/>
                </a:ext>
              </a:extLst>
            </p:cNvPr>
            <p:cNvSpPr txBox="1"/>
            <p:nvPr/>
          </p:nvSpPr>
          <p:spPr>
            <a:xfrm>
              <a:off x="14082" y="8636"/>
              <a:ext cx="234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  <p:sp>
          <p:nvSpPr>
            <p:cNvPr id="482" name="椭圆 481">
              <a:extLst>
                <a:ext uri="{FF2B5EF4-FFF2-40B4-BE49-F238E27FC236}">
                  <a16:creationId xmlns:a16="http://schemas.microsoft.com/office/drawing/2014/main" id="{4FE247C2-B25B-10AD-049D-4EF2136802AD}"/>
                </a:ext>
              </a:extLst>
            </p:cNvPr>
            <p:cNvSpPr/>
            <p:nvPr/>
          </p:nvSpPr>
          <p:spPr>
            <a:xfrm>
              <a:off x="13857" y="6099"/>
              <a:ext cx="254" cy="254"/>
            </a:xfrm>
            <a:prstGeom prst="ellipse">
              <a:avLst/>
            </a:prstGeom>
            <a:solidFill>
              <a:srgbClr val="FFFFFF"/>
            </a:solidFill>
            <a:ln w="15875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83" name="文本框 46">
              <a:extLst>
                <a:ext uri="{FF2B5EF4-FFF2-40B4-BE49-F238E27FC236}">
                  <a16:creationId xmlns:a16="http://schemas.microsoft.com/office/drawing/2014/main" id="{7F078CC4-4363-E11A-0986-0E7A3BA2FB66}"/>
                </a:ext>
              </a:extLst>
            </p:cNvPr>
            <p:cNvSpPr txBox="1"/>
            <p:nvPr/>
          </p:nvSpPr>
          <p:spPr>
            <a:xfrm>
              <a:off x="14122" y="6001"/>
              <a:ext cx="166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84" name="文本框 49">
              <a:extLst>
                <a:ext uri="{FF2B5EF4-FFF2-40B4-BE49-F238E27FC236}">
                  <a16:creationId xmlns:a16="http://schemas.microsoft.com/office/drawing/2014/main" id="{28E725BA-5EEE-12B2-BDEE-7FA594B74479}"/>
                </a:ext>
              </a:extLst>
            </p:cNvPr>
            <p:cNvSpPr txBox="1"/>
            <p:nvPr/>
          </p:nvSpPr>
          <p:spPr>
            <a:xfrm>
              <a:off x="14122" y="6353"/>
              <a:ext cx="234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</p:grpSp>
      <p:sp>
        <p:nvSpPr>
          <p:cNvPr id="351" name="文本框 350">
            <a:extLst>
              <a:ext uri="{FF2B5EF4-FFF2-40B4-BE49-F238E27FC236}">
                <a16:creationId xmlns:a16="http://schemas.microsoft.com/office/drawing/2014/main" id="{DAB34E4D-8ECC-172C-D04B-160EFE256D0C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核心任务攻坚破局</a:t>
            </a:r>
          </a:p>
        </p:txBody>
      </p:sp>
    </p:spTree>
    <p:extLst>
      <p:ext uri="{BB962C8B-B14F-4D97-AF65-F5344CB8AC3E}">
        <p14:creationId xmlns:p14="http://schemas.microsoft.com/office/powerpoint/2010/main" val="385038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AB77-1C3F-1127-0790-AE7653B6B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35B8097B-481E-3A16-EEF7-52CD01CFA238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ja-JP" altLang="en-US" sz="3000" dirty="0">
                <a:sym typeface="+mn-ea"/>
              </a:rPr>
              <a:t>算力加密・</a:t>
            </a:r>
            <a:r>
              <a:rPr lang="en-US" altLang="ja-JP" sz="3000" dirty="0">
                <a:sym typeface="+mn-ea"/>
              </a:rPr>
              <a:t>AI </a:t>
            </a:r>
            <a:r>
              <a:rPr lang="ja-JP" altLang="en-US" sz="3000" dirty="0">
                <a:sym typeface="+mn-ea"/>
              </a:rPr>
              <a:t>训练数据全生命周期防护 </a:t>
            </a:r>
          </a:p>
        </p:txBody>
      </p:sp>
      <p:pic>
        <p:nvPicPr>
          <p:cNvPr id="73" name="图片 72" descr="24">
            <a:extLst>
              <a:ext uri="{FF2B5EF4-FFF2-40B4-BE49-F238E27FC236}">
                <a16:creationId xmlns:a16="http://schemas.microsoft.com/office/drawing/2014/main" id="{6DCE7B5A-DB30-F0BC-DD69-3A95EE220C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340" y="1405255"/>
            <a:ext cx="7475220" cy="4192905"/>
          </a:xfrm>
          <a:prstGeom prst="rect">
            <a:avLst/>
          </a:prstGeom>
        </p:spPr>
      </p:pic>
      <p:grpSp>
        <p:nvGrpSpPr>
          <p:cNvPr id="75" name="组合 74">
            <a:extLst>
              <a:ext uri="{FF2B5EF4-FFF2-40B4-BE49-F238E27FC236}">
                <a16:creationId xmlns:a16="http://schemas.microsoft.com/office/drawing/2014/main" id="{9047ABE5-98C5-2ECF-F158-6A2D958E3A63}"/>
              </a:ext>
            </a:extLst>
          </p:cNvPr>
          <p:cNvGrpSpPr/>
          <p:nvPr/>
        </p:nvGrpSpPr>
        <p:grpSpPr>
          <a:xfrm>
            <a:off x="8036560" y="1405255"/>
            <a:ext cx="3644900" cy="4210050"/>
            <a:chOff x="12656" y="2213"/>
            <a:chExt cx="5740" cy="6630"/>
          </a:xfrm>
        </p:grpSpPr>
        <p:sp>
          <p:nvSpPr>
            <p:cNvPr id="78" name="矩形: 圆角 131">
              <a:extLst>
                <a:ext uri="{FF2B5EF4-FFF2-40B4-BE49-F238E27FC236}">
                  <a16:creationId xmlns:a16="http://schemas.microsoft.com/office/drawing/2014/main" id="{D3A66370-0302-DAC8-0535-2CBAA0EF9C3C}"/>
                </a:ext>
              </a:extLst>
            </p:cNvPr>
            <p:cNvSpPr/>
            <p:nvPr/>
          </p:nvSpPr>
          <p:spPr>
            <a:xfrm>
              <a:off x="12656" y="2213"/>
              <a:ext cx="5741" cy="663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en-ID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ED1B05A-FA41-5D7C-1374-71AD57414D43}"/>
                </a:ext>
              </a:extLst>
            </p:cNvPr>
            <p:cNvSpPr txBox="1"/>
            <p:nvPr/>
          </p:nvSpPr>
          <p:spPr>
            <a:xfrm>
              <a:off x="12832" y="5068"/>
              <a:ext cx="538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对</a:t>
              </a:r>
              <a:r>
                <a:rPr lang="en-US" altLang="zh-CN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AI </a:t>
              </a: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训练数据实施全生命周期算力加密，从采集、传输到训练、存储全环节防护，严防数据泄露与篡改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8D54FE1D-C846-0563-DF5D-388D63D5DFBC}"/>
                </a:ext>
              </a:extLst>
            </p:cNvPr>
            <p:cNvSpPr txBox="1"/>
            <p:nvPr/>
          </p:nvSpPr>
          <p:spPr>
            <a:xfrm>
              <a:off x="12832" y="3473"/>
              <a:ext cx="3795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算力加密护航</a:t>
              </a:r>
              <a:r>
                <a:rPr lang="en-US" altLang="zh-CN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AI </a:t>
              </a: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数据全周期防护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AA170E62-255B-F59B-A8BB-E3448581F847}"/>
                </a:ext>
              </a:extLst>
            </p:cNvPr>
            <p:cNvSpPr txBox="1"/>
            <p:nvPr/>
          </p:nvSpPr>
          <p:spPr>
            <a:xfrm>
              <a:off x="12832" y="6227"/>
              <a:ext cx="53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en-US" altLang="zh-CN" sz="1000" dirty="0">
                  <a:solidFill>
                    <a:srgbClr val="26323B">
                      <a:alpha val="59000"/>
                    </a:srgbClr>
                  </a:solidFill>
                  <a:latin typeface="Fluent" charset="0"/>
                  <a:ea typeface="思源黑体 CN" panose="020B0500000000000000" pitchFamily="34" charset="-122"/>
                  <a:cs typeface="Fluent" charset="0"/>
                  <a:sym typeface="思源黑体 CN" panose="020B0500000000000000" pitchFamily="34" charset="-122"/>
                </a:rPr>
                <a:t>The multi-scenario analysis method covers various development possibilities and quantifies the impact of key variables. It provides diverse support for decision-making.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F0DB858-3A90-C593-C619-CA9D1D9B2316}"/>
              </a:ext>
            </a:extLst>
          </p:cNvPr>
          <p:cNvGrpSpPr/>
          <p:nvPr/>
        </p:nvGrpSpPr>
        <p:grpSpPr>
          <a:xfrm>
            <a:off x="561975" y="5710555"/>
            <a:ext cx="11120120" cy="659765"/>
            <a:chOff x="885" y="8993"/>
            <a:chExt cx="17512" cy="1039"/>
          </a:xfrm>
        </p:grpSpPr>
        <p:sp>
          <p:nvSpPr>
            <p:cNvPr id="85" name="矩形: 圆角 131">
              <a:extLst>
                <a:ext uri="{FF2B5EF4-FFF2-40B4-BE49-F238E27FC236}">
                  <a16:creationId xmlns:a16="http://schemas.microsoft.com/office/drawing/2014/main" id="{9121A4B7-5E0A-7882-8BCE-80DA77BCA286}"/>
                </a:ext>
              </a:extLst>
            </p:cNvPr>
            <p:cNvSpPr/>
            <p:nvPr/>
          </p:nvSpPr>
          <p:spPr>
            <a:xfrm>
              <a:off x="3828" y="8993"/>
              <a:ext cx="2798" cy="1027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86" name="矩形: 圆角 131">
              <a:extLst>
                <a:ext uri="{FF2B5EF4-FFF2-40B4-BE49-F238E27FC236}">
                  <a16:creationId xmlns:a16="http://schemas.microsoft.com/office/drawing/2014/main" id="{1C12C7AE-9F7B-8F30-9192-FA69A9DC8AFD}"/>
                </a:ext>
              </a:extLst>
            </p:cNvPr>
            <p:cNvSpPr/>
            <p:nvPr/>
          </p:nvSpPr>
          <p:spPr>
            <a:xfrm>
              <a:off x="6770" y="8993"/>
              <a:ext cx="2798" cy="1027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87" name="矩形: 圆角 131">
              <a:extLst>
                <a:ext uri="{FF2B5EF4-FFF2-40B4-BE49-F238E27FC236}">
                  <a16:creationId xmlns:a16="http://schemas.microsoft.com/office/drawing/2014/main" id="{2E199DBD-B6F3-8ECB-B078-67A11BEE51B4}"/>
                </a:ext>
              </a:extLst>
            </p:cNvPr>
            <p:cNvSpPr/>
            <p:nvPr/>
          </p:nvSpPr>
          <p:spPr>
            <a:xfrm>
              <a:off x="9713" y="8993"/>
              <a:ext cx="2798" cy="1027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88" name="矩形: 圆角 131">
              <a:extLst>
                <a:ext uri="{FF2B5EF4-FFF2-40B4-BE49-F238E27FC236}">
                  <a16:creationId xmlns:a16="http://schemas.microsoft.com/office/drawing/2014/main" id="{D160C21C-9DF6-75F3-6256-A4DEE4E197EA}"/>
                </a:ext>
              </a:extLst>
            </p:cNvPr>
            <p:cNvSpPr/>
            <p:nvPr/>
          </p:nvSpPr>
          <p:spPr>
            <a:xfrm>
              <a:off x="12656" y="8993"/>
              <a:ext cx="2798" cy="1027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89" name="矩形: 圆角 131">
              <a:extLst>
                <a:ext uri="{FF2B5EF4-FFF2-40B4-BE49-F238E27FC236}">
                  <a16:creationId xmlns:a16="http://schemas.microsoft.com/office/drawing/2014/main" id="{AB7EA926-876C-B3EF-15B8-1C8719B9A5C0}"/>
                </a:ext>
              </a:extLst>
            </p:cNvPr>
            <p:cNvSpPr/>
            <p:nvPr/>
          </p:nvSpPr>
          <p:spPr>
            <a:xfrm>
              <a:off x="15599" y="8993"/>
              <a:ext cx="2798" cy="1027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90" name="矩形: 圆角 131">
              <a:extLst>
                <a:ext uri="{FF2B5EF4-FFF2-40B4-BE49-F238E27FC236}">
                  <a16:creationId xmlns:a16="http://schemas.microsoft.com/office/drawing/2014/main" id="{63B0B208-24DA-BE83-BA0A-2D79DC279CAC}"/>
                </a:ext>
              </a:extLst>
            </p:cNvPr>
            <p:cNvSpPr/>
            <p:nvPr/>
          </p:nvSpPr>
          <p:spPr>
            <a:xfrm>
              <a:off x="885" y="9006"/>
              <a:ext cx="2798" cy="1027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30" name="文本框 329">
              <a:extLst>
                <a:ext uri="{FF2B5EF4-FFF2-40B4-BE49-F238E27FC236}">
                  <a16:creationId xmlns:a16="http://schemas.microsoft.com/office/drawing/2014/main" id="{627A1BC1-1FC2-FD93-2625-E1144739A9A7}"/>
                </a:ext>
              </a:extLst>
            </p:cNvPr>
            <p:cNvSpPr txBox="1"/>
            <p:nvPr/>
          </p:nvSpPr>
          <p:spPr>
            <a:xfrm>
              <a:off x="1259" y="9165"/>
              <a:ext cx="1579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算力密</a:t>
              </a:r>
            </a:p>
          </p:txBody>
        </p:sp>
        <p:sp>
          <p:nvSpPr>
            <p:cNvPr id="332" name="文本框 331">
              <a:extLst>
                <a:ext uri="{FF2B5EF4-FFF2-40B4-BE49-F238E27FC236}">
                  <a16:creationId xmlns:a16="http://schemas.microsoft.com/office/drawing/2014/main" id="{1DEA2105-7050-89A9-395B-36E1CF4D0E3A}"/>
                </a:ext>
              </a:extLst>
            </p:cNvPr>
            <p:cNvSpPr txBox="1"/>
            <p:nvPr/>
          </p:nvSpPr>
          <p:spPr>
            <a:xfrm>
              <a:off x="885" y="9634"/>
              <a:ext cx="2797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Continuously  innovative</a:t>
              </a:r>
            </a:p>
          </p:txBody>
        </p:sp>
        <p:sp>
          <p:nvSpPr>
            <p:cNvPr id="350" name="椭圆 349">
              <a:extLst>
                <a:ext uri="{FF2B5EF4-FFF2-40B4-BE49-F238E27FC236}">
                  <a16:creationId xmlns:a16="http://schemas.microsoft.com/office/drawing/2014/main" id="{A4889206-B7DF-A9DC-4FC9-F3D12059827F}"/>
                </a:ext>
              </a:extLst>
            </p:cNvPr>
            <p:cNvSpPr/>
            <p:nvPr/>
          </p:nvSpPr>
          <p:spPr>
            <a:xfrm>
              <a:off x="1038" y="9315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CC166B43-8DAD-C7F4-C2C5-A22067E44826}"/>
                </a:ext>
              </a:extLst>
            </p:cNvPr>
            <p:cNvSpPr txBox="1"/>
            <p:nvPr/>
          </p:nvSpPr>
          <p:spPr>
            <a:xfrm>
              <a:off x="4202" y="9165"/>
              <a:ext cx="1579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全周期</a:t>
              </a:r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612F20E0-B753-208D-C2EA-F7047A4BCFC4}"/>
                </a:ext>
              </a:extLst>
            </p:cNvPr>
            <p:cNvSpPr txBox="1"/>
            <p:nvPr/>
          </p:nvSpPr>
          <p:spPr>
            <a:xfrm>
              <a:off x="3828" y="9634"/>
              <a:ext cx="2797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Continuously  innovative</a:t>
              </a:r>
            </a:p>
          </p:txBody>
        </p:sp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00DAD80B-9E84-2811-4E9E-47E3393CDD29}"/>
                </a:ext>
              </a:extLst>
            </p:cNvPr>
            <p:cNvSpPr/>
            <p:nvPr/>
          </p:nvSpPr>
          <p:spPr>
            <a:xfrm>
              <a:off x="3981" y="9315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5" name="文本框 354">
              <a:extLst>
                <a:ext uri="{FF2B5EF4-FFF2-40B4-BE49-F238E27FC236}">
                  <a16:creationId xmlns:a16="http://schemas.microsoft.com/office/drawing/2014/main" id="{0A5D71AC-B816-99F3-A736-3EB2EDAFB555}"/>
                </a:ext>
              </a:extLst>
            </p:cNvPr>
            <p:cNvSpPr txBox="1"/>
            <p:nvPr/>
          </p:nvSpPr>
          <p:spPr>
            <a:xfrm>
              <a:off x="7145" y="9165"/>
              <a:ext cx="1579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护数智</a:t>
              </a:r>
            </a:p>
          </p:txBody>
        </p:sp>
        <p:sp>
          <p:nvSpPr>
            <p:cNvPr id="356" name="文本框 355">
              <a:extLst>
                <a:ext uri="{FF2B5EF4-FFF2-40B4-BE49-F238E27FC236}">
                  <a16:creationId xmlns:a16="http://schemas.microsoft.com/office/drawing/2014/main" id="{4FD529E2-38E9-E5EB-9C29-E0361D084670}"/>
                </a:ext>
              </a:extLst>
            </p:cNvPr>
            <p:cNvSpPr txBox="1"/>
            <p:nvPr/>
          </p:nvSpPr>
          <p:spPr>
            <a:xfrm>
              <a:off x="6771" y="9634"/>
              <a:ext cx="2797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Continuously  innovative</a:t>
              </a:r>
            </a:p>
          </p:txBody>
        </p: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E97ED098-7A43-9DA5-B67E-78F62EDCF95B}"/>
                </a:ext>
              </a:extLst>
            </p:cNvPr>
            <p:cNvSpPr/>
            <p:nvPr/>
          </p:nvSpPr>
          <p:spPr>
            <a:xfrm>
              <a:off x="6924" y="9315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8" name="文本框 357">
              <a:extLst>
                <a:ext uri="{FF2B5EF4-FFF2-40B4-BE49-F238E27FC236}">
                  <a16:creationId xmlns:a16="http://schemas.microsoft.com/office/drawing/2014/main" id="{5358725E-7ECB-4D1F-B592-92781618E21F}"/>
                </a:ext>
              </a:extLst>
            </p:cNvPr>
            <p:cNvSpPr txBox="1"/>
            <p:nvPr/>
          </p:nvSpPr>
          <p:spPr>
            <a:xfrm>
              <a:off x="10088" y="9165"/>
              <a:ext cx="1579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防泄露</a:t>
              </a:r>
            </a:p>
          </p:txBody>
        </p:sp>
        <p:sp>
          <p:nvSpPr>
            <p:cNvPr id="359" name="文本框 358">
              <a:extLst>
                <a:ext uri="{FF2B5EF4-FFF2-40B4-BE49-F238E27FC236}">
                  <a16:creationId xmlns:a16="http://schemas.microsoft.com/office/drawing/2014/main" id="{9A0600EF-E0C8-CE07-808D-3B64B336175A}"/>
                </a:ext>
              </a:extLst>
            </p:cNvPr>
            <p:cNvSpPr txBox="1"/>
            <p:nvPr/>
          </p:nvSpPr>
          <p:spPr>
            <a:xfrm>
              <a:off x="9714" y="9634"/>
              <a:ext cx="2797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Continuously  innovative</a:t>
              </a:r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3215A80E-FDF1-D934-C488-2402A3FCD5D9}"/>
                </a:ext>
              </a:extLst>
            </p:cNvPr>
            <p:cNvSpPr/>
            <p:nvPr/>
          </p:nvSpPr>
          <p:spPr>
            <a:xfrm>
              <a:off x="9867" y="9315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61" name="文本框 360">
              <a:extLst>
                <a:ext uri="{FF2B5EF4-FFF2-40B4-BE49-F238E27FC236}">
                  <a16:creationId xmlns:a16="http://schemas.microsoft.com/office/drawing/2014/main" id="{05502EBE-5A41-895D-4BA8-E037AD76B98A}"/>
                </a:ext>
              </a:extLst>
            </p:cNvPr>
            <p:cNvSpPr txBox="1"/>
            <p:nvPr/>
          </p:nvSpPr>
          <p:spPr>
            <a:xfrm>
              <a:off x="13031" y="9165"/>
              <a:ext cx="1579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抗篡改</a:t>
              </a:r>
            </a:p>
          </p:txBody>
        </p:sp>
        <p:sp>
          <p:nvSpPr>
            <p:cNvPr id="362" name="文本框 361">
              <a:extLst>
                <a:ext uri="{FF2B5EF4-FFF2-40B4-BE49-F238E27FC236}">
                  <a16:creationId xmlns:a16="http://schemas.microsoft.com/office/drawing/2014/main" id="{0E45D9DD-13DF-9CF7-8330-05382AE2916D}"/>
                </a:ext>
              </a:extLst>
            </p:cNvPr>
            <p:cNvSpPr txBox="1"/>
            <p:nvPr/>
          </p:nvSpPr>
          <p:spPr>
            <a:xfrm>
              <a:off x="12657" y="9634"/>
              <a:ext cx="2797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Continuously  innovative</a:t>
              </a:r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A9950564-8890-C170-8578-BD70574EA68B}"/>
                </a:ext>
              </a:extLst>
            </p:cNvPr>
            <p:cNvSpPr/>
            <p:nvPr/>
          </p:nvSpPr>
          <p:spPr>
            <a:xfrm>
              <a:off x="12810" y="9315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64" name="文本框 363">
              <a:extLst>
                <a:ext uri="{FF2B5EF4-FFF2-40B4-BE49-F238E27FC236}">
                  <a16:creationId xmlns:a16="http://schemas.microsoft.com/office/drawing/2014/main" id="{22D036B2-BCD8-96D3-FFD0-76CACE986AEB}"/>
                </a:ext>
              </a:extLst>
            </p:cNvPr>
            <p:cNvSpPr txBox="1"/>
            <p:nvPr/>
          </p:nvSpPr>
          <p:spPr>
            <a:xfrm>
              <a:off x="15974" y="9165"/>
              <a:ext cx="1579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全链防</a:t>
              </a:r>
            </a:p>
          </p:txBody>
        </p:sp>
        <p:sp>
          <p:nvSpPr>
            <p:cNvPr id="365" name="文本框 364">
              <a:extLst>
                <a:ext uri="{FF2B5EF4-FFF2-40B4-BE49-F238E27FC236}">
                  <a16:creationId xmlns:a16="http://schemas.microsoft.com/office/drawing/2014/main" id="{5AC3627A-0372-0669-F304-48ED9D2C29A9}"/>
                </a:ext>
              </a:extLst>
            </p:cNvPr>
            <p:cNvSpPr txBox="1"/>
            <p:nvPr/>
          </p:nvSpPr>
          <p:spPr>
            <a:xfrm>
              <a:off x="15600" y="9634"/>
              <a:ext cx="2797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Continuously  innovative</a:t>
              </a:r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9A7BB836-B720-4F13-54FC-D3F77D031294}"/>
                </a:ext>
              </a:extLst>
            </p:cNvPr>
            <p:cNvSpPr/>
            <p:nvPr/>
          </p:nvSpPr>
          <p:spPr>
            <a:xfrm>
              <a:off x="15753" y="9315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00BE9C5E-F6B5-8E74-208D-53E9683CACA8}"/>
              </a:ext>
            </a:extLst>
          </p:cNvPr>
          <p:cNvGrpSpPr/>
          <p:nvPr/>
        </p:nvGrpSpPr>
        <p:grpSpPr>
          <a:xfrm>
            <a:off x="561975" y="1405890"/>
            <a:ext cx="7475220" cy="4211320"/>
            <a:chOff x="885" y="2214"/>
            <a:chExt cx="11489" cy="6632"/>
          </a:xfrm>
        </p:grpSpPr>
        <p:sp>
          <p:nvSpPr>
            <p:cNvPr id="368" name="矩形: 圆角 131">
              <a:extLst>
                <a:ext uri="{FF2B5EF4-FFF2-40B4-BE49-F238E27FC236}">
                  <a16:creationId xmlns:a16="http://schemas.microsoft.com/office/drawing/2014/main" id="{C89F6D45-E854-859D-5F5C-6AC2A16260CB}"/>
                </a:ext>
              </a:extLst>
            </p:cNvPr>
            <p:cNvSpPr/>
            <p:nvPr/>
          </p:nvSpPr>
          <p:spPr>
            <a:xfrm rot="16200000">
              <a:off x="3313" y="-215"/>
              <a:ext cx="6632" cy="11489"/>
            </a:xfrm>
            <a:prstGeom prst="rect">
              <a:avLst/>
            </a:prstGeom>
            <a:gradFill>
              <a:gsLst>
                <a:gs pos="43000">
                  <a:srgbClr val="7928D5">
                    <a:alpha val="0"/>
                  </a:srgbClr>
                </a:gs>
                <a:gs pos="100000">
                  <a:srgbClr val="7928D5"/>
                </a:gs>
              </a:gsLst>
              <a:lin ang="1884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69" name="文本框 368">
              <a:extLst>
                <a:ext uri="{FF2B5EF4-FFF2-40B4-BE49-F238E27FC236}">
                  <a16:creationId xmlns:a16="http://schemas.microsoft.com/office/drawing/2014/main" id="{51A99302-9B4C-04F4-F54A-BFABF0C9A19A}"/>
                </a:ext>
              </a:extLst>
            </p:cNvPr>
            <p:cNvSpPr txBox="1"/>
            <p:nvPr/>
          </p:nvSpPr>
          <p:spPr>
            <a:xfrm>
              <a:off x="1181" y="6859"/>
              <a:ext cx="5210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对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AI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训练数据实施全生命周期算力加密，从采集、传输到训练、存储全环节防护，严防数据泄露与篡改</a:t>
              </a:r>
            </a:p>
          </p:txBody>
        </p:sp>
        <p:sp>
          <p:nvSpPr>
            <p:cNvPr id="370" name="文本框 369">
              <a:extLst>
                <a:ext uri="{FF2B5EF4-FFF2-40B4-BE49-F238E27FC236}">
                  <a16:creationId xmlns:a16="http://schemas.microsoft.com/office/drawing/2014/main" id="{A48DADA2-A011-11F4-A03B-322415643B99}"/>
                </a:ext>
              </a:extLst>
            </p:cNvPr>
            <p:cNvSpPr txBox="1"/>
            <p:nvPr/>
          </p:nvSpPr>
          <p:spPr>
            <a:xfrm>
              <a:off x="1181" y="6376"/>
              <a:ext cx="43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AI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数据全周期防护</a:t>
              </a:r>
            </a:p>
          </p:txBody>
        </p:sp>
        <p:sp>
          <p:nvSpPr>
            <p:cNvPr id="371" name="文本框 370">
              <a:extLst>
                <a:ext uri="{FF2B5EF4-FFF2-40B4-BE49-F238E27FC236}">
                  <a16:creationId xmlns:a16="http://schemas.microsoft.com/office/drawing/2014/main" id="{2D776D35-EE24-87DD-32AA-585CF273A524}"/>
                </a:ext>
              </a:extLst>
            </p:cNvPr>
            <p:cNvSpPr txBox="1"/>
            <p:nvPr/>
          </p:nvSpPr>
          <p:spPr>
            <a:xfrm>
              <a:off x="1165" y="2705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372" name="文本框 371">
              <a:extLst>
                <a:ext uri="{FF2B5EF4-FFF2-40B4-BE49-F238E27FC236}">
                  <a16:creationId xmlns:a16="http://schemas.microsoft.com/office/drawing/2014/main" id="{9C58CF2F-7691-30BF-DDB6-F6BE9D27AC76}"/>
                </a:ext>
              </a:extLst>
            </p:cNvPr>
            <p:cNvSpPr txBox="1"/>
            <p:nvPr/>
          </p:nvSpPr>
          <p:spPr>
            <a:xfrm>
              <a:off x="1181" y="4143"/>
              <a:ext cx="431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30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  <p:sp>
          <p:nvSpPr>
            <p:cNvPr id="373" name="文本框 372">
              <a:extLst>
                <a:ext uri="{FF2B5EF4-FFF2-40B4-BE49-F238E27FC236}">
                  <a16:creationId xmlns:a16="http://schemas.microsoft.com/office/drawing/2014/main" id="{8B3509C6-5381-1235-ED52-29A2A9CCFF1B}"/>
                </a:ext>
              </a:extLst>
            </p:cNvPr>
            <p:cNvSpPr txBox="1"/>
            <p:nvPr/>
          </p:nvSpPr>
          <p:spPr>
            <a:xfrm>
              <a:off x="1181" y="5238"/>
              <a:ext cx="431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CE3D7923-AA24-E125-01C3-467C8E827C67}"/>
                </a:ext>
              </a:extLst>
            </p:cNvPr>
            <p:cNvSpPr txBox="1"/>
            <p:nvPr/>
          </p:nvSpPr>
          <p:spPr>
            <a:xfrm>
              <a:off x="10438" y="2705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PORT 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75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1A7B-E829-347D-5060-30B34C14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0A45D346-E8EE-C41C-F1DC-08AEB86A08A1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云筑数字 智创未来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1A82431-8253-5875-3A4B-6F9CA619FADC}"/>
              </a:ext>
            </a:extLst>
          </p:cNvPr>
          <p:cNvGrpSpPr/>
          <p:nvPr/>
        </p:nvGrpSpPr>
        <p:grpSpPr>
          <a:xfrm>
            <a:off x="398145" y="4616108"/>
            <a:ext cx="5264150" cy="1290955"/>
            <a:chOff x="627" y="7491"/>
            <a:chExt cx="8290" cy="2033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BACB687-56D6-7A8C-4376-A37288E09AB3}"/>
                </a:ext>
              </a:extLst>
            </p:cNvPr>
            <p:cNvSpPr txBox="1"/>
            <p:nvPr/>
          </p:nvSpPr>
          <p:spPr>
            <a:xfrm>
              <a:off x="627" y="9018"/>
              <a:ext cx="7572" cy="5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制造业借云监控产线，实时预警故障，将设备停机时间缩短超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30%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。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5723287-F66F-B8EB-802E-7D17B3B1FC21}"/>
                </a:ext>
              </a:extLst>
            </p:cNvPr>
            <p:cNvCxnSpPr/>
            <p:nvPr/>
          </p:nvCxnSpPr>
          <p:spPr>
            <a:xfrm>
              <a:off x="3687" y="8626"/>
              <a:ext cx="804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0D8E601-9DAC-099F-AF1A-253F0E5C7849}"/>
                </a:ext>
              </a:extLst>
            </p:cNvPr>
            <p:cNvCxnSpPr/>
            <p:nvPr/>
          </p:nvCxnSpPr>
          <p:spPr>
            <a:xfrm>
              <a:off x="4609" y="8626"/>
              <a:ext cx="4309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5E3B1B2-7BBF-C221-BE5A-8489E5ED3E43}"/>
                </a:ext>
              </a:extLst>
            </p:cNvPr>
            <p:cNvSpPr txBox="1"/>
            <p:nvPr/>
          </p:nvSpPr>
          <p:spPr>
            <a:xfrm>
              <a:off x="4609" y="7837"/>
              <a:ext cx="3235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云渗千行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AFC7B71-D907-1830-665B-966FE043D141}"/>
                </a:ext>
              </a:extLst>
            </p:cNvPr>
            <p:cNvSpPr txBox="1"/>
            <p:nvPr/>
          </p:nvSpPr>
          <p:spPr>
            <a:xfrm>
              <a:off x="4609" y="8172"/>
              <a:ext cx="3235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The copy is yet to be filled in</a:t>
              </a:r>
            </a:p>
          </p:txBody>
        </p:sp>
        <p:pic>
          <p:nvPicPr>
            <p:cNvPr id="28" name="图片 99" descr="上_up (1)">
              <a:extLst>
                <a:ext uri="{FF2B5EF4-FFF2-40B4-BE49-F238E27FC236}">
                  <a16:creationId xmlns:a16="http://schemas.microsoft.com/office/drawing/2014/main" id="{67B0B091-A09E-178D-60D8-67F5B98DFC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3687" y="7874"/>
              <a:ext cx="360" cy="360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10545D7-12DF-3533-7ACA-1E01BDDF0BA7}"/>
                </a:ext>
              </a:extLst>
            </p:cNvPr>
            <p:cNvSpPr txBox="1"/>
            <p:nvPr/>
          </p:nvSpPr>
          <p:spPr>
            <a:xfrm>
              <a:off x="627" y="8445"/>
              <a:ext cx="29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</a:rPr>
                <a:t>全球零售企业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FDCE22A-DFF4-7455-EEED-A9E420A9856E}"/>
                </a:ext>
              </a:extLst>
            </p:cNvPr>
            <p:cNvSpPr txBox="1"/>
            <p:nvPr/>
          </p:nvSpPr>
          <p:spPr>
            <a:xfrm>
              <a:off x="627" y="7491"/>
              <a:ext cx="2977" cy="111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Bigger" panose="02000A03000000000000" charset="0"/>
                  <a:ea typeface="思源黑体 CN"/>
                  <a:cs typeface="Bigger" panose="02000A03000000000000" charset="0"/>
                  <a:sym typeface="+mn-ea"/>
                </a:rPr>
                <a:t>75255</a:t>
              </a:r>
              <a:r>
                <a:rPr kumimoji="0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Bigger" panose="02000A03000000000000" charset="0"/>
                  <a:ea typeface="思源黑体 CN"/>
                  <a:cs typeface="Bigger" panose="02000A03000000000000" charset="0"/>
                  <a:sym typeface="+mn-ea"/>
                </a:rPr>
                <a:t>+</a:t>
              </a:r>
              <a:endParaRPr kumimoji="0" lang="en-US" altLang="zh-CN" sz="4000" b="0" i="0" u="none" strike="noStrike" kern="0" cap="none" spc="0" normalizeH="0" baseline="0" noProof="0">
                <a:ln>
                  <a:noFill/>
                </a:ln>
                <a:solidFill>
                  <a:srgbClr val="3C007F"/>
                </a:solidFill>
                <a:effectLst/>
                <a:uLnTx/>
                <a:uFillTx/>
                <a:latin typeface="Bigger" panose="02000A03000000000000" charset="0"/>
                <a:ea typeface="思源黑体 CN Light" panose="020B0300000000000000" charset="-122"/>
                <a:cs typeface="Bigger" panose="02000A03000000000000" charset="0"/>
                <a:sym typeface="+mn-ea"/>
              </a:endParaRP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CBE3A1A4-9F2C-EB2E-2BA7-FBB709857A4D}"/>
              </a:ext>
            </a:extLst>
          </p:cNvPr>
          <p:cNvSpPr/>
          <p:nvPr/>
        </p:nvSpPr>
        <p:spPr>
          <a:xfrm>
            <a:off x="443865" y="1485558"/>
            <a:ext cx="5218430" cy="2998470"/>
          </a:xfrm>
          <a:prstGeom prst="rect">
            <a:avLst/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3649528-8E1F-B3CA-7B10-71EDA22A8A68}"/>
              </a:ext>
            </a:extLst>
          </p:cNvPr>
          <p:cNvSpPr/>
          <p:nvPr/>
        </p:nvSpPr>
        <p:spPr>
          <a:xfrm>
            <a:off x="6178550" y="1485558"/>
            <a:ext cx="5218430" cy="2998470"/>
          </a:xfrm>
          <a:prstGeom prst="rect">
            <a:avLst/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94F0DFD-9C84-611B-4CD7-2DC388B2DEDF}"/>
              </a:ext>
            </a:extLst>
          </p:cNvPr>
          <p:cNvGrpSpPr/>
          <p:nvPr/>
        </p:nvGrpSpPr>
        <p:grpSpPr>
          <a:xfrm>
            <a:off x="6273800" y="4616108"/>
            <a:ext cx="5288915" cy="1290955"/>
            <a:chOff x="9880" y="7491"/>
            <a:chExt cx="8329" cy="2033"/>
          </a:xfrm>
        </p:grpSpPr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88005E0-F68B-6EA4-1C3F-6A04D74A5F69}"/>
                </a:ext>
              </a:extLst>
            </p:cNvPr>
            <p:cNvSpPr txBox="1"/>
            <p:nvPr/>
          </p:nvSpPr>
          <p:spPr>
            <a:xfrm>
              <a:off x="9919" y="9018"/>
              <a:ext cx="7572" cy="5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服务业用云搭建远程服务平台，跨地域响应需求，客户等待时长降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50%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。</a:t>
              </a: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245AC355-A73B-C903-6813-808703F6C969}"/>
                </a:ext>
              </a:extLst>
            </p:cNvPr>
            <p:cNvCxnSpPr/>
            <p:nvPr/>
          </p:nvCxnSpPr>
          <p:spPr>
            <a:xfrm>
              <a:off x="12979" y="8626"/>
              <a:ext cx="804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6E246E78-1F3D-96BB-7683-4A97927A36AC}"/>
                </a:ext>
              </a:extLst>
            </p:cNvPr>
            <p:cNvCxnSpPr/>
            <p:nvPr/>
          </p:nvCxnSpPr>
          <p:spPr>
            <a:xfrm>
              <a:off x="13901" y="8626"/>
              <a:ext cx="4309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F44A8D78-C9AB-8F51-1444-CE4FD69FD094}"/>
                </a:ext>
              </a:extLst>
            </p:cNvPr>
            <p:cNvSpPr txBox="1"/>
            <p:nvPr/>
          </p:nvSpPr>
          <p:spPr>
            <a:xfrm>
              <a:off x="13901" y="7837"/>
              <a:ext cx="3235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场域焕新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20C1CDB8-D1BA-EAC3-792B-0780F4324579}"/>
                </a:ext>
              </a:extLst>
            </p:cNvPr>
            <p:cNvSpPr txBox="1"/>
            <p:nvPr/>
          </p:nvSpPr>
          <p:spPr>
            <a:xfrm>
              <a:off x="13901" y="8172"/>
              <a:ext cx="3235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The copy is yet to be filled in</a:t>
              </a:r>
            </a:p>
          </p:txBody>
        </p:sp>
        <p:pic>
          <p:nvPicPr>
            <p:cNvPr id="71" name="图片 13" descr="上_up (1)">
              <a:extLst>
                <a:ext uri="{FF2B5EF4-FFF2-40B4-BE49-F238E27FC236}">
                  <a16:creationId xmlns:a16="http://schemas.microsoft.com/office/drawing/2014/main" id="{4F80928B-6CFE-91E1-25E2-0683675704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12979" y="7874"/>
              <a:ext cx="360" cy="360"/>
            </a:xfrm>
            <a:prstGeom prst="rect">
              <a:avLst/>
            </a:prstGeom>
          </p:spPr>
        </p:pic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C00C3D01-7646-4A04-73A2-1AF0BB2E8711}"/>
                </a:ext>
              </a:extLst>
            </p:cNvPr>
            <p:cNvSpPr txBox="1"/>
            <p:nvPr/>
          </p:nvSpPr>
          <p:spPr>
            <a:xfrm>
              <a:off x="9919" y="7491"/>
              <a:ext cx="2977" cy="111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Bigger" panose="02000A03000000000000" charset="0"/>
                  <a:ea typeface="思源黑体 CN"/>
                  <a:cs typeface="Bigger" panose="02000A03000000000000" charset="0"/>
                  <a:sym typeface="+mn-ea"/>
                </a:rPr>
                <a:t>3400</a:t>
              </a:r>
              <a:r>
                <a:rPr kumimoji="0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Bigger" panose="02000A03000000000000" charset="0"/>
                  <a:ea typeface="思源黑体 CN"/>
                  <a:cs typeface="Bigger" panose="02000A03000000000000" charset="0"/>
                  <a:sym typeface="+mn-ea"/>
                </a:rPr>
                <a:t>+</a:t>
              </a:r>
              <a:endParaRPr kumimoji="0" lang="en-US" altLang="zh-CN" sz="4000" b="0" i="0" u="none" strike="noStrike" kern="0" cap="none" spc="0" normalizeH="0" baseline="0" noProof="0">
                <a:ln>
                  <a:noFill/>
                </a:ln>
                <a:solidFill>
                  <a:srgbClr val="3C007F"/>
                </a:solidFill>
                <a:effectLst/>
                <a:uLnTx/>
                <a:uFillTx/>
                <a:latin typeface="Bigger" panose="02000A03000000000000" charset="0"/>
                <a:ea typeface="思源黑体 CN Light" panose="020B0300000000000000" charset="-122"/>
                <a:cs typeface="Bigger" panose="02000A03000000000000" charset="0"/>
                <a:sym typeface="+mn-ea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66E3E0C0-8F2B-A660-9D5E-89DF7C523370}"/>
                </a:ext>
              </a:extLst>
            </p:cNvPr>
            <p:cNvSpPr txBox="1"/>
            <p:nvPr/>
          </p:nvSpPr>
          <p:spPr>
            <a:xfrm>
              <a:off x="9880" y="8445"/>
              <a:ext cx="29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</a:rPr>
                <a:t>医疗行业场景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935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F4D7-5D7E-ECB5-7DEB-DCDB0538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C39685E7-C13F-4290-17E2-CD190F2A7ECA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终端联动 数据流转 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0119DD6D-A912-2FD4-0A07-7C4CBF63B44D}"/>
              </a:ext>
            </a:extLst>
          </p:cNvPr>
          <p:cNvGrpSpPr/>
          <p:nvPr/>
        </p:nvGrpSpPr>
        <p:grpSpPr>
          <a:xfrm>
            <a:off x="4343400" y="2949350"/>
            <a:ext cx="3592195" cy="2133600"/>
            <a:chOff x="6840" y="5062"/>
            <a:chExt cx="5657" cy="3360"/>
          </a:xfrm>
        </p:grpSpPr>
        <p:sp>
          <p:nvSpPr>
            <p:cNvPr id="83" name="任意多边形 66">
              <a:extLst>
                <a:ext uri="{FF2B5EF4-FFF2-40B4-BE49-F238E27FC236}">
                  <a16:creationId xmlns:a16="http://schemas.microsoft.com/office/drawing/2014/main" id="{E6279700-040C-8823-2EFA-5964FEBD712D}"/>
                </a:ext>
              </a:extLst>
            </p:cNvPr>
            <p:cNvSpPr/>
            <p:nvPr/>
          </p:nvSpPr>
          <p:spPr>
            <a:xfrm>
              <a:off x="6840" y="5062"/>
              <a:ext cx="3385" cy="336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363" h="3363">
                  <a:moveTo>
                    <a:pt x="0" y="1680"/>
                  </a:moveTo>
                  <a:cubicBezTo>
                    <a:pt x="-29" y="737"/>
                    <a:pt x="835" y="-23"/>
                    <a:pt x="1680" y="0"/>
                  </a:cubicBezTo>
                  <a:cubicBezTo>
                    <a:pt x="2128" y="-23"/>
                    <a:pt x="2625" y="241"/>
                    <a:pt x="2845" y="469"/>
                  </a:cubicBezTo>
                  <a:lnTo>
                    <a:pt x="2843" y="467"/>
                  </a:lnTo>
                  <a:lnTo>
                    <a:pt x="2828" y="455"/>
                  </a:lnTo>
                  <a:lnTo>
                    <a:pt x="2814" y="443"/>
                  </a:lnTo>
                  <a:cubicBezTo>
                    <a:pt x="2579" y="622"/>
                    <a:pt x="2260" y="1191"/>
                    <a:pt x="2270" y="1611"/>
                  </a:cubicBezTo>
                  <a:lnTo>
                    <a:pt x="2270" y="1635"/>
                  </a:lnTo>
                  <a:lnTo>
                    <a:pt x="2271" y="1658"/>
                  </a:lnTo>
                  <a:lnTo>
                    <a:pt x="2272" y="1681"/>
                  </a:lnTo>
                  <a:lnTo>
                    <a:pt x="2271" y="1700"/>
                  </a:lnTo>
                  <a:lnTo>
                    <a:pt x="2270" y="1720"/>
                  </a:lnTo>
                  <a:lnTo>
                    <a:pt x="2270" y="1740"/>
                  </a:lnTo>
                  <a:cubicBezTo>
                    <a:pt x="2261" y="2140"/>
                    <a:pt x="2552" y="2722"/>
                    <a:pt x="2814" y="2919"/>
                  </a:cubicBezTo>
                  <a:lnTo>
                    <a:pt x="2825" y="2909"/>
                  </a:lnTo>
                  <a:lnTo>
                    <a:pt x="2830" y="2905"/>
                  </a:lnTo>
                  <a:cubicBezTo>
                    <a:pt x="2600" y="3158"/>
                    <a:pt x="2038" y="3386"/>
                    <a:pt x="1680" y="3360"/>
                  </a:cubicBezTo>
                  <a:cubicBezTo>
                    <a:pt x="737" y="3389"/>
                    <a:pt x="-23" y="2525"/>
                    <a:pt x="0" y="1680"/>
                  </a:cubicBezTo>
                  <a:close/>
                  <a:moveTo>
                    <a:pt x="3012" y="656"/>
                  </a:moveTo>
                  <a:cubicBezTo>
                    <a:pt x="3203" y="865"/>
                    <a:pt x="3384" y="1383"/>
                    <a:pt x="3360" y="1680"/>
                  </a:cubicBezTo>
                  <a:lnTo>
                    <a:pt x="3359" y="1724"/>
                  </a:lnTo>
                  <a:lnTo>
                    <a:pt x="3358" y="1768"/>
                  </a:lnTo>
                  <a:lnTo>
                    <a:pt x="3357" y="1773"/>
                  </a:lnTo>
                  <a:lnTo>
                    <a:pt x="3358" y="1751"/>
                  </a:lnTo>
                  <a:lnTo>
                    <a:pt x="3357" y="1727"/>
                  </a:lnTo>
                  <a:lnTo>
                    <a:pt x="3357" y="1704"/>
                  </a:lnTo>
                  <a:lnTo>
                    <a:pt x="3355" y="1681"/>
                  </a:lnTo>
                  <a:lnTo>
                    <a:pt x="3356" y="1662"/>
                  </a:lnTo>
                  <a:lnTo>
                    <a:pt x="3357" y="1642"/>
                  </a:lnTo>
                  <a:lnTo>
                    <a:pt x="3357" y="1622"/>
                  </a:lnTo>
                  <a:cubicBezTo>
                    <a:pt x="3368" y="1323"/>
                    <a:pt x="3179" y="873"/>
                    <a:pt x="3012" y="656"/>
                  </a:cubicBezTo>
                  <a:close/>
                  <a:moveTo>
                    <a:pt x="3318" y="2056"/>
                  </a:moveTo>
                  <a:cubicBezTo>
                    <a:pt x="3291" y="2264"/>
                    <a:pt x="3069" y="2671"/>
                    <a:pt x="2945" y="2786"/>
                  </a:cubicBezTo>
                  <a:cubicBezTo>
                    <a:pt x="3074" y="2658"/>
                    <a:pt x="3283" y="2249"/>
                    <a:pt x="3318" y="2056"/>
                  </a:cubicBezTo>
                  <a:close/>
                </a:path>
              </a:pathLst>
            </a:cu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482600" dir="5400000" sx="85000" sy="85000" algn="t" rotWithShape="0">
                <a:prstClr val="black">
                  <a:alpha val="9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84" name="任意多边形 67">
              <a:extLst>
                <a:ext uri="{FF2B5EF4-FFF2-40B4-BE49-F238E27FC236}">
                  <a16:creationId xmlns:a16="http://schemas.microsoft.com/office/drawing/2014/main" id="{0E0524DC-386F-0886-7E9A-A1E57141E4EE}"/>
                </a:ext>
              </a:extLst>
            </p:cNvPr>
            <p:cNvSpPr/>
            <p:nvPr/>
          </p:nvSpPr>
          <p:spPr>
            <a:xfrm>
              <a:off x="9165" y="5062"/>
              <a:ext cx="3332" cy="336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308" h="3362">
                  <a:moveTo>
                    <a:pt x="37" y="1137"/>
                  </a:moveTo>
                  <a:cubicBezTo>
                    <a:pt x="59" y="1038"/>
                    <a:pt x="225" y="727"/>
                    <a:pt x="290" y="663"/>
                  </a:cubicBezTo>
                  <a:cubicBezTo>
                    <a:pt x="203" y="771"/>
                    <a:pt x="77" y="1015"/>
                    <a:pt x="37" y="1137"/>
                  </a:cubicBezTo>
                  <a:close/>
                  <a:moveTo>
                    <a:pt x="489" y="444"/>
                  </a:moveTo>
                  <a:cubicBezTo>
                    <a:pt x="758" y="168"/>
                    <a:pt x="1272" y="-14"/>
                    <a:pt x="1627" y="0"/>
                  </a:cubicBezTo>
                  <a:cubicBezTo>
                    <a:pt x="2570" y="-29"/>
                    <a:pt x="3330" y="835"/>
                    <a:pt x="3307" y="1680"/>
                  </a:cubicBezTo>
                  <a:cubicBezTo>
                    <a:pt x="3336" y="2623"/>
                    <a:pt x="2472" y="3383"/>
                    <a:pt x="1627" y="3360"/>
                  </a:cubicBezTo>
                  <a:cubicBezTo>
                    <a:pt x="1193" y="3381"/>
                    <a:pt x="710" y="3134"/>
                    <a:pt x="490" y="2917"/>
                  </a:cubicBezTo>
                  <a:cubicBezTo>
                    <a:pt x="720" y="2742"/>
                    <a:pt x="1044" y="2170"/>
                    <a:pt x="1032" y="1751"/>
                  </a:cubicBezTo>
                  <a:lnTo>
                    <a:pt x="1032" y="1728"/>
                  </a:lnTo>
                  <a:lnTo>
                    <a:pt x="1031" y="1705"/>
                  </a:lnTo>
                  <a:lnTo>
                    <a:pt x="1030" y="1681"/>
                  </a:lnTo>
                  <a:lnTo>
                    <a:pt x="1031" y="1662"/>
                  </a:lnTo>
                  <a:lnTo>
                    <a:pt x="1032" y="1642"/>
                  </a:lnTo>
                  <a:lnTo>
                    <a:pt x="1032" y="1623"/>
                  </a:lnTo>
                  <a:cubicBezTo>
                    <a:pt x="1041" y="1223"/>
                    <a:pt x="749" y="639"/>
                    <a:pt x="489" y="444"/>
                  </a:cubicBezTo>
                  <a:close/>
                  <a:moveTo>
                    <a:pt x="185" y="2542"/>
                  </a:moveTo>
                  <a:cubicBezTo>
                    <a:pt x="123" y="2467"/>
                    <a:pt x="-6" y="2119"/>
                    <a:pt x="0" y="2100"/>
                  </a:cubicBezTo>
                  <a:cubicBezTo>
                    <a:pt x="22" y="2209"/>
                    <a:pt x="147" y="2487"/>
                    <a:pt x="185" y="2542"/>
                  </a:cubicBezTo>
                  <a:close/>
                </a:path>
              </a:pathLst>
            </a:custGeom>
            <a:solidFill>
              <a:srgbClr val="21123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482600" dir="5400000" sx="85000" sy="85000" algn="t" rotWithShape="0">
                <a:prstClr val="black">
                  <a:alpha val="9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00957893-77B2-0FD2-AFC9-F424A77A11E3}"/>
                </a:ext>
              </a:extLst>
            </p:cNvPr>
            <p:cNvSpPr txBox="1"/>
            <p:nvPr/>
          </p:nvSpPr>
          <p:spPr>
            <a:xfrm>
              <a:off x="6840" y="6179"/>
              <a:ext cx="227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场景赋能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FAA29310-CF24-A865-08E6-30B36CF2921F}"/>
                </a:ext>
              </a:extLst>
            </p:cNvPr>
            <p:cNvSpPr txBox="1"/>
            <p:nvPr/>
          </p:nvSpPr>
          <p:spPr>
            <a:xfrm>
              <a:off x="10200" y="6179"/>
              <a:ext cx="227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智能联动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CEF99054-863D-C51F-4EB0-1B462182EE21}"/>
                </a:ext>
              </a:extLst>
            </p:cNvPr>
            <p:cNvSpPr txBox="1"/>
            <p:nvPr/>
          </p:nvSpPr>
          <p:spPr>
            <a:xfrm>
              <a:off x="6840" y="6774"/>
              <a:ext cx="227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终端联动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数据共享</a:t>
              </a: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1202F72-90A5-0137-FC62-667C740E8557}"/>
                </a:ext>
              </a:extLst>
            </p:cNvPr>
            <p:cNvSpPr txBox="1"/>
            <p:nvPr/>
          </p:nvSpPr>
          <p:spPr>
            <a:xfrm>
              <a:off x="10200" y="6774"/>
              <a:ext cx="227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多端协同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高效流转</a:t>
              </a: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113C8188-E075-CAFF-A70A-8033F55812CC}"/>
                </a:ext>
              </a:extLst>
            </p:cNvPr>
            <p:cNvSpPr txBox="1"/>
            <p:nvPr/>
          </p:nvSpPr>
          <p:spPr>
            <a:xfrm>
              <a:off x="9104" y="6289"/>
              <a:ext cx="109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提效降本</a:t>
              </a: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6DB06CE2-AC2D-7009-1D45-0C40430CB730}"/>
              </a:ext>
            </a:extLst>
          </p:cNvPr>
          <p:cNvGrpSpPr/>
          <p:nvPr/>
        </p:nvGrpSpPr>
        <p:grpSpPr>
          <a:xfrm>
            <a:off x="535940" y="2202590"/>
            <a:ext cx="4790440" cy="3627120"/>
            <a:chOff x="844" y="3886"/>
            <a:chExt cx="7544" cy="5712"/>
          </a:xfrm>
        </p:grpSpPr>
        <p:sp>
          <p:nvSpPr>
            <p:cNvPr id="91" name="任意多边形 68">
              <a:extLst>
                <a:ext uri="{FF2B5EF4-FFF2-40B4-BE49-F238E27FC236}">
                  <a16:creationId xmlns:a16="http://schemas.microsoft.com/office/drawing/2014/main" id="{348FF1CC-3382-5E85-B7E7-6CC8BD799C7E}"/>
                </a:ext>
              </a:extLst>
            </p:cNvPr>
            <p:cNvSpPr/>
            <p:nvPr/>
          </p:nvSpPr>
          <p:spPr>
            <a:xfrm>
              <a:off x="844" y="3886"/>
              <a:ext cx="7545" cy="180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804">
                  <a:moveTo>
                    <a:pt x="0" y="0"/>
                  </a:moveTo>
                  <a:lnTo>
                    <a:pt x="7488" y="0"/>
                  </a:lnTo>
                  <a:lnTo>
                    <a:pt x="7488" y="662"/>
                  </a:lnTo>
                  <a:cubicBezTo>
                    <a:pt x="6757" y="667"/>
                    <a:pt x="5964" y="1316"/>
                    <a:pt x="5741" y="1804"/>
                  </a:cubicBezTo>
                  <a:lnTo>
                    <a:pt x="0" y="180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92" name="任意多边形 69">
              <a:extLst>
                <a:ext uri="{FF2B5EF4-FFF2-40B4-BE49-F238E27FC236}">
                  <a16:creationId xmlns:a16="http://schemas.microsoft.com/office/drawing/2014/main" id="{8C0B248C-7E84-65A7-66C7-6DFE53CCD753}"/>
                </a:ext>
              </a:extLst>
            </p:cNvPr>
            <p:cNvSpPr/>
            <p:nvPr/>
          </p:nvSpPr>
          <p:spPr>
            <a:xfrm>
              <a:off x="844" y="5840"/>
              <a:ext cx="5710" cy="180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67" h="1804">
                  <a:moveTo>
                    <a:pt x="0" y="0"/>
                  </a:moveTo>
                  <a:lnTo>
                    <a:pt x="5665" y="0"/>
                  </a:lnTo>
                  <a:cubicBezTo>
                    <a:pt x="5548" y="219"/>
                    <a:pt x="5460" y="690"/>
                    <a:pt x="5473" y="900"/>
                  </a:cubicBezTo>
                  <a:cubicBezTo>
                    <a:pt x="5456" y="1212"/>
                    <a:pt x="5589" y="1652"/>
                    <a:pt x="5667" y="1804"/>
                  </a:cubicBezTo>
                  <a:lnTo>
                    <a:pt x="0" y="180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93" name="任意多边形 70">
              <a:extLst>
                <a:ext uri="{FF2B5EF4-FFF2-40B4-BE49-F238E27FC236}">
                  <a16:creationId xmlns:a16="http://schemas.microsoft.com/office/drawing/2014/main" id="{6E003D57-FD47-8874-62AD-A3D8FCC6A7F0}"/>
                </a:ext>
              </a:extLst>
            </p:cNvPr>
            <p:cNvSpPr/>
            <p:nvPr/>
          </p:nvSpPr>
          <p:spPr>
            <a:xfrm>
              <a:off x="844" y="7794"/>
              <a:ext cx="7545" cy="180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804">
                  <a:moveTo>
                    <a:pt x="0" y="0"/>
                  </a:moveTo>
                  <a:lnTo>
                    <a:pt x="5740" y="0"/>
                  </a:lnTo>
                  <a:cubicBezTo>
                    <a:pt x="6001" y="588"/>
                    <a:pt x="6867" y="1137"/>
                    <a:pt x="7488" y="1143"/>
                  </a:cubicBezTo>
                  <a:lnTo>
                    <a:pt x="7488" y="1804"/>
                  </a:lnTo>
                  <a:lnTo>
                    <a:pt x="0" y="180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118E6338-4D65-4DC4-2993-6BB2875F6C99}"/>
                </a:ext>
              </a:extLst>
            </p:cNvPr>
            <p:cNvSpPr txBox="1"/>
            <p:nvPr/>
          </p:nvSpPr>
          <p:spPr>
            <a:xfrm>
              <a:off x="1855" y="4843"/>
              <a:ext cx="41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终端协同联动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数据高效流转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C45A94EA-472F-DFC4-53C4-2D3BA9ED7D8A}"/>
                </a:ext>
              </a:extLst>
            </p:cNvPr>
            <p:cNvSpPr txBox="1"/>
            <p:nvPr/>
          </p:nvSpPr>
          <p:spPr>
            <a:xfrm>
              <a:off x="3584" y="4360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终端联动</a:t>
              </a:r>
            </a:p>
          </p:txBody>
        </p:sp>
        <p:sp>
          <p:nvSpPr>
            <p:cNvPr id="320" name="文本框 319">
              <a:extLst>
                <a:ext uri="{FF2B5EF4-FFF2-40B4-BE49-F238E27FC236}">
                  <a16:creationId xmlns:a16="http://schemas.microsoft.com/office/drawing/2014/main" id="{05E826CC-978B-036B-F709-46EB52A5C1AD}"/>
                </a:ext>
              </a:extLst>
            </p:cNvPr>
            <p:cNvSpPr txBox="1"/>
            <p:nvPr/>
          </p:nvSpPr>
          <p:spPr>
            <a:xfrm>
              <a:off x="1855" y="6753"/>
              <a:ext cx="41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多端状态同步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数据实时共享</a:t>
              </a:r>
            </a:p>
          </p:txBody>
        </p:sp>
        <p:sp>
          <p:nvSpPr>
            <p:cNvPr id="321" name="文本框 320">
              <a:extLst>
                <a:ext uri="{FF2B5EF4-FFF2-40B4-BE49-F238E27FC236}">
                  <a16:creationId xmlns:a16="http://schemas.microsoft.com/office/drawing/2014/main" id="{6BC8EA3A-3BE3-C6FF-9787-BAE013B1FCA2}"/>
                </a:ext>
              </a:extLst>
            </p:cNvPr>
            <p:cNvSpPr txBox="1"/>
            <p:nvPr/>
          </p:nvSpPr>
          <p:spPr>
            <a:xfrm>
              <a:off x="3584" y="6270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数据流转</a:t>
              </a:r>
            </a:p>
          </p:txBody>
        </p:sp>
        <p:sp>
          <p:nvSpPr>
            <p:cNvPr id="322" name="文本框 321">
              <a:extLst>
                <a:ext uri="{FF2B5EF4-FFF2-40B4-BE49-F238E27FC236}">
                  <a16:creationId xmlns:a16="http://schemas.microsoft.com/office/drawing/2014/main" id="{9F5971C1-6CC1-9E8F-2783-D5ECB986389F}"/>
                </a:ext>
              </a:extLst>
            </p:cNvPr>
            <p:cNvSpPr txBox="1"/>
            <p:nvPr/>
          </p:nvSpPr>
          <p:spPr>
            <a:xfrm>
              <a:off x="1855" y="8738"/>
              <a:ext cx="41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设备指令协同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数据按需流转</a:t>
              </a:r>
            </a:p>
          </p:txBody>
        </p:sp>
        <p:sp>
          <p:nvSpPr>
            <p:cNvPr id="323" name="文本框 322">
              <a:extLst>
                <a:ext uri="{FF2B5EF4-FFF2-40B4-BE49-F238E27FC236}">
                  <a16:creationId xmlns:a16="http://schemas.microsoft.com/office/drawing/2014/main" id="{197DB176-6DF0-087E-BDA2-41C8A487F662}"/>
                </a:ext>
              </a:extLst>
            </p:cNvPr>
            <p:cNvSpPr txBox="1"/>
            <p:nvPr/>
          </p:nvSpPr>
          <p:spPr>
            <a:xfrm>
              <a:off x="3584" y="8255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协议互通</a:t>
              </a:r>
            </a:p>
          </p:txBody>
        </p:sp>
      </p:grpSp>
      <p:grpSp>
        <p:nvGrpSpPr>
          <p:cNvPr id="324" name="组合 323">
            <a:extLst>
              <a:ext uri="{FF2B5EF4-FFF2-40B4-BE49-F238E27FC236}">
                <a16:creationId xmlns:a16="http://schemas.microsoft.com/office/drawing/2014/main" id="{EFD869C3-2F7E-7CC4-2085-0A32C50C2728}"/>
              </a:ext>
            </a:extLst>
          </p:cNvPr>
          <p:cNvGrpSpPr/>
          <p:nvPr/>
        </p:nvGrpSpPr>
        <p:grpSpPr>
          <a:xfrm>
            <a:off x="6875780" y="2202590"/>
            <a:ext cx="4790440" cy="3627120"/>
            <a:chOff x="10828" y="3886"/>
            <a:chExt cx="7544" cy="5712"/>
          </a:xfrm>
        </p:grpSpPr>
        <p:sp>
          <p:nvSpPr>
            <p:cNvPr id="325" name="任意多边形 71">
              <a:extLst>
                <a:ext uri="{FF2B5EF4-FFF2-40B4-BE49-F238E27FC236}">
                  <a16:creationId xmlns:a16="http://schemas.microsoft.com/office/drawing/2014/main" id="{E21DA958-F81C-41CE-825D-99487F02AB20}"/>
                </a:ext>
              </a:extLst>
            </p:cNvPr>
            <p:cNvSpPr/>
            <p:nvPr/>
          </p:nvSpPr>
          <p:spPr>
            <a:xfrm>
              <a:off x="10828" y="3886"/>
              <a:ext cx="7545" cy="180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804">
                  <a:moveTo>
                    <a:pt x="0" y="0"/>
                  </a:moveTo>
                  <a:lnTo>
                    <a:pt x="7488" y="0"/>
                  </a:lnTo>
                  <a:lnTo>
                    <a:pt x="7488" y="1804"/>
                  </a:lnTo>
                  <a:lnTo>
                    <a:pt x="1894" y="1804"/>
                  </a:lnTo>
                  <a:cubicBezTo>
                    <a:pt x="1612" y="1170"/>
                    <a:pt x="695" y="610"/>
                    <a:pt x="0" y="65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211235">
                    <a:alpha val="13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 w="6350" cap="flat" cmpd="sng" algn="ctr">
              <a:gradFill>
                <a:gsLst>
                  <a:gs pos="0">
                    <a:srgbClr val="211235">
                      <a:alpha val="0"/>
                    </a:srgbClr>
                  </a:gs>
                  <a:gs pos="100000">
                    <a:srgbClr val="211235">
                      <a:alpha val="39000"/>
                    </a:srgbClr>
                  </a:gs>
                </a:gsLst>
                <a:lin ang="10800000" scaled="0"/>
              </a:gradFill>
              <a:prstDash val="solid"/>
              <a:miter lim="800000"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326" name="任意多边形 73">
              <a:extLst>
                <a:ext uri="{FF2B5EF4-FFF2-40B4-BE49-F238E27FC236}">
                  <a16:creationId xmlns:a16="http://schemas.microsoft.com/office/drawing/2014/main" id="{215CA16E-18D8-C396-081A-3175C222E699}"/>
                </a:ext>
              </a:extLst>
            </p:cNvPr>
            <p:cNvSpPr/>
            <p:nvPr/>
          </p:nvSpPr>
          <p:spPr>
            <a:xfrm>
              <a:off x="12796" y="5840"/>
              <a:ext cx="5562" cy="180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520" h="1804">
                  <a:moveTo>
                    <a:pt x="1" y="0"/>
                  </a:moveTo>
                  <a:lnTo>
                    <a:pt x="5520" y="0"/>
                  </a:lnTo>
                  <a:lnTo>
                    <a:pt x="5520" y="1804"/>
                  </a:lnTo>
                  <a:lnTo>
                    <a:pt x="0" y="1804"/>
                  </a:lnTo>
                  <a:cubicBezTo>
                    <a:pt x="119" y="1576"/>
                    <a:pt x="202" y="1113"/>
                    <a:pt x="190" y="901"/>
                  </a:cubicBezTo>
                  <a:cubicBezTo>
                    <a:pt x="208" y="590"/>
                    <a:pt x="75" y="145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rgbClr val="211235">
                    <a:alpha val="13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 w="6350" cap="flat" cmpd="sng" algn="ctr">
              <a:gradFill>
                <a:gsLst>
                  <a:gs pos="0">
                    <a:srgbClr val="211235">
                      <a:alpha val="0"/>
                    </a:srgbClr>
                  </a:gs>
                  <a:gs pos="100000">
                    <a:srgbClr val="211235">
                      <a:alpha val="39000"/>
                    </a:srgbClr>
                  </a:gs>
                </a:gsLst>
                <a:lin ang="10800000" scaled="0"/>
              </a:gradFill>
              <a:prstDash val="solid"/>
              <a:miter lim="800000"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327" name="任意多边形 74">
              <a:extLst>
                <a:ext uri="{FF2B5EF4-FFF2-40B4-BE49-F238E27FC236}">
                  <a16:creationId xmlns:a16="http://schemas.microsoft.com/office/drawing/2014/main" id="{A17C8241-FCB1-B61F-CD3D-D0F809C92104}"/>
                </a:ext>
              </a:extLst>
            </p:cNvPr>
            <p:cNvSpPr/>
            <p:nvPr/>
          </p:nvSpPr>
          <p:spPr>
            <a:xfrm>
              <a:off x="10828" y="7794"/>
              <a:ext cx="7545" cy="180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88" h="1804">
                  <a:moveTo>
                    <a:pt x="1895" y="0"/>
                  </a:moveTo>
                  <a:lnTo>
                    <a:pt x="7488" y="0"/>
                  </a:lnTo>
                  <a:lnTo>
                    <a:pt x="7488" y="1804"/>
                  </a:lnTo>
                  <a:lnTo>
                    <a:pt x="0" y="1804"/>
                  </a:lnTo>
                  <a:lnTo>
                    <a:pt x="0" y="1150"/>
                  </a:lnTo>
                  <a:cubicBezTo>
                    <a:pt x="807" y="1204"/>
                    <a:pt x="1646" y="539"/>
                    <a:pt x="1895" y="0"/>
                  </a:cubicBezTo>
                  <a:close/>
                </a:path>
              </a:pathLst>
            </a:custGeom>
            <a:gradFill>
              <a:gsLst>
                <a:gs pos="0">
                  <a:srgbClr val="211235">
                    <a:alpha val="13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 w="6350" cap="flat" cmpd="sng" algn="ctr">
              <a:gradFill>
                <a:gsLst>
                  <a:gs pos="0">
                    <a:srgbClr val="211235">
                      <a:alpha val="0"/>
                    </a:srgbClr>
                  </a:gs>
                  <a:gs pos="100000">
                    <a:srgbClr val="211235">
                      <a:alpha val="39000"/>
                    </a:srgbClr>
                  </a:gs>
                </a:gsLst>
                <a:lin ang="10800000" scaled="0"/>
              </a:gradFill>
              <a:prstDash val="solid"/>
              <a:miter lim="800000"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328" name="文本框 327">
              <a:extLst>
                <a:ext uri="{FF2B5EF4-FFF2-40B4-BE49-F238E27FC236}">
                  <a16:creationId xmlns:a16="http://schemas.microsoft.com/office/drawing/2014/main" id="{1C002EE7-358E-FD46-33C4-0F90F156E158}"/>
                </a:ext>
              </a:extLst>
            </p:cNvPr>
            <p:cNvSpPr txBox="1"/>
            <p:nvPr/>
          </p:nvSpPr>
          <p:spPr>
            <a:xfrm>
              <a:off x="13305" y="4843"/>
              <a:ext cx="41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终端全域联动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数据无缝流转</a:t>
              </a:r>
            </a:p>
          </p:txBody>
        </p:sp>
        <p:sp>
          <p:nvSpPr>
            <p:cNvPr id="329" name="文本框 328">
              <a:extLst>
                <a:ext uri="{FF2B5EF4-FFF2-40B4-BE49-F238E27FC236}">
                  <a16:creationId xmlns:a16="http://schemas.microsoft.com/office/drawing/2014/main" id="{6C87DC71-04FC-9FD8-FB02-2CF601AD79FD}"/>
                </a:ext>
              </a:extLst>
            </p:cNvPr>
            <p:cNvSpPr txBox="1"/>
            <p:nvPr/>
          </p:nvSpPr>
          <p:spPr>
            <a:xfrm>
              <a:off x="13305" y="4360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状态同步</a:t>
              </a:r>
            </a:p>
          </p:txBody>
        </p:sp>
        <p:sp>
          <p:nvSpPr>
            <p:cNvPr id="330" name="文本框 329">
              <a:extLst>
                <a:ext uri="{FF2B5EF4-FFF2-40B4-BE49-F238E27FC236}">
                  <a16:creationId xmlns:a16="http://schemas.microsoft.com/office/drawing/2014/main" id="{32DDA89D-C68B-84CF-65C9-FB8DF778461B}"/>
                </a:ext>
              </a:extLst>
            </p:cNvPr>
            <p:cNvSpPr txBox="1"/>
            <p:nvPr/>
          </p:nvSpPr>
          <p:spPr>
            <a:xfrm>
              <a:off x="13305" y="6753"/>
              <a:ext cx="41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联动打通壁垒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数据畅通无阻</a:t>
              </a:r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5C373F25-D2C9-5A94-ADC5-AE8A4260313C}"/>
                </a:ext>
              </a:extLst>
            </p:cNvPr>
            <p:cNvSpPr txBox="1"/>
            <p:nvPr/>
          </p:nvSpPr>
          <p:spPr>
            <a:xfrm>
              <a:off x="13305" y="6270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指令协同</a:t>
              </a:r>
            </a:p>
          </p:txBody>
        </p:sp>
        <p:sp>
          <p:nvSpPr>
            <p:cNvPr id="332" name="文本框 331">
              <a:extLst>
                <a:ext uri="{FF2B5EF4-FFF2-40B4-BE49-F238E27FC236}">
                  <a16:creationId xmlns:a16="http://schemas.microsoft.com/office/drawing/2014/main" id="{240D0A93-DB70-B434-3A25-F2D427BCD72B}"/>
                </a:ext>
              </a:extLst>
            </p:cNvPr>
            <p:cNvSpPr txBox="1"/>
            <p:nvPr/>
          </p:nvSpPr>
          <p:spPr>
            <a:xfrm>
              <a:off x="13305" y="8738"/>
              <a:ext cx="41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多端智能联动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数据精准流转</a:t>
              </a:r>
            </a:p>
          </p:txBody>
        </p:sp>
        <p:sp>
          <p:nvSpPr>
            <p:cNvPr id="333" name="文本框 332">
              <a:extLst>
                <a:ext uri="{FF2B5EF4-FFF2-40B4-BE49-F238E27FC236}">
                  <a16:creationId xmlns:a16="http://schemas.microsoft.com/office/drawing/2014/main" id="{85668DA2-26D2-FE4A-79D4-C0687DBF38B0}"/>
                </a:ext>
              </a:extLst>
            </p:cNvPr>
            <p:cNvSpPr txBox="1"/>
            <p:nvPr/>
          </p:nvSpPr>
          <p:spPr>
            <a:xfrm>
              <a:off x="13305" y="8255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高效共享</a:t>
              </a:r>
            </a:p>
          </p:txBody>
        </p:sp>
      </p:grpSp>
      <p:sp>
        <p:nvSpPr>
          <p:cNvPr id="335" name="文本框 334">
            <a:extLst>
              <a:ext uri="{FF2B5EF4-FFF2-40B4-BE49-F238E27FC236}">
                <a16:creationId xmlns:a16="http://schemas.microsoft.com/office/drawing/2014/main" id="{E469E444-A9F3-99C2-1422-C355048CB365}"/>
              </a:ext>
            </a:extLst>
          </p:cNvPr>
          <p:cNvSpPr txBox="1"/>
          <p:nvPr/>
        </p:nvSpPr>
        <p:spPr>
          <a:xfrm>
            <a:off x="474980" y="1452880"/>
            <a:ext cx="1011174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solidFill>
                  <a:srgbClr val="26323B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打通智能终端设备间的通信与数据壁垒，构建终端联动响应机制，实现设备状态实时同步、指令协同执行，推动数据在多终端间高效流转、按需共享，赋能场景化智能服务快速落地，提升整体系统的智能化水平与业务运行效率。</a:t>
            </a:r>
          </a:p>
        </p:txBody>
      </p:sp>
    </p:spTree>
    <p:extLst>
      <p:ext uri="{BB962C8B-B14F-4D97-AF65-F5344CB8AC3E}">
        <p14:creationId xmlns:p14="http://schemas.microsoft.com/office/powerpoint/2010/main" val="130836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48922-8AD1-6B78-5B31-BE12DEFA8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3064FF7E-858E-36CA-B90F-B085912227DC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政企数联 合规共赢 </a:t>
            </a:r>
          </a:p>
        </p:txBody>
      </p:sp>
      <p:grpSp>
        <p:nvGrpSpPr>
          <p:cNvPr id="342" name="组合 341">
            <a:extLst>
              <a:ext uri="{FF2B5EF4-FFF2-40B4-BE49-F238E27FC236}">
                <a16:creationId xmlns:a16="http://schemas.microsoft.com/office/drawing/2014/main" id="{7714726F-A99B-1DA2-9BAE-F68F5D2F9EF5}"/>
              </a:ext>
            </a:extLst>
          </p:cNvPr>
          <p:cNvGrpSpPr/>
          <p:nvPr/>
        </p:nvGrpSpPr>
        <p:grpSpPr>
          <a:xfrm>
            <a:off x="534670" y="4055745"/>
            <a:ext cx="11122660" cy="308610"/>
            <a:chOff x="842" y="6387"/>
            <a:chExt cx="17516" cy="486"/>
          </a:xfrm>
        </p:grpSpPr>
        <p:sp>
          <p:nvSpPr>
            <p:cNvPr id="343" name="3 Cheurón">
              <a:extLst>
                <a:ext uri="{FF2B5EF4-FFF2-40B4-BE49-F238E27FC236}">
                  <a16:creationId xmlns:a16="http://schemas.microsoft.com/office/drawing/2014/main" id="{C3C128C1-D506-ED67-288F-A63879BCC670}"/>
                </a:ext>
              </a:extLst>
            </p:cNvPr>
            <p:cNvSpPr/>
            <p:nvPr/>
          </p:nvSpPr>
          <p:spPr>
            <a:xfrm>
              <a:off x="17134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/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44" name="5 Cheurón">
              <a:extLst>
                <a:ext uri="{FF2B5EF4-FFF2-40B4-BE49-F238E27FC236}">
                  <a16:creationId xmlns:a16="http://schemas.microsoft.com/office/drawing/2014/main" id="{56B9E531-CA3A-A1EB-8B32-98597707967F}"/>
                </a:ext>
              </a:extLst>
            </p:cNvPr>
            <p:cNvSpPr/>
            <p:nvPr/>
          </p:nvSpPr>
          <p:spPr>
            <a:xfrm>
              <a:off x="14961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84000"/>
              </a:srgbClr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45" name="6 Cheurón">
              <a:extLst>
                <a:ext uri="{FF2B5EF4-FFF2-40B4-BE49-F238E27FC236}">
                  <a16:creationId xmlns:a16="http://schemas.microsoft.com/office/drawing/2014/main" id="{44EB3BEB-2FA8-3732-FEF6-0F57E230CE78}"/>
                </a:ext>
              </a:extLst>
            </p:cNvPr>
            <p:cNvSpPr/>
            <p:nvPr/>
          </p:nvSpPr>
          <p:spPr>
            <a:xfrm>
              <a:off x="16047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/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46" name="8 Cheurón">
              <a:extLst>
                <a:ext uri="{FF2B5EF4-FFF2-40B4-BE49-F238E27FC236}">
                  <a16:creationId xmlns:a16="http://schemas.microsoft.com/office/drawing/2014/main" id="{DD4A2557-7BC2-B288-0813-5EC330BABC46}"/>
                </a:ext>
              </a:extLst>
            </p:cNvPr>
            <p:cNvSpPr/>
            <p:nvPr/>
          </p:nvSpPr>
          <p:spPr>
            <a:xfrm>
              <a:off x="13875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78000"/>
              </a:srgbClr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47" name="7 Cheurón">
              <a:extLst>
                <a:ext uri="{FF2B5EF4-FFF2-40B4-BE49-F238E27FC236}">
                  <a16:creationId xmlns:a16="http://schemas.microsoft.com/office/drawing/2014/main" id="{0D8C7936-1642-7138-9619-EEBF3BCF06DA}"/>
                </a:ext>
              </a:extLst>
            </p:cNvPr>
            <p:cNvSpPr/>
            <p:nvPr/>
          </p:nvSpPr>
          <p:spPr>
            <a:xfrm>
              <a:off x="12789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72000"/>
              </a:srgbClr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48" name="9 Cheurón">
              <a:extLst>
                <a:ext uri="{FF2B5EF4-FFF2-40B4-BE49-F238E27FC236}">
                  <a16:creationId xmlns:a16="http://schemas.microsoft.com/office/drawing/2014/main" id="{2B2C3F39-C735-FE7B-C1F3-3E6B7229906D}"/>
                </a:ext>
              </a:extLst>
            </p:cNvPr>
            <p:cNvSpPr/>
            <p:nvPr/>
          </p:nvSpPr>
          <p:spPr>
            <a:xfrm>
              <a:off x="10616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49" name="14 Cheurón">
              <a:extLst>
                <a:ext uri="{FF2B5EF4-FFF2-40B4-BE49-F238E27FC236}">
                  <a16:creationId xmlns:a16="http://schemas.microsoft.com/office/drawing/2014/main" id="{C8A9F123-CEEE-FBE4-31BA-96DDD7F01DD6}"/>
                </a:ext>
              </a:extLst>
            </p:cNvPr>
            <p:cNvSpPr/>
            <p:nvPr/>
          </p:nvSpPr>
          <p:spPr>
            <a:xfrm>
              <a:off x="7358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42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0" name="10 Cheurón">
              <a:extLst>
                <a:ext uri="{FF2B5EF4-FFF2-40B4-BE49-F238E27FC236}">
                  <a16:creationId xmlns:a16="http://schemas.microsoft.com/office/drawing/2014/main" id="{EA561500-5BE0-2B0C-B054-4CF9D06BCADF}"/>
                </a:ext>
              </a:extLst>
            </p:cNvPr>
            <p:cNvSpPr/>
            <p:nvPr/>
          </p:nvSpPr>
          <p:spPr>
            <a:xfrm>
              <a:off x="11703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66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2" name="11 Cheurón">
              <a:extLst>
                <a:ext uri="{FF2B5EF4-FFF2-40B4-BE49-F238E27FC236}">
                  <a16:creationId xmlns:a16="http://schemas.microsoft.com/office/drawing/2014/main" id="{3201A833-E215-A156-EBF4-2CCB9AC9755C}"/>
                </a:ext>
              </a:extLst>
            </p:cNvPr>
            <p:cNvSpPr/>
            <p:nvPr/>
          </p:nvSpPr>
          <p:spPr>
            <a:xfrm>
              <a:off x="8444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3" name="12 Cheurón">
              <a:extLst>
                <a:ext uri="{FF2B5EF4-FFF2-40B4-BE49-F238E27FC236}">
                  <a16:creationId xmlns:a16="http://schemas.microsoft.com/office/drawing/2014/main" id="{9E9891FB-D273-B3AA-F1C5-6DBB719225A9}"/>
                </a:ext>
              </a:extLst>
            </p:cNvPr>
            <p:cNvSpPr/>
            <p:nvPr/>
          </p:nvSpPr>
          <p:spPr>
            <a:xfrm>
              <a:off x="9530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54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4" name="13 Cheurón">
              <a:extLst>
                <a:ext uri="{FF2B5EF4-FFF2-40B4-BE49-F238E27FC236}">
                  <a16:creationId xmlns:a16="http://schemas.microsoft.com/office/drawing/2014/main" id="{79129204-1C28-3D36-F0F7-06DB68221FF7}"/>
                </a:ext>
              </a:extLst>
            </p:cNvPr>
            <p:cNvSpPr/>
            <p:nvPr/>
          </p:nvSpPr>
          <p:spPr>
            <a:xfrm>
              <a:off x="6272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5" name="15 Cheurón">
              <a:extLst>
                <a:ext uri="{FF2B5EF4-FFF2-40B4-BE49-F238E27FC236}">
                  <a16:creationId xmlns:a16="http://schemas.microsoft.com/office/drawing/2014/main" id="{782599A4-C1BE-D4D7-2E12-408E018289B7}"/>
                </a:ext>
              </a:extLst>
            </p:cNvPr>
            <p:cNvSpPr/>
            <p:nvPr/>
          </p:nvSpPr>
          <p:spPr>
            <a:xfrm>
              <a:off x="4100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24000"/>
              </a:srgbClr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6" name="16 Cheurón">
              <a:extLst>
                <a:ext uri="{FF2B5EF4-FFF2-40B4-BE49-F238E27FC236}">
                  <a16:creationId xmlns:a16="http://schemas.microsoft.com/office/drawing/2014/main" id="{069861E3-45BD-923B-7076-88EDBDE755AE}"/>
                </a:ext>
              </a:extLst>
            </p:cNvPr>
            <p:cNvSpPr/>
            <p:nvPr/>
          </p:nvSpPr>
          <p:spPr>
            <a:xfrm>
              <a:off x="5187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30000"/>
              </a:srgbClr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7" name="17 Cheurón">
              <a:extLst>
                <a:ext uri="{FF2B5EF4-FFF2-40B4-BE49-F238E27FC236}">
                  <a16:creationId xmlns:a16="http://schemas.microsoft.com/office/drawing/2014/main" id="{7B76EFCD-3880-2997-2CFF-23BBC70B5DBE}"/>
                </a:ext>
              </a:extLst>
            </p:cNvPr>
            <p:cNvSpPr/>
            <p:nvPr/>
          </p:nvSpPr>
          <p:spPr>
            <a:xfrm>
              <a:off x="1928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12000"/>
              </a:srgbClr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8" name="18 Cheurón">
              <a:extLst>
                <a:ext uri="{FF2B5EF4-FFF2-40B4-BE49-F238E27FC236}">
                  <a16:creationId xmlns:a16="http://schemas.microsoft.com/office/drawing/2014/main" id="{267338D1-2437-7809-C5AA-3EF93B1BB65A}"/>
                </a:ext>
              </a:extLst>
            </p:cNvPr>
            <p:cNvSpPr/>
            <p:nvPr/>
          </p:nvSpPr>
          <p:spPr>
            <a:xfrm>
              <a:off x="3014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18000"/>
              </a:srgbClr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9" name="20 Cheurón">
              <a:extLst>
                <a:ext uri="{FF2B5EF4-FFF2-40B4-BE49-F238E27FC236}">
                  <a16:creationId xmlns:a16="http://schemas.microsoft.com/office/drawing/2014/main" id="{0AEBF4DB-39BE-879B-5BDA-801DB02CF90C}"/>
                </a:ext>
              </a:extLst>
            </p:cNvPr>
            <p:cNvSpPr/>
            <p:nvPr/>
          </p:nvSpPr>
          <p:spPr>
            <a:xfrm>
              <a:off x="842" y="6387"/>
              <a:ext cx="1224" cy="487"/>
            </a:xfrm>
            <a:prstGeom prst="chevron">
              <a:avLst>
                <a:gd name="adj" fmla="val 39813"/>
              </a:avLst>
            </a:prstGeom>
            <a:solidFill>
              <a:srgbClr val="7928D5">
                <a:alpha val="6000"/>
              </a:srgbClr>
            </a:solidFill>
            <a:ln w="889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17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SV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7F871158-B417-1129-2522-CB7756F11B21}"/>
              </a:ext>
            </a:extLst>
          </p:cNvPr>
          <p:cNvGrpSpPr/>
          <p:nvPr/>
        </p:nvGrpSpPr>
        <p:grpSpPr>
          <a:xfrm>
            <a:off x="543560" y="2016760"/>
            <a:ext cx="10678795" cy="2038350"/>
            <a:chOff x="856" y="3176"/>
            <a:chExt cx="16817" cy="3210"/>
          </a:xfrm>
        </p:grpSpPr>
        <p:grpSp>
          <p:nvGrpSpPr>
            <p:cNvPr id="361" name="组合 360">
              <a:extLst>
                <a:ext uri="{FF2B5EF4-FFF2-40B4-BE49-F238E27FC236}">
                  <a16:creationId xmlns:a16="http://schemas.microsoft.com/office/drawing/2014/main" id="{91982995-C84F-620C-9C7E-A2A68F98785F}"/>
                </a:ext>
              </a:extLst>
            </p:cNvPr>
            <p:cNvGrpSpPr/>
            <p:nvPr/>
          </p:nvGrpSpPr>
          <p:grpSpPr>
            <a:xfrm>
              <a:off x="856" y="3176"/>
              <a:ext cx="5554" cy="3210"/>
              <a:chOff x="856" y="3176"/>
              <a:chExt cx="5554" cy="3210"/>
            </a:xfrm>
          </p:grpSpPr>
          <p:sp>
            <p:nvSpPr>
              <p:cNvPr id="374" name="矩形 373">
                <a:extLst>
                  <a:ext uri="{FF2B5EF4-FFF2-40B4-BE49-F238E27FC236}">
                    <a16:creationId xmlns:a16="http://schemas.microsoft.com/office/drawing/2014/main" id="{901DFD3E-9C7D-F748-7CD5-525317F4FCB7}"/>
                  </a:ext>
                </a:extLst>
              </p:cNvPr>
              <p:cNvSpPr/>
              <p:nvPr/>
            </p:nvSpPr>
            <p:spPr>
              <a:xfrm>
                <a:off x="856" y="3176"/>
                <a:ext cx="5555" cy="3210"/>
              </a:xfrm>
              <a:prstGeom prst="rect">
                <a:avLst/>
              </a:prstGeom>
              <a:solidFill>
                <a:srgbClr val="FFFFFF">
                  <a:alpha val="89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dist="279400" dir="5400000" sx="90000" sy="90000" algn="t" rotWithShape="0">
                  <a:prstClr val="black">
                    <a:alpha val="12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75" name="文本框 374">
                <a:extLst>
                  <a:ext uri="{FF2B5EF4-FFF2-40B4-BE49-F238E27FC236}">
                    <a16:creationId xmlns:a16="http://schemas.microsoft.com/office/drawing/2014/main" id="{57302114-847E-136D-B7A8-919919ECB603}"/>
                  </a:ext>
                </a:extLst>
              </p:cNvPr>
              <p:cNvSpPr txBox="1"/>
              <p:nvPr/>
            </p:nvSpPr>
            <p:spPr>
              <a:xfrm>
                <a:off x="2066" y="4450"/>
                <a:ext cx="4209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搭建政企数据合规共享平台，明确数据权属，保障数据安全有序流转。</a:t>
                </a:r>
              </a:p>
            </p:txBody>
          </p:sp>
          <p:sp>
            <p:nvSpPr>
              <p:cNvPr id="376" name="文本框 375">
                <a:extLst>
                  <a:ext uri="{FF2B5EF4-FFF2-40B4-BE49-F238E27FC236}">
                    <a16:creationId xmlns:a16="http://schemas.microsoft.com/office/drawing/2014/main" id="{16C62168-E0DC-1FDE-ECE6-F63CBE1667A7}"/>
                  </a:ext>
                </a:extLst>
              </p:cNvPr>
              <p:cNvSpPr txBox="1"/>
              <p:nvPr/>
            </p:nvSpPr>
            <p:spPr>
              <a:xfrm>
                <a:off x="2066" y="3628"/>
                <a:ext cx="2929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政企数据互联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合规共创共赢</a:t>
                </a:r>
              </a:p>
            </p:txBody>
          </p:sp>
          <p:sp>
            <p:nvSpPr>
              <p:cNvPr id="377" name="圆角矩形 52">
                <a:extLst>
                  <a:ext uri="{FF2B5EF4-FFF2-40B4-BE49-F238E27FC236}">
                    <a16:creationId xmlns:a16="http://schemas.microsoft.com/office/drawing/2014/main" id="{AE82EC45-9FAF-3DA0-002E-81EE08D16661}"/>
                  </a:ext>
                </a:extLst>
              </p:cNvPr>
              <p:cNvSpPr/>
              <p:nvPr/>
            </p:nvSpPr>
            <p:spPr>
              <a:xfrm>
                <a:off x="1087" y="3648"/>
                <a:ext cx="734" cy="769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7928D5"/>
                </a:solidFill>
                <a:prstDash val="solid"/>
                <a:miter lim="800000"/>
              </a:ln>
              <a:effectLst>
                <a:outerShdw blurRad="152400" dist="152400" dir="5400000" sx="91000" sy="91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78" name="图片 4" descr="左_left (2)">
                <a:extLst>
                  <a:ext uri="{FF2B5EF4-FFF2-40B4-BE49-F238E27FC236}">
                    <a16:creationId xmlns:a16="http://schemas.microsoft.com/office/drawing/2014/main" id="{27642322-685E-6D53-EB99-BE4EF9C56F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flipH="1">
                <a:off x="1274" y="3859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362" name="组合 361">
              <a:extLst>
                <a:ext uri="{FF2B5EF4-FFF2-40B4-BE49-F238E27FC236}">
                  <a16:creationId xmlns:a16="http://schemas.microsoft.com/office/drawing/2014/main" id="{5D302D28-FBC6-BFE6-EB83-87E6508442AE}"/>
                </a:ext>
              </a:extLst>
            </p:cNvPr>
            <p:cNvGrpSpPr/>
            <p:nvPr/>
          </p:nvGrpSpPr>
          <p:grpSpPr>
            <a:xfrm>
              <a:off x="6501" y="3176"/>
              <a:ext cx="5554" cy="3210"/>
              <a:chOff x="6501" y="3176"/>
              <a:chExt cx="5554" cy="3210"/>
            </a:xfrm>
          </p:grpSpPr>
          <p:sp>
            <p:nvSpPr>
              <p:cNvPr id="369" name="矩形 368">
                <a:extLst>
                  <a:ext uri="{FF2B5EF4-FFF2-40B4-BE49-F238E27FC236}">
                    <a16:creationId xmlns:a16="http://schemas.microsoft.com/office/drawing/2014/main" id="{4B852ECA-AF59-1A1C-7BEC-C5D1BFB2C16F}"/>
                  </a:ext>
                </a:extLst>
              </p:cNvPr>
              <p:cNvSpPr/>
              <p:nvPr/>
            </p:nvSpPr>
            <p:spPr>
              <a:xfrm>
                <a:off x="6501" y="3176"/>
                <a:ext cx="5555" cy="3210"/>
              </a:xfrm>
              <a:prstGeom prst="rect">
                <a:avLst/>
              </a:prstGeom>
              <a:solidFill>
                <a:srgbClr val="FFFFFF">
                  <a:alpha val="89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dist="279400" dir="5400000" sx="90000" sy="90000" algn="t" rotWithShape="0">
                  <a:prstClr val="black">
                    <a:alpha val="12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70" name="文本框 369">
                <a:extLst>
                  <a:ext uri="{FF2B5EF4-FFF2-40B4-BE49-F238E27FC236}">
                    <a16:creationId xmlns:a16="http://schemas.microsoft.com/office/drawing/2014/main" id="{3CEFA95C-2F72-89E9-4AB8-1CF297724A58}"/>
                  </a:ext>
                </a:extLst>
              </p:cNvPr>
              <p:cNvSpPr txBox="1"/>
              <p:nvPr/>
            </p:nvSpPr>
            <p:spPr>
              <a:xfrm>
                <a:off x="7684" y="4450"/>
                <a:ext cx="4209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制定政企数据对接规范流程，严控数据使用边界，赋能政务精准服务。</a:t>
                </a:r>
              </a:p>
            </p:txBody>
          </p:sp>
          <p:sp>
            <p:nvSpPr>
              <p:cNvPr id="371" name="文本框 370">
                <a:extLst>
                  <a:ext uri="{FF2B5EF4-FFF2-40B4-BE49-F238E27FC236}">
                    <a16:creationId xmlns:a16="http://schemas.microsoft.com/office/drawing/2014/main" id="{60FF73D9-3879-6BEE-BE7F-CADF6F12294D}"/>
                  </a:ext>
                </a:extLst>
              </p:cNvPr>
              <p:cNvSpPr txBox="1"/>
              <p:nvPr/>
            </p:nvSpPr>
            <p:spPr>
              <a:xfrm>
                <a:off x="7684" y="3628"/>
                <a:ext cx="2929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数联政企两端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合规驱动发展</a:t>
                </a:r>
              </a:p>
            </p:txBody>
          </p:sp>
          <p:sp>
            <p:nvSpPr>
              <p:cNvPr id="372" name="圆角矩形 57">
                <a:extLst>
                  <a:ext uri="{FF2B5EF4-FFF2-40B4-BE49-F238E27FC236}">
                    <a16:creationId xmlns:a16="http://schemas.microsoft.com/office/drawing/2014/main" id="{CF9056EB-5633-D522-DC78-8AFEB505F83E}"/>
                  </a:ext>
                </a:extLst>
              </p:cNvPr>
              <p:cNvSpPr/>
              <p:nvPr/>
            </p:nvSpPr>
            <p:spPr>
              <a:xfrm>
                <a:off x="6705" y="3648"/>
                <a:ext cx="734" cy="769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7928D5"/>
                </a:solidFill>
                <a:prstDash val="solid"/>
                <a:miter lim="800000"/>
              </a:ln>
              <a:effectLst>
                <a:outerShdw blurRad="152400" dist="152400" dir="5400000" sx="91000" sy="91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73" name="图片 5" descr="左_left (2)">
                <a:extLst>
                  <a:ext uri="{FF2B5EF4-FFF2-40B4-BE49-F238E27FC236}">
                    <a16:creationId xmlns:a16="http://schemas.microsoft.com/office/drawing/2014/main" id="{736D6DAD-3CA7-7926-B1D9-2C17D4036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flipH="1">
                <a:off x="6892" y="3859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363" name="组合 362">
              <a:extLst>
                <a:ext uri="{FF2B5EF4-FFF2-40B4-BE49-F238E27FC236}">
                  <a16:creationId xmlns:a16="http://schemas.microsoft.com/office/drawing/2014/main" id="{EA2075B7-1A88-EC79-3BE6-E0F3027B0B4A}"/>
                </a:ext>
              </a:extLst>
            </p:cNvPr>
            <p:cNvGrpSpPr/>
            <p:nvPr/>
          </p:nvGrpSpPr>
          <p:grpSpPr>
            <a:xfrm>
              <a:off x="12119" y="3176"/>
              <a:ext cx="5554" cy="3210"/>
              <a:chOff x="12119" y="3176"/>
              <a:chExt cx="5554" cy="3210"/>
            </a:xfrm>
          </p:grpSpPr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233CD5D6-ABCE-CBCD-34AD-EFDFAF5E5597}"/>
                  </a:ext>
                </a:extLst>
              </p:cNvPr>
              <p:cNvSpPr/>
              <p:nvPr/>
            </p:nvSpPr>
            <p:spPr>
              <a:xfrm>
                <a:off x="12119" y="3176"/>
                <a:ext cx="5555" cy="3210"/>
              </a:xfrm>
              <a:prstGeom prst="rect">
                <a:avLst/>
              </a:prstGeom>
              <a:solidFill>
                <a:srgbClr val="FFFFFF">
                  <a:alpha val="89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dist="279400" dir="5400000" sx="90000" sy="90000" algn="t" rotWithShape="0">
                  <a:prstClr val="black">
                    <a:alpha val="12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65" name="文本框 364">
                <a:extLst>
                  <a:ext uri="{FF2B5EF4-FFF2-40B4-BE49-F238E27FC236}">
                    <a16:creationId xmlns:a16="http://schemas.microsoft.com/office/drawing/2014/main" id="{42D0AE4E-8BC1-9BC1-3E4B-44CE7FD7BA9B}"/>
                  </a:ext>
                </a:extLst>
              </p:cNvPr>
              <p:cNvSpPr txBox="1"/>
              <p:nvPr/>
            </p:nvSpPr>
            <p:spPr>
              <a:xfrm>
                <a:off x="13302" y="4450"/>
                <a:ext cx="4209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建立政企数据安全审核机制，防范数据泄露风险，护航企业稳健发展。</a:t>
                </a:r>
              </a:p>
            </p:txBody>
          </p:sp>
          <p:sp>
            <p:nvSpPr>
              <p:cNvPr id="366" name="文本框 365">
                <a:extLst>
                  <a:ext uri="{FF2B5EF4-FFF2-40B4-BE49-F238E27FC236}">
                    <a16:creationId xmlns:a16="http://schemas.microsoft.com/office/drawing/2014/main" id="{4BE02435-AE95-B60D-28DB-CA7F8632754C}"/>
                  </a:ext>
                </a:extLst>
              </p:cNvPr>
              <p:cNvSpPr txBox="1"/>
              <p:nvPr/>
            </p:nvSpPr>
            <p:spPr>
              <a:xfrm>
                <a:off x="13302" y="3628"/>
                <a:ext cx="2929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政企协同联动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数据合规共享</a:t>
                </a:r>
              </a:p>
            </p:txBody>
          </p:sp>
          <p:sp>
            <p:nvSpPr>
              <p:cNvPr id="367" name="圆角矩形 65">
                <a:extLst>
                  <a:ext uri="{FF2B5EF4-FFF2-40B4-BE49-F238E27FC236}">
                    <a16:creationId xmlns:a16="http://schemas.microsoft.com/office/drawing/2014/main" id="{D9085D9E-2834-73B8-04D9-FB6BAA239905}"/>
                  </a:ext>
                </a:extLst>
              </p:cNvPr>
              <p:cNvSpPr/>
              <p:nvPr/>
            </p:nvSpPr>
            <p:spPr>
              <a:xfrm>
                <a:off x="12323" y="3648"/>
                <a:ext cx="734" cy="769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7928D5"/>
                </a:solidFill>
                <a:prstDash val="solid"/>
                <a:miter lim="800000"/>
              </a:ln>
              <a:effectLst>
                <a:outerShdw blurRad="152400" dist="152400" dir="5400000" sx="91000" sy="91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68" name="图片 16" descr="左_left (2)">
                <a:extLst>
                  <a:ext uri="{FF2B5EF4-FFF2-40B4-BE49-F238E27FC236}">
                    <a16:creationId xmlns:a16="http://schemas.microsoft.com/office/drawing/2014/main" id="{150B6590-A8CF-9C79-B1CC-B5E007935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flipH="1">
                <a:off x="12495" y="3859"/>
                <a:ext cx="360" cy="360"/>
              </a:xfrm>
              <a:prstGeom prst="rect">
                <a:avLst/>
              </a:prstGeom>
            </p:spPr>
          </p:pic>
        </p:grpSp>
      </p:grpSp>
      <p:grpSp>
        <p:nvGrpSpPr>
          <p:cNvPr id="379" name="组合 378">
            <a:extLst>
              <a:ext uri="{FF2B5EF4-FFF2-40B4-BE49-F238E27FC236}">
                <a16:creationId xmlns:a16="http://schemas.microsoft.com/office/drawing/2014/main" id="{8ACDE220-306F-1B42-4D56-B05568C0C688}"/>
              </a:ext>
            </a:extLst>
          </p:cNvPr>
          <p:cNvGrpSpPr/>
          <p:nvPr/>
        </p:nvGrpSpPr>
        <p:grpSpPr>
          <a:xfrm>
            <a:off x="543560" y="4364990"/>
            <a:ext cx="10678795" cy="2038350"/>
            <a:chOff x="856" y="6874"/>
            <a:chExt cx="16817" cy="3210"/>
          </a:xfrm>
        </p:grpSpPr>
        <p:grpSp>
          <p:nvGrpSpPr>
            <p:cNvPr id="380" name="组合 379">
              <a:extLst>
                <a:ext uri="{FF2B5EF4-FFF2-40B4-BE49-F238E27FC236}">
                  <a16:creationId xmlns:a16="http://schemas.microsoft.com/office/drawing/2014/main" id="{946753AA-C719-9F2E-AE10-14F0EA47EDCB}"/>
                </a:ext>
              </a:extLst>
            </p:cNvPr>
            <p:cNvGrpSpPr/>
            <p:nvPr/>
          </p:nvGrpSpPr>
          <p:grpSpPr>
            <a:xfrm>
              <a:off x="856" y="6874"/>
              <a:ext cx="5554" cy="3210"/>
              <a:chOff x="856" y="6874"/>
              <a:chExt cx="5554" cy="3210"/>
            </a:xfrm>
          </p:grpSpPr>
          <p:sp>
            <p:nvSpPr>
              <p:cNvPr id="393" name="矩形 392">
                <a:extLst>
                  <a:ext uri="{FF2B5EF4-FFF2-40B4-BE49-F238E27FC236}">
                    <a16:creationId xmlns:a16="http://schemas.microsoft.com/office/drawing/2014/main" id="{BF38113B-6956-020C-DE99-79ED6D90171C}"/>
                  </a:ext>
                </a:extLst>
              </p:cNvPr>
              <p:cNvSpPr/>
              <p:nvPr/>
            </p:nvSpPr>
            <p:spPr>
              <a:xfrm>
                <a:off x="856" y="6874"/>
                <a:ext cx="5555" cy="3210"/>
              </a:xfrm>
              <a:prstGeom prst="rect">
                <a:avLst/>
              </a:prstGeom>
              <a:solidFill>
                <a:srgbClr val="FFFFFF">
                  <a:alpha val="89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dist="279400" dir="5400000" sx="90000" sy="90000" algn="t" rotWithShape="0">
                  <a:prstClr val="black">
                    <a:alpha val="12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D6FC3242-8C70-F9DB-1815-48EDDE3CF5D7}"/>
                  </a:ext>
                </a:extLst>
              </p:cNvPr>
              <p:cNvSpPr txBox="1"/>
              <p:nvPr/>
            </p:nvSpPr>
            <p:spPr>
              <a:xfrm>
                <a:off x="2066" y="8762"/>
                <a:ext cx="4209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打通政务民生数据与企业数据，优化资源配置，提升政企协同效率。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endParaRPr>
              </a:p>
            </p:txBody>
          </p:sp>
          <p:sp>
            <p:nvSpPr>
              <p:cNvPr id="395" name="文本框 394">
                <a:extLst>
                  <a:ext uri="{FF2B5EF4-FFF2-40B4-BE49-F238E27FC236}">
                    <a16:creationId xmlns:a16="http://schemas.microsoft.com/office/drawing/2014/main" id="{85FF3A7F-08B9-DB0A-B137-AF6FE8DCF87F}"/>
                  </a:ext>
                </a:extLst>
              </p:cNvPr>
              <p:cNvSpPr txBox="1"/>
              <p:nvPr/>
            </p:nvSpPr>
            <p:spPr>
              <a:xfrm>
                <a:off x="2066" y="7940"/>
                <a:ext cx="2929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合规数联政企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赋能双向发展</a:t>
                </a:r>
              </a:p>
            </p:txBody>
          </p:sp>
          <p:sp>
            <p:nvSpPr>
              <p:cNvPr id="396" name="圆角矩形 14">
                <a:extLst>
                  <a:ext uri="{FF2B5EF4-FFF2-40B4-BE49-F238E27FC236}">
                    <a16:creationId xmlns:a16="http://schemas.microsoft.com/office/drawing/2014/main" id="{76526F7E-B9BC-1E23-7411-C5C791472FE2}"/>
                  </a:ext>
                </a:extLst>
              </p:cNvPr>
              <p:cNvSpPr/>
              <p:nvPr/>
            </p:nvSpPr>
            <p:spPr>
              <a:xfrm>
                <a:off x="1087" y="7960"/>
                <a:ext cx="734" cy="769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7928D5"/>
                </a:solidFill>
                <a:prstDash val="solid"/>
                <a:miter lim="800000"/>
              </a:ln>
              <a:effectLst>
                <a:outerShdw blurRad="152400" dist="152400" dir="5400000" sx="91000" sy="91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97" name="图片 17" descr="左_left (2)">
                <a:extLst>
                  <a:ext uri="{FF2B5EF4-FFF2-40B4-BE49-F238E27FC236}">
                    <a16:creationId xmlns:a16="http://schemas.microsoft.com/office/drawing/2014/main" id="{39722C09-27F3-53CB-4D43-421DA6AFF0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flipH="1">
                <a:off x="1274" y="8171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381" name="组合 380">
              <a:extLst>
                <a:ext uri="{FF2B5EF4-FFF2-40B4-BE49-F238E27FC236}">
                  <a16:creationId xmlns:a16="http://schemas.microsoft.com/office/drawing/2014/main" id="{D1B4EC3D-D85F-0686-5FB6-444AD6CD5586}"/>
                </a:ext>
              </a:extLst>
            </p:cNvPr>
            <p:cNvGrpSpPr/>
            <p:nvPr/>
          </p:nvGrpSpPr>
          <p:grpSpPr>
            <a:xfrm>
              <a:off x="6501" y="6874"/>
              <a:ext cx="5554" cy="3210"/>
              <a:chOff x="6501" y="6874"/>
              <a:chExt cx="5554" cy="3210"/>
            </a:xfrm>
          </p:grpSpPr>
          <p:sp>
            <p:nvSpPr>
              <p:cNvPr id="388" name="矩形 387">
                <a:extLst>
                  <a:ext uri="{FF2B5EF4-FFF2-40B4-BE49-F238E27FC236}">
                    <a16:creationId xmlns:a16="http://schemas.microsoft.com/office/drawing/2014/main" id="{721899C3-DF52-2525-2FEA-3CA003E7F905}"/>
                  </a:ext>
                </a:extLst>
              </p:cNvPr>
              <p:cNvSpPr/>
              <p:nvPr/>
            </p:nvSpPr>
            <p:spPr>
              <a:xfrm>
                <a:off x="6501" y="6874"/>
                <a:ext cx="5555" cy="3210"/>
              </a:xfrm>
              <a:prstGeom prst="rect">
                <a:avLst/>
              </a:prstGeom>
              <a:solidFill>
                <a:srgbClr val="FFFFFF">
                  <a:alpha val="89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dist="279400" dir="5400000" sx="90000" sy="90000" algn="t" rotWithShape="0">
                  <a:prstClr val="black">
                    <a:alpha val="12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BBF039BC-1973-8402-C319-C6BB89630F63}"/>
                  </a:ext>
                </a:extLst>
              </p:cNvPr>
              <p:cNvSpPr txBox="1"/>
              <p:nvPr/>
            </p:nvSpPr>
            <p:spPr>
              <a:xfrm>
                <a:off x="7684" y="8762"/>
                <a:ext cx="4209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推行政企数据分级分类管理，落实合规要求，释放数据要素核心价值。</a:t>
                </a:r>
              </a:p>
            </p:txBody>
          </p:sp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1B5928EC-4069-80E0-7109-0CD8A7185455}"/>
                  </a:ext>
                </a:extLst>
              </p:cNvPr>
              <p:cNvSpPr txBox="1"/>
              <p:nvPr/>
            </p:nvSpPr>
            <p:spPr>
              <a:xfrm>
                <a:off x="7684" y="7940"/>
                <a:ext cx="2929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政企数通合规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实现互利共赢</a:t>
                </a:r>
              </a:p>
            </p:txBody>
          </p:sp>
          <p:sp>
            <p:nvSpPr>
              <p:cNvPr id="391" name="圆角矩形 30">
                <a:extLst>
                  <a:ext uri="{FF2B5EF4-FFF2-40B4-BE49-F238E27FC236}">
                    <a16:creationId xmlns:a16="http://schemas.microsoft.com/office/drawing/2014/main" id="{2C78A6CF-6241-2CD8-828D-70FC777FB97A}"/>
                  </a:ext>
                </a:extLst>
              </p:cNvPr>
              <p:cNvSpPr/>
              <p:nvPr/>
            </p:nvSpPr>
            <p:spPr>
              <a:xfrm>
                <a:off x="6705" y="7960"/>
                <a:ext cx="734" cy="769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7928D5"/>
                </a:solidFill>
                <a:prstDash val="solid"/>
                <a:miter lim="800000"/>
              </a:ln>
              <a:effectLst>
                <a:outerShdw blurRad="152400" dist="152400" dir="5400000" sx="91000" sy="91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92" name="图片 18" descr="左_left (2)">
                <a:extLst>
                  <a:ext uri="{FF2B5EF4-FFF2-40B4-BE49-F238E27FC236}">
                    <a16:creationId xmlns:a16="http://schemas.microsoft.com/office/drawing/2014/main" id="{C278E1F2-4926-E1AC-7E9B-082D0F9DD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flipH="1">
                <a:off x="6892" y="8171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382" name="组合 381">
              <a:extLst>
                <a:ext uri="{FF2B5EF4-FFF2-40B4-BE49-F238E27FC236}">
                  <a16:creationId xmlns:a16="http://schemas.microsoft.com/office/drawing/2014/main" id="{097DD6FB-92D1-451E-92E5-26600ED2CDA0}"/>
                </a:ext>
              </a:extLst>
            </p:cNvPr>
            <p:cNvGrpSpPr/>
            <p:nvPr/>
          </p:nvGrpSpPr>
          <p:grpSpPr>
            <a:xfrm>
              <a:off x="12119" y="6874"/>
              <a:ext cx="5554" cy="3210"/>
              <a:chOff x="12119" y="6874"/>
              <a:chExt cx="5554" cy="3210"/>
            </a:xfrm>
          </p:grpSpPr>
          <p:sp>
            <p:nvSpPr>
              <p:cNvPr id="383" name="矩形 382">
                <a:extLst>
                  <a:ext uri="{FF2B5EF4-FFF2-40B4-BE49-F238E27FC236}">
                    <a16:creationId xmlns:a16="http://schemas.microsoft.com/office/drawing/2014/main" id="{8D7DF45D-B759-20FD-FBEB-88C8F73D2D65}"/>
                  </a:ext>
                </a:extLst>
              </p:cNvPr>
              <p:cNvSpPr/>
              <p:nvPr/>
            </p:nvSpPr>
            <p:spPr>
              <a:xfrm>
                <a:off x="12119" y="6874"/>
                <a:ext cx="5555" cy="3210"/>
              </a:xfrm>
              <a:prstGeom prst="rect">
                <a:avLst/>
              </a:prstGeom>
              <a:solidFill>
                <a:srgbClr val="FFFFFF">
                  <a:alpha val="89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dist="279400" dir="5400000" sx="90000" sy="90000" algn="t" rotWithShape="0">
                  <a:prstClr val="black">
                    <a:alpha val="12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36A9EC0E-E16C-B2F5-BD7F-CE57A0609757}"/>
                  </a:ext>
                </a:extLst>
              </p:cNvPr>
              <p:cNvSpPr txBox="1"/>
              <p:nvPr/>
            </p:nvSpPr>
            <p:spPr>
              <a:xfrm>
                <a:off x="13302" y="8762"/>
                <a:ext cx="4209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构建政企数据共享监督体系，实现全程可溯，确保合作合规长效运行。</a:t>
                </a:r>
              </a:p>
            </p:txBody>
          </p:sp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A2626DCD-A6EF-E4DF-9F3C-B7423B1E70B2}"/>
                  </a:ext>
                </a:extLst>
              </p:cNvPr>
              <p:cNvSpPr txBox="1"/>
              <p:nvPr/>
            </p:nvSpPr>
            <p:spPr>
              <a:xfrm>
                <a:off x="13302" y="7940"/>
                <a:ext cx="2929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政企数通合规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实现互利共赢</a:t>
                </a:r>
              </a:p>
            </p:txBody>
          </p:sp>
          <p:sp>
            <p:nvSpPr>
              <p:cNvPr id="386" name="圆角矩形 68">
                <a:extLst>
                  <a:ext uri="{FF2B5EF4-FFF2-40B4-BE49-F238E27FC236}">
                    <a16:creationId xmlns:a16="http://schemas.microsoft.com/office/drawing/2014/main" id="{FFF8A639-114E-1645-4799-D7927113B7F3}"/>
                  </a:ext>
                </a:extLst>
              </p:cNvPr>
              <p:cNvSpPr/>
              <p:nvPr/>
            </p:nvSpPr>
            <p:spPr>
              <a:xfrm>
                <a:off x="12323" y="7960"/>
                <a:ext cx="734" cy="769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7928D5"/>
                </a:solidFill>
                <a:prstDash val="solid"/>
                <a:miter lim="800000"/>
              </a:ln>
              <a:effectLst>
                <a:outerShdw blurRad="152400" dist="152400" dir="5400000" sx="91000" sy="91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87" name="图片 19" descr="左_left (2)">
                <a:extLst>
                  <a:ext uri="{FF2B5EF4-FFF2-40B4-BE49-F238E27FC236}">
                    <a16:creationId xmlns:a16="http://schemas.microsoft.com/office/drawing/2014/main" id="{FA94F059-A930-AE94-3F7C-29AD02411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flipH="1">
                <a:off x="12495" y="8171"/>
                <a:ext cx="360" cy="360"/>
              </a:xfrm>
              <a:prstGeom prst="rect">
                <a:avLst/>
              </a:prstGeom>
            </p:spPr>
          </p:pic>
        </p:grpSp>
      </p:grpSp>
      <p:sp>
        <p:nvSpPr>
          <p:cNvPr id="399" name="文本框 398">
            <a:extLst>
              <a:ext uri="{FF2B5EF4-FFF2-40B4-BE49-F238E27FC236}">
                <a16:creationId xmlns:a16="http://schemas.microsoft.com/office/drawing/2014/main" id="{342893FD-A642-1F03-9E25-CC83A6A5501D}"/>
              </a:ext>
            </a:extLst>
          </p:cNvPr>
          <p:cNvSpPr txBox="1"/>
          <p:nvPr/>
        </p:nvSpPr>
        <p:spPr>
          <a:xfrm>
            <a:off x="474980" y="1393825"/>
            <a:ext cx="1100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solidFill>
                  <a:srgbClr val="26323B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围绕政企数据互联需求，构建合规可控的数据共享机制，严格遵循数据安全相关法律法规，明确数据采集、流转、应用全流程规范，打通政企数据壁垒，实现数据要素安全流通与价值释放，推动政府精准施策、企业高效发展，达成政企协同、合规共赢的发展目标。</a:t>
            </a:r>
          </a:p>
        </p:txBody>
      </p:sp>
    </p:spTree>
    <p:extLst>
      <p:ext uri="{BB962C8B-B14F-4D97-AF65-F5344CB8AC3E}">
        <p14:creationId xmlns:p14="http://schemas.microsoft.com/office/powerpoint/2010/main" val="102996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4F58-3AEF-B41A-8CE9-9C4F0FCB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组合 369">
            <a:extLst>
              <a:ext uri="{FF2B5EF4-FFF2-40B4-BE49-F238E27FC236}">
                <a16:creationId xmlns:a16="http://schemas.microsoft.com/office/drawing/2014/main" id="{B38A7844-5ED2-EAED-0CD2-AB28B583A235}"/>
              </a:ext>
            </a:extLst>
          </p:cNvPr>
          <p:cNvGrpSpPr/>
          <p:nvPr/>
        </p:nvGrpSpPr>
        <p:grpSpPr>
          <a:xfrm>
            <a:off x="5255895" y="0"/>
            <a:ext cx="1495425" cy="6857365"/>
            <a:chOff x="8277" y="0"/>
            <a:chExt cx="2355" cy="10799"/>
          </a:xfrm>
        </p:grpSpPr>
        <p:sp>
          <p:nvSpPr>
            <p:cNvPr id="371" name="矩形 370">
              <a:extLst>
                <a:ext uri="{FF2B5EF4-FFF2-40B4-BE49-F238E27FC236}">
                  <a16:creationId xmlns:a16="http://schemas.microsoft.com/office/drawing/2014/main" id="{BA91A5B6-DCDB-B34F-0BD1-518DC5ACF100}"/>
                </a:ext>
              </a:extLst>
            </p:cNvPr>
            <p:cNvSpPr/>
            <p:nvPr/>
          </p:nvSpPr>
          <p:spPr>
            <a:xfrm>
              <a:off x="8280" y="0"/>
              <a:ext cx="2352" cy="2108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72" name="矩形 371">
              <a:extLst>
                <a:ext uri="{FF2B5EF4-FFF2-40B4-BE49-F238E27FC236}">
                  <a16:creationId xmlns:a16="http://schemas.microsoft.com/office/drawing/2014/main" id="{52F3A3BF-C3A5-F3BE-DE57-B006F444B464}"/>
                </a:ext>
              </a:extLst>
            </p:cNvPr>
            <p:cNvSpPr/>
            <p:nvPr/>
          </p:nvSpPr>
          <p:spPr>
            <a:xfrm>
              <a:off x="8280" y="2173"/>
              <a:ext cx="2352" cy="2108"/>
            </a:xfrm>
            <a:prstGeom prst="rect">
              <a:avLst/>
            </a:prstGeom>
            <a:pattFill prst="pct5">
              <a:fgClr>
                <a:srgbClr val="FFFFFF">
                  <a:lumMod val="75000"/>
                </a:srgbClr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73" name="矩形 372">
              <a:extLst>
                <a:ext uri="{FF2B5EF4-FFF2-40B4-BE49-F238E27FC236}">
                  <a16:creationId xmlns:a16="http://schemas.microsoft.com/office/drawing/2014/main" id="{5585163B-4792-BF81-F25F-AB6A7808C794}"/>
                </a:ext>
              </a:extLst>
            </p:cNvPr>
            <p:cNvSpPr/>
            <p:nvPr/>
          </p:nvSpPr>
          <p:spPr>
            <a:xfrm>
              <a:off x="8280" y="6518"/>
              <a:ext cx="2352" cy="2108"/>
            </a:xfrm>
            <a:prstGeom prst="rect">
              <a:avLst/>
            </a:prstGeom>
            <a:pattFill prst="pct5">
              <a:fgClr>
                <a:srgbClr val="FFFFFF">
                  <a:lumMod val="75000"/>
                </a:srgbClr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74" name="矩形 373">
              <a:extLst>
                <a:ext uri="{FF2B5EF4-FFF2-40B4-BE49-F238E27FC236}">
                  <a16:creationId xmlns:a16="http://schemas.microsoft.com/office/drawing/2014/main" id="{6FBCF24F-1268-1169-90B4-CA7FB36CBC2E}"/>
                </a:ext>
              </a:extLst>
            </p:cNvPr>
            <p:cNvSpPr/>
            <p:nvPr/>
          </p:nvSpPr>
          <p:spPr>
            <a:xfrm>
              <a:off x="8280" y="8691"/>
              <a:ext cx="2352" cy="2108"/>
            </a:xfrm>
            <a:prstGeom prst="rect">
              <a:avLst/>
            </a:prstGeom>
            <a:solidFill>
              <a:srgbClr val="FFFFFF">
                <a:lumMod val="75000"/>
              </a:srgbClr>
            </a:solidFill>
            <a:ln>
              <a:noFill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375" name="组合 374">
              <a:extLst>
                <a:ext uri="{FF2B5EF4-FFF2-40B4-BE49-F238E27FC236}">
                  <a16:creationId xmlns:a16="http://schemas.microsoft.com/office/drawing/2014/main" id="{BDD87CA1-6499-DCD1-4732-4BF064FA5827}"/>
                </a:ext>
              </a:extLst>
            </p:cNvPr>
            <p:cNvGrpSpPr/>
            <p:nvPr/>
          </p:nvGrpSpPr>
          <p:grpSpPr>
            <a:xfrm>
              <a:off x="8280" y="2466"/>
              <a:ext cx="2352" cy="1501"/>
              <a:chOff x="8280" y="2466"/>
              <a:chExt cx="2352" cy="1501"/>
            </a:xfrm>
          </p:grpSpPr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7F5AF196-DA49-8400-07E6-BAC10CA76C35}"/>
                  </a:ext>
                </a:extLst>
              </p:cNvPr>
              <p:cNvSpPr txBox="1"/>
              <p:nvPr/>
            </p:nvSpPr>
            <p:spPr>
              <a:xfrm>
                <a:off x="8280" y="2905"/>
                <a:ext cx="2352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89%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云基</a:t>
                </a:r>
              </a:p>
            </p:txBody>
          </p:sp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A07D2D81-AE83-A20D-8A77-C0D53835B29E}"/>
                  </a:ext>
                </a:extLst>
              </p:cNvPr>
              <p:cNvSpPr txBox="1"/>
              <p:nvPr/>
            </p:nvSpPr>
            <p:spPr>
              <a:xfrm>
                <a:off x="8280" y="3630"/>
                <a:ext cx="2349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/>
                    <a:cs typeface="Fluent Thin" charset="0"/>
                    <a:sym typeface="+mn-ea"/>
                  </a:rPr>
                  <a:t>99% performance</a:t>
                </a:r>
              </a:p>
            </p:txBody>
          </p:sp>
          <p:sp>
            <p:nvSpPr>
              <p:cNvPr id="391" name="椭圆 390">
                <a:extLst>
                  <a:ext uri="{FF2B5EF4-FFF2-40B4-BE49-F238E27FC236}">
                    <a16:creationId xmlns:a16="http://schemas.microsoft.com/office/drawing/2014/main" id="{8269F0DB-1644-D50B-90C5-475182D17BD5}"/>
                  </a:ext>
                </a:extLst>
              </p:cNvPr>
              <p:cNvSpPr/>
              <p:nvPr/>
            </p:nvSpPr>
            <p:spPr>
              <a:xfrm>
                <a:off x="8468" y="2466"/>
                <a:ext cx="426" cy="426"/>
              </a:xfrm>
              <a:prstGeom prst="ellipse">
                <a:avLst/>
              </a:prstGeom>
              <a:solidFill>
                <a:srgbClr val="3C007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92" name="图片 80" descr="首页_home (9)">
                <a:extLst>
                  <a:ext uri="{FF2B5EF4-FFF2-40B4-BE49-F238E27FC236}">
                    <a16:creationId xmlns:a16="http://schemas.microsoft.com/office/drawing/2014/main" id="{839AED8D-6E3B-1A0D-B740-528302B8E4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543" y="2526"/>
                <a:ext cx="276" cy="276"/>
              </a:xfrm>
              <a:prstGeom prst="rect">
                <a:avLst/>
              </a:prstGeom>
            </p:spPr>
          </p:pic>
        </p:grpSp>
        <p:grpSp>
          <p:nvGrpSpPr>
            <p:cNvPr id="376" name="组合 375">
              <a:extLst>
                <a:ext uri="{FF2B5EF4-FFF2-40B4-BE49-F238E27FC236}">
                  <a16:creationId xmlns:a16="http://schemas.microsoft.com/office/drawing/2014/main" id="{4482799A-11F2-16B4-F080-842CD27A0ABC}"/>
                </a:ext>
              </a:extLst>
            </p:cNvPr>
            <p:cNvGrpSpPr/>
            <p:nvPr/>
          </p:nvGrpSpPr>
          <p:grpSpPr>
            <a:xfrm>
              <a:off x="8277" y="6722"/>
              <a:ext cx="2352" cy="1501"/>
              <a:chOff x="8280" y="2466"/>
              <a:chExt cx="2352" cy="1501"/>
            </a:xfrm>
          </p:grpSpPr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8EFC1E8D-0D2C-EB8A-686B-997536A26604}"/>
                  </a:ext>
                </a:extLst>
              </p:cNvPr>
              <p:cNvSpPr txBox="1"/>
              <p:nvPr/>
            </p:nvSpPr>
            <p:spPr>
              <a:xfrm>
                <a:off x="8280" y="2905"/>
                <a:ext cx="2352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66%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数生</a:t>
                </a:r>
              </a:p>
            </p:txBody>
          </p:sp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97EB9A1A-9099-F4E4-6681-1BD7BD2EE4B4}"/>
                  </a:ext>
                </a:extLst>
              </p:cNvPr>
              <p:cNvSpPr txBox="1"/>
              <p:nvPr/>
            </p:nvSpPr>
            <p:spPr>
              <a:xfrm>
                <a:off x="8280" y="3630"/>
                <a:ext cx="2349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/>
                    <a:cs typeface="Fluent Thin" charset="0"/>
                    <a:sym typeface="+mn-ea"/>
                  </a:rPr>
                  <a:t>99% performance</a:t>
                </a:r>
              </a:p>
            </p:txBody>
          </p:sp>
          <p:sp>
            <p:nvSpPr>
              <p:cNvPr id="387" name="椭圆 386">
                <a:extLst>
                  <a:ext uri="{FF2B5EF4-FFF2-40B4-BE49-F238E27FC236}">
                    <a16:creationId xmlns:a16="http://schemas.microsoft.com/office/drawing/2014/main" id="{3DE33927-2BA4-3FED-A7F6-E44C3E3F12BD}"/>
                  </a:ext>
                </a:extLst>
              </p:cNvPr>
              <p:cNvSpPr/>
              <p:nvPr/>
            </p:nvSpPr>
            <p:spPr>
              <a:xfrm>
                <a:off x="8468" y="2466"/>
                <a:ext cx="426" cy="426"/>
              </a:xfrm>
              <a:prstGeom prst="ellipse">
                <a:avLst/>
              </a:prstGeom>
              <a:solidFill>
                <a:srgbClr val="3C007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88" name="图片 54" descr="首页_home (9)">
                <a:extLst>
                  <a:ext uri="{FF2B5EF4-FFF2-40B4-BE49-F238E27FC236}">
                    <a16:creationId xmlns:a16="http://schemas.microsoft.com/office/drawing/2014/main" id="{CAAAB478-CBCD-050F-F274-D867D773B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543" y="2526"/>
                <a:ext cx="276" cy="276"/>
              </a:xfrm>
              <a:prstGeom prst="rect">
                <a:avLst/>
              </a:prstGeom>
            </p:spPr>
          </p:pic>
        </p:grpSp>
        <p:grpSp>
          <p:nvGrpSpPr>
            <p:cNvPr id="377" name="组合 376">
              <a:extLst>
                <a:ext uri="{FF2B5EF4-FFF2-40B4-BE49-F238E27FC236}">
                  <a16:creationId xmlns:a16="http://schemas.microsoft.com/office/drawing/2014/main" id="{A45651F5-F980-A597-8A47-1D1858E68EC3}"/>
                </a:ext>
              </a:extLst>
            </p:cNvPr>
            <p:cNvGrpSpPr/>
            <p:nvPr/>
          </p:nvGrpSpPr>
          <p:grpSpPr>
            <a:xfrm>
              <a:off x="8280" y="4345"/>
              <a:ext cx="2352" cy="2108"/>
              <a:chOff x="8280" y="4345"/>
              <a:chExt cx="2352" cy="2108"/>
            </a:xfrm>
          </p:grpSpPr>
          <p:sp>
            <p:nvSpPr>
              <p:cNvPr id="382" name="矩形 381">
                <a:extLst>
                  <a:ext uri="{FF2B5EF4-FFF2-40B4-BE49-F238E27FC236}">
                    <a16:creationId xmlns:a16="http://schemas.microsoft.com/office/drawing/2014/main" id="{1497630C-2C55-A0E6-5991-F27040AE2D07}"/>
                  </a:ext>
                </a:extLst>
              </p:cNvPr>
              <p:cNvSpPr/>
              <p:nvPr/>
            </p:nvSpPr>
            <p:spPr>
              <a:xfrm>
                <a:off x="8280" y="4345"/>
                <a:ext cx="2352" cy="210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50800" dir="5400000" sx="97000" sy="97000" algn="t" rotWithShape="0">
                  <a:prstClr val="black">
                    <a:alpha val="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83" name="文本框 382">
                <a:extLst>
                  <a:ext uri="{FF2B5EF4-FFF2-40B4-BE49-F238E27FC236}">
                    <a16:creationId xmlns:a16="http://schemas.microsoft.com/office/drawing/2014/main" id="{BCA01FA5-DCB6-9BB4-5613-C0B713A426BA}"/>
                  </a:ext>
                </a:extLst>
              </p:cNvPr>
              <p:cNvSpPr txBox="1"/>
              <p:nvPr/>
            </p:nvSpPr>
            <p:spPr>
              <a:xfrm>
                <a:off x="8280" y="4983"/>
                <a:ext cx="2352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</a:rPr>
                  <a:t>50+ Scenes</a:t>
                </a:r>
              </a:p>
            </p:txBody>
          </p:sp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6A1AA8AA-508A-6BCA-7071-E2E5A15EE825}"/>
                  </a:ext>
                </a:extLst>
              </p:cNvPr>
              <p:cNvSpPr txBox="1"/>
              <p:nvPr/>
            </p:nvSpPr>
            <p:spPr>
              <a:xfrm>
                <a:off x="8280" y="5400"/>
                <a:ext cx="2352" cy="38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" panose="020B0500000000000000" pitchFamily="34" charset="-122"/>
                  </a:rPr>
                  <a:t>生态资源整合</a:t>
                </a:r>
              </a:p>
            </p:txBody>
          </p:sp>
        </p:grpSp>
        <p:sp>
          <p:nvSpPr>
            <p:cNvPr id="378" name="文本框 377">
              <a:extLst>
                <a:ext uri="{FF2B5EF4-FFF2-40B4-BE49-F238E27FC236}">
                  <a16:creationId xmlns:a16="http://schemas.microsoft.com/office/drawing/2014/main" id="{4317A85C-64A9-2771-2D74-348B758ADA44}"/>
                </a:ext>
              </a:extLst>
            </p:cNvPr>
            <p:cNvSpPr txBox="1"/>
            <p:nvPr/>
          </p:nvSpPr>
          <p:spPr>
            <a:xfrm>
              <a:off x="8280" y="9306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1A8D9109-74E8-B822-15AC-55C2A6086EDB}"/>
                </a:ext>
              </a:extLst>
            </p:cNvPr>
            <p:cNvSpPr txBox="1"/>
            <p:nvPr/>
          </p:nvSpPr>
          <p:spPr>
            <a:xfrm>
              <a:off x="8280" y="9723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云助生态扩容</a:t>
              </a:r>
            </a:p>
          </p:txBody>
        </p:sp>
        <p:sp>
          <p:nvSpPr>
            <p:cNvPr id="380" name="文本框 379">
              <a:extLst>
                <a:ext uri="{FF2B5EF4-FFF2-40B4-BE49-F238E27FC236}">
                  <a16:creationId xmlns:a16="http://schemas.microsoft.com/office/drawing/2014/main" id="{7252F3A5-8B6F-19D5-081F-4F3CA3F99DAD}"/>
                </a:ext>
              </a:extLst>
            </p:cNvPr>
            <p:cNvSpPr txBox="1"/>
            <p:nvPr/>
          </p:nvSpPr>
          <p:spPr>
            <a:xfrm>
              <a:off x="8280" y="482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381" name="文本框 380">
              <a:extLst>
                <a:ext uri="{FF2B5EF4-FFF2-40B4-BE49-F238E27FC236}">
                  <a16:creationId xmlns:a16="http://schemas.microsoft.com/office/drawing/2014/main" id="{C76EF154-6A70-630F-19AF-7E3112708356}"/>
                </a:ext>
              </a:extLst>
            </p:cNvPr>
            <p:cNvSpPr txBox="1"/>
            <p:nvPr/>
          </p:nvSpPr>
          <p:spPr>
            <a:xfrm>
              <a:off x="8280" y="899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云筑数字根基</a:t>
              </a:r>
            </a:p>
          </p:txBody>
        </p:sp>
      </p:grpSp>
      <p:grpSp>
        <p:nvGrpSpPr>
          <p:cNvPr id="393" name="组合 392">
            <a:extLst>
              <a:ext uri="{FF2B5EF4-FFF2-40B4-BE49-F238E27FC236}">
                <a16:creationId xmlns:a16="http://schemas.microsoft.com/office/drawing/2014/main" id="{216AF25F-F608-0C35-493C-257A599239FC}"/>
              </a:ext>
            </a:extLst>
          </p:cNvPr>
          <p:cNvGrpSpPr/>
          <p:nvPr/>
        </p:nvGrpSpPr>
        <p:grpSpPr>
          <a:xfrm>
            <a:off x="9944100" y="0"/>
            <a:ext cx="1598295" cy="6857365"/>
            <a:chOff x="15660" y="0"/>
            <a:chExt cx="2517" cy="10799"/>
          </a:xfrm>
        </p:grpSpPr>
        <p:sp>
          <p:nvSpPr>
            <p:cNvPr id="394" name="矩形 393">
              <a:extLst>
                <a:ext uri="{FF2B5EF4-FFF2-40B4-BE49-F238E27FC236}">
                  <a16:creationId xmlns:a16="http://schemas.microsoft.com/office/drawing/2014/main" id="{F2C868F2-99C0-5BE5-919A-DF6E67146ABB}"/>
                </a:ext>
              </a:extLst>
            </p:cNvPr>
            <p:cNvSpPr/>
            <p:nvPr/>
          </p:nvSpPr>
          <p:spPr>
            <a:xfrm>
              <a:off x="15660" y="0"/>
              <a:ext cx="2352" cy="2108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95" name="矩形 394">
              <a:extLst>
                <a:ext uri="{FF2B5EF4-FFF2-40B4-BE49-F238E27FC236}">
                  <a16:creationId xmlns:a16="http://schemas.microsoft.com/office/drawing/2014/main" id="{5E29B361-F54F-300D-0CCD-D53002D8CE14}"/>
                </a:ext>
              </a:extLst>
            </p:cNvPr>
            <p:cNvSpPr/>
            <p:nvPr/>
          </p:nvSpPr>
          <p:spPr>
            <a:xfrm>
              <a:off x="15660" y="2173"/>
              <a:ext cx="2352" cy="2108"/>
            </a:xfrm>
            <a:prstGeom prst="rect">
              <a:avLst/>
            </a:prstGeom>
            <a:pattFill prst="pct5">
              <a:fgClr>
                <a:srgbClr val="FFFFFF">
                  <a:lumMod val="75000"/>
                </a:srgbClr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96" name="矩形 395">
              <a:extLst>
                <a:ext uri="{FF2B5EF4-FFF2-40B4-BE49-F238E27FC236}">
                  <a16:creationId xmlns:a16="http://schemas.microsoft.com/office/drawing/2014/main" id="{DD6E33BB-EA1B-E937-1BD2-948DCF35F826}"/>
                </a:ext>
              </a:extLst>
            </p:cNvPr>
            <p:cNvSpPr/>
            <p:nvPr/>
          </p:nvSpPr>
          <p:spPr>
            <a:xfrm>
              <a:off x="15660" y="4345"/>
              <a:ext cx="2352" cy="210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97" name="矩形 396">
              <a:extLst>
                <a:ext uri="{FF2B5EF4-FFF2-40B4-BE49-F238E27FC236}">
                  <a16:creationId xmlns:a16="http://schemas.microsoft.com/office/drawing/2014/main" id="{913EADFE-5E1B-BFC2-A402-2FFF471B01EA}"/>
                </a:ext>
              </a:extLst>
            </p:cNvPr>
            <p:cNvSpPr/>
            <p:nvPr/>
          </p:nvSpPr>
          <p:spPr>
            <a:xfrm>
              <a:off x="15660" y="8691"/>
              <a:ext cx="2352" cy="2108"/>
            </a:xfrm>
            <a:prstGeom prst="rect">
              <a:avLst/>
            </a:prstGeom>
            <a:solidFill>
              <a:srgbClr val="FFFFFF">
                <a:lumMod val="75000"/>
              </a:srgbClr>
            </a:solidFill>
            <a:ln>
              <a:noFill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398" name="组合 397">
              <a:extLst>
                <a:ext uri="{FF2B5EF4-FFF2-40B4-BE49-F238E27FC236}">
                  <a16:creationId xmlns:a16="http://schemas.microsoft.com/office/drawing/2014/main" id="{D1146420-1EE6-D41A-D570-635AABD25EAC}"/>
                </a:ext>
              </a:extLst>
            </p:cNvPr>
            <p:cNvGrpSpPr/>
            <p:nvPr/>
          </p:nvGrpSpPr>
          <p:grpSpPr>
            <a:xfrm>
              <a:off x="15660" y="2466"/>
              <a:ext cx="2352" cy="1501"/>
              <a:chOff x="8280" y="2466"/>
              <a:chExt cx="2352" cy="1501"/>
            </a:xfrm>
          </p:grpSpPr>
          <p:sp>
            <p:nvSpPr>
              <p:cNvPr id="410" name="文本框 409">
                <a:extLst>
                  <a:ext uri="{FF2B5EF4-FFF2-40B4-BE49-F238E27FC236}">
                    <a16:creationId xmlns:a16="http://schemas.microsoft.com/office/drawing/2014/main" id="{24062FED-36F9-7307-3580-0319113342DF}"/>
                  </a:ext>
                </a:extLst>
              </p:cNvPr>
              <p:cNvSpPr txBox="1"/>
              <p:nvPr/>
            </p:nvSpPr>
            <p:spPr>
              <a:xfrm>
                <a:off x="8280" y="2905"/>
                <a:ext cx="2352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58%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赋能</a:t>
                </a:r>
              </a:p>
            </p:txBody>
          </p:sp>
          <p:sp>
            <p:nvSpPr>
              <p:cNvPr id="411" name="文本框 410">
                <a:extLst>
                  <a:ext uri="{FF2B5EF4-FFF2-40B4-BE49-F238E27FC236}">
                    <a16:creationId xmlns:a16="http://schemas.microsoft.com/office/drawing/2014/main" id="{7985BF67-502E-43B9-C2CA-3A185CAE49DE}"/>
                  </a:ext>
                </a:extLst>
              </p:cNvPr>
              <p:cNvSpPr txBox="1"/>
              <p:nvPr/>
            </p:nvSpPr>
            <p:spPr>
              <a:xfrm>
                <a:off x="8280" y="3630"/>
                <a:ext cx="2349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/>
                    <a:cs typeface="Fluent Thin" charset="0"/>
                    <a:sym typeface="+mn-ea"/>
                  </a:rPr>
                  <a:t>99% performance</a:t>
                </a:r>
              </a:p>
            </p:txBody>
          </p:sp>
          <p:sp>
            <p:nvSpPr>
              <p:cNvPr id="412" name="椭圆 411">
                <a:extLst>
                  <a:ext uri="{FF2B5EF4-FFF2-40B4-BE49-F238E27FC236}">
                    <a16:creationId xmlns:a16="http://schemas.microsoft.com/office/drawing/2014/main" id="{13282955-08FA-8847-6DCE-1D6B0183A14B}"/>
                  </a:ext>
                </a:extLst>
              </p:cNvPr>
              <p:cNvSpPr/>
              <p:nvPr/>
            </p:nvSpPr>
            <p:spPr>
              <a:xfrm>
                <a:off x="8468" y="2466"/>
                <a:ext cx="426" cy="426"/>
              </a:xfrm>
              <a:prstGeom prst="ellipse">
                <a:avLst/>
              </a:prstGeom>
              <a:solidFill>
                <a:srgbClr val="3C007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413" name="图片 69" descr="首页_home (9)">
                <a:extLst>
                  <a:ext uri="{FF2B5EF4-FFF2-40B4-BE49-F238E27FC236}">
                    <a16:creationId xmlns:a16="http://schemas.microsoft.com/office/drawing/2014/main" id="{F3212A12-C739-D6A6-C8F8-BB331B602E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543" y="2526"/>
                <a:ext cx="276" cy="276"/>
              </a:xfrm>
              <a:prstGeom prst="rect">
                <a:avLst/>
              </a:prstGeom>
            </p:spPr>
          </p:pic>
        </p:grpSp>
        <p:sp>
          <p:nvSpPr>
            <p:cNvPr id="399" name="文本框 398">
              <a:extLst>
                <a:ext uri="{FF2B5EF4-FFF2-40B4-BE49-F238E27FC236}">
                  <a16:creationId xmlns:a16="http://schemas.microsoft.com/office/drawing/2014/main" id="{B6841E07-656B-39A2-0338-F5101338138C}"/>
                </a:ext>
              </a:extLst>
            </p:cNvPr>
            <p:cNvSpPr txBox="1"/>
            <p:nvPr/>
          </p:nvSpPr>
          <p:spPr>
            <a:xfrm>
              <a:off x="15660" y="4983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400" name="文本框 399">
              <a:extLst>
                <a:ext uri="{FF2B5EF4-FFF2-40B4-BE49-F238E27FC236}">
                  <a16:creationId xmlns:a16="http://schemas.microsoft.com/office/drawing/2014/main" id="{DB076A24-F05D-C499-FEC2-E0E041D721B6}"/>
                </a:ext>
              </a:extLst>
            </p:cNvPr>
            <p:cNvSpPr txBox="1"/>
            <p:nvPr/>
          </p:nvSpPr>
          <p:spPr>
            <a:xfrm>
              <a:off x="15660" y="5400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云赋生态活力</a:t>
              </a:r>
            </a:p>
          </p:txBody>
        </p:sp>
        <p:sp>
          <p:nvSpPr>
            <p:cNvPr id="401" name="文本框 400">
              <a:extLst>
                <a:ext uri="{FF2B5EF4-FFF2-40B4-BE49-F238E27FC236}">
                  <a16:creationId xmlns:a16="http://schemas.microsoft.com/office/drawing/2014/main" id="{2D32A3C9-3386-6C1A-868A-2F89B199EB9F}"/>
                </a:ext>
              </a:extLst>
            </p:cNvPr>
            <p:cNvSpPr txBox="1"/>
            <p:nvPr/>
          </p:nvSpPr>
          <p:spPr>
            <a:xfrm>
              <a:off x="15825" y="9306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402" name="文本框 401">
              <a:extLst>
                <a:ext uri="{FF2B5EF4-FFF2-40B4-BE49-F238E27FC236}">
                  <a16:creationId xmlns:a16="http://schemas.microsoft.com/office/drawing/2014/main" id="{DE81052F-E6CD-0A9A-3DAE-99C10900E64D}"/>
                </a:ext>
              </a:extLst>
            </p:cNvPr>
            <p:cNvSpPr txBox="1"/>
            <p:nvPr/>
          </p:nvSpPr>
          <p:spPr>
            <a:xfrm>
              <a:off x="15825" y="9723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风险闭环管控</a:t>
              </a:r>
            </a:p>
          </p:txBody>
        </p:sp>
        <p:sp>
          <p:nvSpPr>
            <p:cNvPr id="403" name="文本框 402">
              <a:extLst>
                <a:ext uri="{FF2B5EF4-FFF2-40B4-BE49-F238E27FC236}">
                  <a16:creationId xmlns:a16="http://schemas.microsoft.com/office/drawing/2014/main" id="{FDA60E04-1FC6-342C-0EE0-1A0A26DC4693}"/>
                </a:ext>
              </a:extLst>
            </p:cNvPr>
            <p:cNvSpPr txBox="1"/>
            <p:nvPr/>
          </p:nvSpPr>
          <p:spPr>
            <a:xfrm>
              <a:off x="15825" y="482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404" name="文本框 403">
              <a:extLst>
                <a:ext uri="{FF2B5EF4-FFF2-40B4-BE49-F238E27FC236}">
                  <a16:creationId xmlns:a16="http://schemas.microsoft.com/office/drawing/2014/main" id="{2C92A85A-1F3E-FBFE-DA32-465DF838F47A}"/>
                </a:ext>
              </a:extLst>
            </p:cNvPr>
            <p:cNvSpPr txBox="1"/>
            <p:nvPr/>
          </p:nvSpPr>
          <p:spPr>
            <a:xfrm>
              <a:off x="15825" y="899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数据互通流转</a:t>
              </a:r>
            </a:p>
          </p:txBody>
        </p:sp>
        <p:grpSp>
          <p:nvGrpSpPr>
            <p:cNvPr id="405" name="组合 404">
              <a:extLst>
                <a:ext uri="{FF2B5EF4-FFF2-40B4-BE49-F238E27FC236}">
                  <a16:creationId xmlns:a16="http://schemas.microsoft.com/office/drawing/2014/main" id="{139D52D0-2661-6F54-CC5C-7035CE5636F7}"/>
                </a:ext>
              </a:extLst>
            </p:cNvPr>
            <p:cNvGrpSpPr/>
            <p:nvPr/>
          </p:nvGrpSpPr>
          <p:grpSpPr>
            <a:xfrm>
              <a:off x="15660" y="6518"/>
              <a:ext cx="2352" cy="2108"/>
              <a:chOff x="15660" y="6518"/>
              <a:chExt cx="2352" cy="2108"/>
            </a:xfrm>
            <a:effectLst>
              <a:outerShdw blurRad="749300" dist="482600" dir="3000000" sx="94000" sy="94000" algn="t" rotWithShape="0">
                <a:prstClr val="black">
                  <a:alpha val="46000"/>
                </a:prstClr>
              </a:outerShdw>
            </a:effectLst>
          </p:grpSpPr>
          <p:sp>
            <p:nvSpPr>
              <p:cNvPr id="406" name="矩形 405">
                <a:extLst>
                  <a:ext uri="{FF2B5EF4-FFF2-40B4-BE49-F238E27FC236}">
                    <a16:creationId xmlns:a16="http://schemas.microsoft.com/office/drawing/2014/main" id="{6005205B-A8F0-BE88-2C88-3B4D6CFCDF8E}"/>
                  </a:ext>
                </a:extLst>
              </p:cNvPr>
              <p:cNvSpPr/>
              <p:nvPr/>
            </p:nvSpPr>
            <p:spPr>
              <a:xfrm>
                <a:off x="15660" y="6518"/>
                <a:ext cx="2352" cy="2108"/>
              </a:xfrm>
              <a:prstGeom prst="rect">
                <a:avLst/>
              </a:prstGeom>
              <a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407" name="矩形 406">
                <a:extLst>
                  <a:ext uri="{FF2B5EF4-FFF2-40B4-BE49-F238E27FC236}">
                    <a16:creationId xmlns:a16="http://schemas.microsoft.com/office/drawing/2014/main" id="{0B410133-554B-F09F-6019-0F7613FE4EDE}"/>
                  </a:ext>
                </a:extLst>
              </p:cNvPr>
              <p:cNvSpPr/>
              <p:nvPr/>
            </p:nvSpPr>
            <p:spPr>
              <a:xfrm>
                <a:off x="15660" y="6518"/>
                <a:ext cx="2352" cy="2108"/>
              </a:xfrm>
              <a:prstGeom prst="rect">
                <a:avLst/>
              </a:prstGeom>
              <a:solidFill>
                <a:srgbClr val="3C007F">
                  <a:alpha val="87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408" name="文本框 407">
                <a:extLst>
                  <a:ext uri="{FF2B5EF4-FFF2-40B4-BE49-F238E27FC236}">
                    <a16:creationId xmlns:a16="http://schemas.microsoft.com/office/drawing/2014/main" id="{5CBB6612-E0DF-D123-DB7F-2DD75AB214E2}"/>
                  </a:ext>
                </a:extLst>
              </p:cNvPr>
              <p:cNvSpPr txBox="1"/>
              <p:nvPr/>
            </p:nvSpPr>
            <p:spPr>
              <a:xfrm>
                <a:off x="15660" y="6967"/>
                <a:ext cx="2353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</a:rPr>
                  <a:t>27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</a:rPr>
                  <a:t>天</a:t>
                </a:r>
              </a:p>
            </p:txBody>
          </p:sp>
          <p:sp>
            <p:nvSpPr>
              <p:cNvPr id="409" name="文本框 408">
                <a:extLst>
                  <a:ext uri="{FF2B5EF4-FFF2-40B4-BE49-F238E27FC236}">
                    <a16:creationId xmlns:a16="http://schemas.microsoft.com/office/drawing/2014/main" id="{4FADAC25-E798-C3C5-9213-D678E842D463}"/>
                  </a:ext>
                </a:extLst>
              </p:cNvPr>
              <p:cNvSpPr txBox="1"/>
              <p:nvPr/>
            </p:nvSpPr>
            <p:spPr>
              <a:xfrm>
                <a:off x="15660" y="7789"/>
                <a:ext cx="235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Enterprise Digital Technology Application</a:t>
                </a:r>
              </a:p>
            </p:txBody>
          </p:sp>
        </p:grpSp>
      </p:grpSp>
      <p:grpSp>
        <p:nvGrpSpPr>
          <p:cNvPr id="414" name="组合 413">
            <a:extLst>
              <a:ext uri="{FF2B5EF4-FFF2-40B4-BE49-F238E27FC236}">
                <a16:creationId xmlns:a16="http://schemas.microsoft.com/office/drawing/2014/main" id="{50FCBB6E-BC5D-756C-46C3-53F3096BB3E1}"/>
              </a:ext>
            </a:extLst>
          </p:cNvPr>
          <p:cNvGrpSpPr/>
          <p:nvPr/>
        </p:nvGrpSpPr>
        <p:grpSpPr>
          <a:xfrm>
            <a:off x="8379460" y="0"/>
            <a:ext cx="1497965" cy="6857365"/>
            <a:chOff x="13196" y="0"/>
            <a:chExt cx="2359" cy="10799"/>
          </a:xfrm>
        </p:grpSpPr>
        <p:sp>
          <p:nvSpPr>
            <p:cNvPr id="415" name="矩形 414">
              <a:extLst>
                <a:ext uri="{FF2B5EF4-FFF2-40B4-BE49-F238E27FC236}">
                  <a16:creationId xmlns:a16="http://schemas.microsoft.com/office/drawing/2014/main" id="{0230454F-FCA9-51D4-E7C1-2B712728397F}"/>
                </a:ext>
              </a:extLst>
            </p:cNvPr>
            <p:cNvSpPr/>
            <p:nvPr/>
          </p:nvSpPr>
          <p:spPr>
            <a:xfrm>
              <a:off x="13200" y="2173"/>
              <a:ext cx="2352" cy="2108"/>
            </a:xfrm>
            <a:prstGeom prst="rect">
              <a:avLst/>
            </a:prstGeom>
            <a:pattFill prst="pct5">
              <a:fgClr>
                <a:srgbClr val="FFFFFF">
                  <a:lumMod val="75000"/>
                </a:srgbClr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16" name="矩形 415">
              <a:extLst>
                <a:ext uri="{FF2B5EF4-FFF2-40B4-BE49-F238E27FC236}">
                  <a16:creationId xmlns:a16="http://schemas.microsoft.com/office/drawing/2014/main" id="{D7A1D68E-A271-3C59-D44E-F37FBF36238D}"/>
                </a:ext>
              </a:extLst>
            </p:cNvPr>
            <p:cNvSpPr/>
            <p:nvPr/>
          </p:nvSpPr>
          <p:spPr>
            <a:xfrm>
              <a:off x="13200" y="4345"/>
              <a:ext cx="2352" cy="2108"/>
            </a:xfrm>
            <a:prstGeom prst="rect">
              <a:avLst/>
            </a:prstGeom>
            <a:pattFill prst="pct5">
              <a:fgClr>
                <a:srgbClr val="FFFFFF">
                  <a:lumMod val="75000"/>
                </a:srgbClr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17" name="矩形 416">
              <a:extLst>
                <a:ext uri="{FF2B5EF4-FFF2-40B4-BE49-F238E27FC236}">
                  <a16:creationId xmlns:a16="http://schemas.microsoft.com/office/drawing/2014/main" id="{B9FB00C6-1072-7589-E712-7D0A3112A36A}"/>
                </a:ext>
              </a:extLst>
            </p:cNvPr>
            <p:cNvSpPr/>
            <p:nvPr/>
          </p:nvSpPr>
          <p:spPr>
            <a:xfrm>
              <a:off x="13200" y="6518"/>
              <a:ext cx="2352" cy="2108"/>
            </a:xfrm>
            <a:prstGeom prst="rect">
              <a:avLst/>
            </a:prstGeom>
            <a:pattFill prst="pct5">
              <a:fgClr>
                <a:srgbClr val="FFFFFF">
                  <a:lumMod val="75000"/>
                </a:srgbClr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18" name="矩形 417">
              <a:extLst>
                <a:ext uri="{FF2B5EF4-FFF2-40B4-BE49-F238E27FC236}">
                  <a16:creationId xmlns:a16="http://schemas.microsoft.com/office/drawing/2014/main" id="{078A48DC-DA90-286A-3308-5E98C3713518}"/>
                </a:ext>
              </a:extLst>
            </p:cNvPr>
            <p:cNvSpPr/>
            <p:nvPr/>
          </p:nvSpPr>
          <p:spPr>
            <a:xfrm>
              <a:off x="13200" y="8691"/>
              <a:ext cx="2352" cy="2108"/>
            </a:xfrm>
            <a:prstGeom prst="rect">
              <a:avLst/>
            </a:prstGeom>
            <a:pattFill prst="pct5">
              <a:fgClr>
                <a:srgbClr val="FFFFFF">
                  <a:lumMod val="75000"/>
                </a:srgbClr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419" name="组合 418">
              <a:extLst>
                <a:ext uri="{FF2B5EF4-FFF2-40B4-BE49-F238E27FC236}">
                  <a16:creationId xmlns:a16="http://schemas.microsoft.com/office/drawing/2014/main" id="{B563DF59-F8AA-00EB-65CD-986A7D68803B}"/>
                </a:ext>
              </a:extLst>
            </p:cNvPr>
            <p:cNvGrpSpPr/>
            <p:nvPr/>
          </p:nvGrpSpPr>
          <p:grpSpPr>
            <a:xfrm>
              <a:off x="13203" y="2466"/>
              <a:ext cx="2352" cy="1501"/>
              <a:chOff x="8280" y="2466"/>
              <a:chExt cx="2352" cy="1501"/>
            </a:xfrm>
          </p:grpSpPr>
          <p:sp>
            <p:nvSpPr>
              <p:cNvPr id="437" name="文本框 436">
                <a:extLst>
                  <a:ext uri="{FF2B5EF4-FFF2-40B4-BE49-F238E27FC236}">
                    <a16:creationId xmlns:a16="http://schemas.microsoft.com/office/drawing/2014/main" id="{019D223D-CC7C-DCBA-23B3-51CA42947810}"/>
                  </a:ext>
                </a:extLst>
              </p:cNvPr>
              <p:cNvSpPr txBox="1"/>
              <p:nvPr/>
            </p:nvSpPr>
            <p:spPr>
              <a:xfrm>
                <a:off x="8280" y="2905"/>
                <a:ext cx="2352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56%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互通</a:t>
                </a:r>
              </a:p>
            </p:txBody>
          </p:sp>
          <p:sp>
            <p:nvSpPr>
              <p:cNvPr id="438" name="文本框 437">
                <a:extLst>
                  <a:ext uri="{FF2B5EF4-FFF2-40B4-BE49-F238E27FC236}">
                    <a16:creationId xmlns:a16="http://schemas.microsoft.com/office/drawing/2014/main" id="{F3EC0DE6-1469-DCBD-B386-B802EA6EC972}"/>
                  </a:ext>
                </a:extLst>
              </p:cNvPr>
              <p:cNvSpPr txBox="1"/>
              <p:nvPr/>
            </p:nvSpPr>
            <p:spPr>
              <a:xfrm>
                <a:off x="8280" y="3630"/>
                <a:ext cx="2349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/>
                    <a:cs typeface="Fluent Thin" charset="0"/>
                    <a:sym typeface="+mn-ea"/>
                  </a:rPr>
                  <a:t>99% performance</a:t>
                </a:r>
              </a:p>
            </p:txBody>
          </p:sp>
          <p:sp>
            <p:nvSpPr>
              <p:cNvPr id="439" name="椭圆 438">
                <a:extLst>
                  <a:ext uri="{FF2B5EF4-FFF2-40B4-BE49-F238E27FC236}">
                    <a16:creationId xmlns:a16="http://schemas.microsoft.com/office/drawing/2014/main" id="{E71AD099-E0AF-DFCC-AA8A-C37C52ADBC74}"/>
                  </a:ext>
                </a:extLst>
              </p:cNvPr>
              <p:cNvSpPr/>
              <p:nvPr/>
            </p:nvSpPr>
            <p:spPr>
              <a:xfrm>
                <a:off x="8468" y="2466"/>
                <a:ext cx="426" cy="426"/>
              </a:xfrm>
              <a:prstGeom prst="ellipse">
                <a:avLst/>
              </a:prstGeom>
              <a:solidFill>
                <a:srgbClr val="3C007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440" name="图片 49" descr="首页_home (9)">
                <a:extLst>
                  <a:ext uri="{FF2B5EF4-FFF2-40B4-BE49-F238E27FC236}">
                    <a16:creationId xmlns:a16="http://schemas.microsoft.com/office/drawing/2014/main" id="{A8FABB59-F9DD-6435-E5FC-98C233230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543" y="2526"/>
                <a:ext cx="276" cy="276"/>
              </a:xfrm>
              <a:prstGeom prst="rect">
                <a:avLst/>
              </a:prstGeom>
            </p:spPr>
          </p:pic>
        </p:grpSp>
        <p:grpSp>
          <p:nvGrpSpPr>
            <p:cNvPr id="420" name="组合 419">
              <a:extLst>
                <a:ext uri="{FF2B5EF4-FFF2-40B4-BE49-F238E27FC236}">
                  <a16:creationId xmlns:a16="http://schemas.microsoft.com/office/drawing/2014/main" id="{CE6013F5-0A71-0C66-4EA8-4F734334AC35}"/>
                </a:ext>
              </a:extLst>
            </p:cNvPr>
            <p:cNvGrpSpPr/>
            <p:nvPr/>
          </p:nvGrpSpPr>
          <p:grpSpPr>
            <a:xfrm>
              <a:off x="13200" y="6722"/>
              <a:ext cx="2352" cy="1501"/>
              <a:chOff x="8280" y="2466"/>
              <a:chExt cx="2352" cy="1501"/>
            </a:xfrm>
          </p:grpSpPr>
          <p:sp>
            <p:nvSpPr>
              <p:cNvPr id="433" name="文本框 432">
                <a:extLst>
                  <a:ext uri="{FF2B5EF4-FFF2-40B4-BE49-F238E27FC236}">
                    <a16:creationId xmlns:a16="http://schemas.microsoft.com/office/drawing/2014/main" id="{2539421D-3F50-63E0-0589-6E95CAA9D86E}"/>
                  </a:ext>
                </a:extLst>
              </p:cNvPr>
              <p:cNvSpPr txBox="1"/>
              <p:nvPr/>
            </p:nvSpPr>
            <p:spPr>
              <a:xfrm>
                <a:off x="8280" y="2905"/>
                <a:ext cx="2352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25%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协同</a:t>
                </a:r>
              </a:p>
            </p:txBody>
          </p:sp>
          <p:sp>
            <p:nvSpPr>
              <p:cNvPr id="434" name="文本框 433">
                <a:extLst>
                  <a:ext uri="{FF2B5EF4-FFF2-40B4-BE49-F238E27FC236}">
                    <a16:creationId xmlns:a16="http://schemas.microsoft.com/office/drawing/2014/main" id="{BBAFB30B-9D32-CC87-2B8C-71DC6831B29E}"/>
                  </a:ext>
                </a:extLst>
              </p:cNvPr>
              <p:cNvSpPr txBox="1"/>
              <p:nvPr/>
            </p:nvSpPr>
            <p:spPr>
              <a:xfrm>
                <a:off x="8280" y="3630"/>
                <a:ext cx="2349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/>
                    <a:cs typeface="Fluent Thin" charset="0"/>
                    <a:sym typeface="+mn-ea"/>
                  </a:rPr>
                  <a:t>99% performance</a:t>
                </a:r>
              </a:p>
            </p:txBody>
          </p:sp>
          <p:sp>
            <p:nvSpPr>
              <p:cNvPr id="435" name="椭圆 434">
                <a:extLst>
                  <a:ext uri="{FF2B5EF4-FFF2-40B4-BE49-F238E27FC236}">
                    <a16:creationId xmlns:a16="http://schemas.microsoft.com/office/drawing/2014/main" id="{4AD1B3B3-6F07-F3D3-F288-D08815A0E364}"/>
                  </a:ext>
                </a:extLst>
              </p:cNvPr>
              <p:cNvSpPr/>
              <p:nvPr/>
            </p:nvSpPr>
            <p:spPr>
              <a:xfrm>
                <a:off x="8468" y="2466"/>
                <a:ext cx="426" cy="426"/>
              </a:xfrm>
              <a:prstGeom prst="ellipse">
                <a:avLst/>
              </a:prstGeom>
              <a:solidFill>
                <a:srgbClr val="3C007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436" name="图片 59" descr="首页_home (9)">
                <a:extLst>
                  <a:ext uri="{FF2B5EF4-FFF2-40B4-BE49-F238E27FC236}">
                    <a16:creationId xmlns:a16="http://schemas.microsoft.com/office/drawing/2014/main" id="{B918D4DC-717B-0CDF-939E-89DDBFFB3C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543" y="2526"/>
                <a:ext cx="276" cy="276"/>
              </a:xfrm>
              <a:prstGeom prst="rect">
                <a:avLst/>
              </a:prstGeom>
            </p:spPr>
          </p:pic>
        </p:grpSp>
        <p:grpSp>
          <p:nvGrpSpPr>
            <p:cNvPr id="421" name="组合 420">
              <a:extLst>
                <a:ext uri="{FF2B5EF4-FFF2-40B4-BE49-F238E27FC236}">
                  <a16:creationId xmlns:a16="http://schemas.microsoft.com/office/drawing/2014/main" id="{DDE85EA5-2055-5D5A-77BD-B655E4D4A9B8}"/>
                </a:ext>
              </a:extLst>
            </p:cNvPr>
            <p:cNvGrpSpPr/>
            <p:nvPr/>
          </p:nvGrpSpPr>
          <p:grpSpPr>
            <a:xfrm>
              <a:off x="13203" y="9042"/>
              <a:ext cx="2352" cy="1501"/>
              <a:chOff x="8280" y="2466"/>
              <a:chExt cx="2352" cy="1501"/>
            </a:xfrm>
          </p:grpSpPr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BDA26648-353A-416D-EF45-4F5953F4B686}"/>
                  </a:ext>
                </a:extLst>
              </p:cNvPr>
              <p:cNvSpPr txBox="1"/>
              <p:nvPr/>
            </p:nvSpPr>
            <p:spPr>
              <a:xfrm>
                <a:off x="8280" y="2905"/>
                <a:ext cx="2352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35%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支撑</a:t>
                </a:r>
              </a:p>
            </p:txBody>
          </p:sp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6C7F227E-322B-A483-0BFD-06F9F56F1E6C}"/>
                  </a:ext>
                </a:extLst>
              </p:cNvPr>
              <p:cNvSpPr txBox="1"/>
              <p:nvPr/>
            </p:nvSpPr>
            <p:spPr>
              <a:xfrm>
                <a:off x="8280" y="3630"/>
                <a:ext cx="2349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/>
                    <a:cs typeface="Fluent Thin" charset="0"/>
                    <a:sym typeface="+mn-ea"/>
                  </a:rPr>
                  <a:t>99% performance</a:t>
                </a:r>
              </a:p>
            </p:txBody>
          </p:sp>
          <p:sp>
            <p:nvSpPr>
              <p:cNvPr id="431" name="椭圆 430">
                <a:extLst>
                  <a:ext uri="{FF2B5EF4-FFF2-40B4-BE49-F238E27FC236}">
                    <a16:creationId xmlns:a16="http://schemas.microsoft.com/office/drawing/2014/main" id="{8EBFAE7E-B7AE-F2AC-7544-484D4DBA001F}"/>
                  </a:ext>
                </a:extLst>
              </p:cNvPr>
              <p:cNvSpPr/>
              <p:nvPr/>
            </p:nvSpPr>
            <p:spPr>
              <a:xfrm>
                <a:off x="8468" y="2466"/>
                <a:ext cx="426" cy="426"/>
              </a:xfrm>
              <a:prstGeom prst="ellipse">
                <a:avLst/>
              </a:prstGeom>
              <a:solidFill>
                <a:srgbClr val="3C007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432" name="图片 74" descr="首页_home (9)">
                <a:extLst>
                  <a:ext uri="{FF2B5EF4-FFF2-40B4-BE49-F238E27FC236}">
                    <a16:creationId xmlns:a16="http://schemas.microsoft.com/office/drawing/2014/main" id="{C1342FF3-A8CA-CFB2-6B4B-713B11A0E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543" y="2526"/>
                <a:ext cx="276" cy="276"/>
              </a:xfrm>
              <a:prstGeom prst="rect">
                <a:avLst/>
              </a:prstGeom>
            </p:spPr>
          </p:pic>
        </p:grpSp>
        <p:sp>
          <p:nvSpPr>
            <p:cNvPr id="422" name="文本框 421">
              <a:extLst>
                <a:ext uri="{FF2B5EF4-FFF2-40B4-BE49-F238E27FC236}">
                  <a16:creationId xmlns:a16="http://schemas.microsoft.com/office/drawing/2014/main" id="{E55378E8-5072-985D-AC89-432C9413F534}"/>
                </a:ext>
              </a:extLst>
            </p:cNvPr>
            <p:cNvSpPr txBox="1"/>
            <p:nvPr/>
          </p:nvSpPr>
          <p:spPr>
            <a:xfrm>
              <a:off x="13197" y="4983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423" name="文本框 422">
              <a:extLst>
                <a:ext uri="{FF2B5EF4-FFF2-40B4-BE49-F238E27FC236}">
                  <a16:creationId xmlns:a16="http://schemas.microsoft.com/office/drawing/2014/main" id="{012B731E-036A-21F1-0A97-79E81CEAB846}"/>
                </a:ext>
              </a:extLst>
            </p:cNvPr>
            <p:cNvSpPr txBox="1"/>
            <p:nvPr/>
          </p:nvSpPr>
          <p:spPr>
            <a:xfrm>
              <a:off x="13197" y="5400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云赋生态活力</a:t>
              </a:r>
            </a:p>
          </p:txBody>
        </p:sp>
        <p:grpSp>
          <p:nvGrpSpPr>
            <p:cNvPr id="424" name="组合 423">
              <a:extLst>
                <a:ext uri="{FF2B5EF4-FFF2-40B4-BE49-F238E27FC236}">
                  <a16:creationId xmlns:a16="http://schemas.microsoft.com/office/drawing/2014/main" id="{36E25F90-6B1E-E55D-002B-F1609E9A0712}"/>
                </a:ext>
              </a:extLst>
            </p:cNvPr>
            <p:cNvGrpSpPr/>
            <p:nvPr/>
          </p:nvGrpSpPr>
          <p:grpSpPr>
            <a:xfrm>
              <a:off x="13196" y="0"/>
              <a:ext cx="2356" cy="2108"/>
              <a:chOff x="13196" y="0"/>
              <a:chExt cx="2356" cy="2108"/>
            </a:xfrm>
            <a:effectLst>
              <a:outerShdw blurRad="749300" dist="482600" dir="3000000" sx="94000" sy="94000" algn="t" rotWithShape="0">
                <a:prstClr val="black">
                  <a:alpha val="46000"/>
                </a:prstClr>
              </a:outerShdw>
            </a:effectLst>
          </p:grpSpPr>
          <p:sp>
            <p:nvSpPr>
              <p:cNvPr id="425" name="矩形 424">
                <a:extLst>
                  <a:ext uri="{FF2B5EF4-FFF2-40B4-BE49-F238E27FC236}">
                    <a16:creationId xmlns:a16="http://schemas.microsoft.com/office/drawing/2014/main" id="{2DFB0646-003C-95FB-96CD-A1D00D0D5463}"/>
                  </a:ext>
                </a:extLst>
              </p:cNvPr>
              <p:cNvSpPr/>
              <p:nvPr/>
            </p:nvSpPr>
            <p:spPr>
              <a:xfrm>
                <a:off x="13200" y="0"/>
                <a:ext cx="2352" cy="2108"/>
              </a:xfrm>
              <a:prstGeom prst="rect">
                <a:avLst/>
              </a:prstGeom>
              <a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426" name="矩形 425">
                <a:extLst>
                  <a:ext uri="{FF2B5EF4-FFF2-40B4-BE49-F238E27FC236}">
                    <a16:creationId xmlns:a16="http://schemas.microsoft.com/office/drawing/2014/main" id="{97202211-D611-8018-3F7F-FF844357BF5E}"/>
                  </a:ext>
                </a:extLst>
              </p:cNvPr>
              <p:cNvSpPr/>
              <p:nvPr/>
            </p:nvSpPr>
            <p:spPr>
              <a:xfrm>
                <a:off x="13200" y="0"/>
                <a:ext cx="2352" cy="2108"/>
              </a:xfrm>
              <a:prstGeom prst="rect">
                <a:avLst/>
              </a:prstGeom>
              <a:solidFill>
                <a:srgbClr val="3C007F">
                  <a:alpha val="92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427" name="文本框 426">
                <a:extLst>
                  <a:ext uri="{FF2B5EF4-FFF2-40B4-BE49-F238E27FC236}">
                    <a16:creationId xmlns:a16="http://schemas.microsoft.com/office/drawing/2014/main" id="{33401B77-87E5-AF79-1B38-FD3F35B8F532}"/>
                  </a:ext>
                </a:extLst>
              </p:cNvPr>
              <p:cNvSpPr txBox="1"/>
              <p:nvPr/>
            </p:nvSpPr>
            <p:spPr>
              <a:xfrm>
                <a:off x="13196" y="386"/>
                <a:ext cx="2353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</a:rPr>
                  <a:t>8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</a:rPr>
                  <a:t>周</a:t>
                </a:r>
              </a:p>
            </p:txBody>
          </p:sp>
          <p:sp>
            <p:nvSpPr>
              <p:cNvPr id="428" name="文本框 427">
                <a:extLst>
                  <a:ext uri="{FF2B5EF4-FFF2-40B4-BE49-F238E27FC236}">
                    <a16:creationId xmlns:a16="http://schemas.microsoft.com/office/drawing/2014/main" id="{EA27F1BE-B78A-4E36-A208-F997A2AA227E}"/>
                  </a:ext>
                </a:extLst>
              </p:cNvPr>
              <p:cNvSpPr txBox="1"/>
              <p:nvPr/>
            </p:nvSpPr>
            <p:spPr>
              <a:xfrm>
                <a:off x="13196" y="1208"/>
                <a:ext cx="235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Enterprise Digital Technology Application</a:t>
                </a:r>
              </a:p>
            </p:txBody>
          </p:sp>
        </p:grpSp>
      </p:grpSp>
      <p:grpSp>
        <p:nvGrpSpPr>
          <p:cNvPr id="441" name="组合 440">
            <a:extLst>
              <a:ext uri="{FF2B5EF4-FFF2-40B4-BE49-F238E27FC236}">
                <a16:creationId xmlns:a16="http://schemas.microsoft.com/office/drawing/2014/main" id="{6C5A4DB8-F172-20D7-C88D-1E3B09F5C32E}"/>
              </a:ext>
            </a:extLst>
          </p:cNvPr>
          <p:cNvGrpSpPr/>
          <p:nvPr/>
        </p:nvGrpSpPr>
        <p:grpSpPr>
          <a:xfrm>
            <a:off x="6819900" y="0"/>
            <a:ext cx="1493520" cy="6857365"/>
            <a:chOff x="10740" y="0"/>
            <a:chExt cx="2352" cy="10799"/>
          </a:xfrm>
        </p:grpSpPr>
        <p:sp>
          <p:nvSpPr>
            <p:cNvPr id="442" name="矩形 441">
              <a:extLst>
                <a:ext uri="{FF2B5EF4-FFF2-40B4-BE49-F238E27FC236}">
                  <a16:creationId xmlns:a16="http://schemas.microsoft.com/office/drawing/2014/main" id="{322CE039-334D-B7F8-7F48-E4AB3BB91959}"/>
                </a:ext>
              </a:extLst>
            </p:cNvPr>
            <p:cNvSpPr/>
            <p:nvPr/>
          </p:nvSpPr>
          <p:spPr>
            <a:xfrm>
              <a:off x="10740" y="0"/>
              <a:ext cx="2352" cy="2108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43" name="矩形 442">
              <a:extLst>
                <a:ext uri="{FF2B5EF4-FFF2-40B4-BE49-F238E27FC236}">
                  <a16:creationId xmlns:a16="http://schemas.microsoft.com/office/drawing/2014/main" id="{19100888-5477-21D2-B8C1-A6B85066A9D2}"/>
                </a:ext>
              </a:extLst>
            </p:cNvPr>
            <p:cNvSpPr/>
            <p:nvPr/>
          </p:nvSpPr>
          <p:spPr>
            <a:xfrm>
              <a:off x="10740" y="2173"/>
              <a:ext cx="2352" cy="210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44" name="矩形 443">
              <a:extLst>
                <a:ext uri="{FF2B5EF4-FFF2-40B4-BE49-F238E27FC236}">
                  <a16:creationId xmlns:a16="http://schemas.microsoft.com/office/drawing/2014/main" id="{2BAA0849-1972-0120-AF47-CF128FB10BEA}"/>
                </a:ext>
              </a:extLst>
            </p:cNvPr>
            <p:cNvSpPr/>
            <p:nvPr/>
          </p:nvSpPr>
          <p:spPr>
            <a:xfrm>
              <a:off x="10740" y="6518"/>
              <a:ext cx="2352" cy="2108"/>
            </a:xfrm>
            <a:prstGeom prst="rect">
              <a:avLst/>
            </a:prstGeom>
            <a:pattFill prst="pct5">
              <a:fgClr>
                <a:srgbClr val="FFFFFF">
                  <a:lumMod val="75000"/>
                </a:srgbClr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>
              <a:outerShdw blurRad="50800" dist="50800" dir="5400000" sx="97000" sy="97000" algn="t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45" name="文本框 444">
              <a:extLst>
                <a:ext uri="{FF2B5EF4-FFF2-40B4-BE49-F238E27FC236}">
                  <a16:creationId xmlns:a16="http://schemas.microsoft.com/office/drawing/2014/main" id="{2A0D49F4-2767-6A60-822C-C3AF7837734A}"/>
                </a:ext>
              </a:extLst>
            </p:cNvPr>
            <p:cNvSpPr txBox="1"/>
            <p:nvPr/>
          </p:nvSpPr>
          <p:spPr>
            <a:xfrm>
              <a:off x="10740" y="3050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47066D5D-C52C-5B38-BB97-5FFFF5DAB189}"/>
                </a:ext>
              </a:extLst>
            </p:cNvPr>
            <p:cNvSpPr txBox="1"/>
            <p:nvPr/>
          </p:nvSpPr>
          <p:spPr>
            <a:xfrm>
              <a:off x="10740" y="3467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云撑数智发展</a:t>
              </a:r>
            </a:p>
          </p:txBody>
        </p:sp>
        <p:sp>
          <p:nvSpPr>
            <p:cNvPr id="447" name="文本框 446">
              <a:extLst>
                <a:ext uri="{FF2B5EF4-FFF2-40B4-BE49-F238E27FC236}">
                  <a16:creationId xmlns:a16="http://schemas.microsoft.com/office/drawing/2014/main" id="{5864A7A9-5B3F-3E72-DCB1-E59829D52DE7}"/>
                </a:ext>
              </a:extLst>
            </p:cNvPr>
            <p:cNvSpPr txBox="1"/>
            <p:nvPr/>
          </p:nvSpPr>
          <p:spPr>
            <a:xfrm>
              <a:off x="10740" y="7262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448" name="文本框 447">
              <a:extLst>
                <a:ext uri="{FF2B5EF4-FFF2-40B4-BE49-F238E27FC236}">
                  <a16:creationId xmlns:a16="http://schemas.microsoft.com/office/drawing/2014/main" id="{7E79857C-A5CA-715A-F8B7-AAE82EF140F6}"/>
                </a:ext>
              </a:extLst>
            </p:cNvPr>
            <p:cNvSpPr txBox="1"/>
            <p:nvPr/>
          </p:nvSpPr>
          <p:spPr>
            <a:xfrm>
              <a:off x="10740" y="7679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风险闭环管控</a:t>
              </a:r>
            </a:p>
          </p:txBody>
        </p:sp>
        <p:grpSp>
          <p:nvGrpSpPr>
            <p:cNvPr id="449" name="组合 448">
              <a:extLst>
                <a:ext uri="{FF2B5EF4-FFF2-40B4-BE49-F238E27FC236}">
                  <a16:creationId xmlns:a16="http://schemas.microsoft.com/office/drawing/2014/main" id="{8FB93FDF-F4D3-A387-28DB-B9C104629845}"/>
                </a:ext>
              </a:extLst>
            </p:cNvPr>
            <p:cNvGrpSpPr/>
            <p:nvPr/>
          </p:nvGrpSpPr>
          <p:grpSpPr>
            <a:xfrm>
              <a:off x="10740" y="4345"/>
              <a:ext cx="2352" cy="2108"/>
              <a:chOff x="10740" y="4345"/>
              <a:chExt cx="2352" cy="2108"/>
            </a:xfrm>
            <a:effectLst>
              <a:outerShdw blurRad="749300" dist="482600" dir="3000000" sx="94000" sy="94000" algn="t" rotWithShape="0">
                <a:prstClr val="black">
                  <a:alpha val="46000"/>
                </a:prstClr>
              </a:outerShdw>
            </a:effectLst>
          </p:grpSpPr>
          <p:sp>
            <p:nvSpPr>
              <p:cNvPr id="457" name="矩形 456">
                <a:extLst>
                  <a:ext uri="{FF2B5EF4-FFF2-40B4-BE49-F238E27FC236}">
                    <a16:creationId xmlns:a16="http://schemas.microsoft.com/office/drawing/2014/main" id="{E69E0546-0EFA-1C6F-DA7F-43BB14C9EBFC}"/>
                  </a:ext>
                </a:extLst>
              </p:cNvPr>
              <p:cNvSpPr/>
              <p:nvPr/>
            </p:nvSpPr>
            <p:spPr>
              <a:xfrm>
                <a:off x="10740" y="4345"/>
                <a:ext cx="2352" cy="2108"/>
              </a:xfrm>
              <a:prstGeom prst="rect">
                <a:avLst/>
              </a:prstGeom>
              <a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458" name="矩形 457">
                <a:extLst>
                  <a:ext uri="{FF2B5EF4-FFF2-40B4-BE49-F238E27FC236}">
                    <a16:creationId xmlns:a16="http://schemas.microsoft.com/office/drawing/2014/main" id="{E1E6186A-B979-1F68-0A01-D7AC37EDE64D}"/>
                  </a:ext>
                </a:extLst>
              </p:cNvPr>
              <p:cNvSpPr/>
              <p:nvPr/>
            </p:nvSpPr>
            <p:spPr>
              <a:xfrm>
                <a:off x="10740" y="4345"/>
                <a:ext cx="2352" cy="2108"/>
              </a:xfrm>
              <a:prstGeom prst="rect">
                <a:avLst/>
              </a:prstGeom>
              <a:solidFill>
                <a:srgbClr val="3C007F">
                  <a:alpha val="87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459" name="文本框 458">
                <a:extLst>
                  <a:ext uri="{FF2B5EF4-FFF2-40B4-BE49-F238E27FC236}">
                    <a16:creationId xmlns:a16="http://schemas.microsoft.com/office/drawing/2014/main" id="{9EBCB720-6DE7-382D-0A87-40680797153A}"/>
                  </a:ext>
                </a:extLst>
              </p:cNvPr>
              <p:cNvSpPr txBox="1"/>
              <p:nvPr/>
            </p:nvSpPr>
            <p:spPr>
              <a:xfrm>
                <a:off x="10740" y="4851"/>
                <a:ext cx="2353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</a:rPr>
                  <a:t>24</a:t>
                </a:r>
                <a:r>
                  <a:rPr kumimoji="0" lang="zh-CN" alt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</a:rPr>
                  <a:t>H</a:t>
                </a:r>
              </a:p>
            </p:txBody>
          </p:sp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1690E834-F790-04E7-2FB6-89D9D1BE1047}"/>
                  </a:ext>
                </a:extLst>
              </p:cNvPr>
              <p:cNvSpPr txBox="1"/>
              <p:nvPr/>
            </p:nvSpPr>
            <p:spPr>
              <a:xfrm>
                <a:off x="10740" y="5673"/>
                <a:ext cx="235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Enterprise Digital Technology Application</a:t>
                </a:r>
              </a:p>
            </p:txBody>
          </p:sp>
        </p:grpSp>
        <p:grpSp>
          <p:nvGrpSpPr>
            <p:cNvPr id="450" name="组合 449">
              <a:extLst>
                <a:ext uri="{FF2B5EF4-FFF2-40B4-BE49-F238E27FC236}">
                  <a16:creationId xmlns:a16="http://schemas.microsoft.com/office/drawing/2014/main" id="{840A5D2C-2EBC-AC6F-E01B-21DCFFE1173B}"/>
                </a:ext>
              </a:extLst>
            </p:cNvPr>
            <p:cNvGrpSpPr/>
            <p:nvPr/>
          </p:nvGrpSpPr>
          <p:grpSpPr>
            <a:xfrm>
              <a:off x="10740" y="8691"/>
              <a:ext cx="2352" cy="2108"/>
              <a:chOff x="10740" y="8691"/>
              <a:chExt cx="2352" cy="2108"/>
            </a:xfrm>
            <a:effectLst>
              <a:outerShdw blurRad="749300" dist="482600" dir="3000000" sx="94000" sy="94000" algn="t" rotWithShape="0">
                <a:prstClr val="black">
                  <a:alpha val="46000"/>
                </a:prstClr>
              </a:outerShdw>
            </a:effectLst>
          </p:grpSpPr>
          <p:sp>
            <p:nvSpPr>
              <p:cNvPr id="453" name="矩形 452">
                <a:extLst>
                  <a:ext uri="{FF2B5EF4-FFF2-40B4-BE49-F238E27FC236}">
                    <a16:creationId xmlns:a16="http://schemas.microsoft.com/office/drawing/2014/main" id="{50F506AD-087A-976B-CDF5-520E44DF3560}"/>
                  </a:ext>
                </a:extLst>
              </p:cNvPr>
              <p:cNvSpPr/>
              <p:nvPr/>
            </p:nvSpPr>
            <p:spPr>
              <a:xfrm>
                <a:off x="10740" y="8691"/>
                <a:ext cx="2352" cy="2108"/>
              </a:xfrm>
              <a:prstGeom prst="rect">
                <a:avLst/>
              </a:prstGeom>
              <a:blipFill rotWithShape="1"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454" name="矩形 453">
                <a:extLst>
                  <a:ext uri="{FF2B5EF4-FFF2-40B4-BE49-F238E27FC236}">
                    <a16:creationId xmlns:a16="http://schemas.microsoft.com/office/drawing/2014/main" id="{BA14271F-7F4A-745B-FDCC-5176190CACAA}"/>
                  </a:ext>
                </a:extLst>
              </p:cNvPr>
              <p:cNvSpPr/>
              <p:nvPr/>
            </p:nvSpPr>
            <p:spPr>
              <a:xfrm>
                <a:off x="10740" y="8691"/>
                <a:ext cx="2352" cy="2108"/>
              </a:xfrm>
              <a:prstGeom prst="rect">
                <a:avLst/>
              </a:prstGeom>
              <a:solidFill>
                <a:srgbClr val="3C007F">
                  <a:alpha val="87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455" name="文本框 454">
                <a:extLst>
                  <a:ext uri="{FF2B5EF4-FFF2-40B4-BE49-F238E27FC236}">
                    <a16:creationId xmlns:a16="http://schemas.microsoft.com/office/drawing/2014/main" id="{0E61DA09-D836-8FC4-D60F-439016572A8F}"/>
                  </a:ext>
                </a:extLst>
              </p:cNvPr>
              <p:cNvSpPr txBox="1"/>
              <p:nvPr/>
            </p:nvSpPr>
            <p:spPr>
              <a:xfrm>
                <a:off x="10740" y="9091"/>
                <a:ext cx="2353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</a:rPr>
                  <a:t>2014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  <a:sym typeface="+mn-ea"/>
                  </a:rPr>
                  <a:t>名</a:t>
                </a:r>
              </a:p>
            </p:txBody>
          </p:sp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4C7F9365-932D-B54A-F3AF-D3D94F6B4360}"/>
                  </a:ext>
                </a:extLst>
              </p:cNvPr>
              <p:cNvSpPr txBox="1"/>
              <p:nvPr/>
            </p:nvSpPr>
            <p:spPr>
              <a:xfrm>
                <a:off x="10740" y="9913"/>
                <a:ext cx="235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Enterprise Digital Technology Application</a:t>
                </a:r>
              </a:p>
            </p:txBody>
          </p:sp>
        </p:grpSp>
        <p:sp>
          <p:nvSpPr>
            <p:cNvPr id="451" name="文本框 450">
              <a:extLst>
                <a:ext uri="{FF2B5EF4-FFF2-40B4-BE49-F238E27FC236}">
                  <a16:creationId xmlns:a16="http://schemas.microsoft.com/office/drawing/2014/main" id="{02EE4FAE-125C-6CBD-1CED-275886AC2998}"/>
                </a:ext>
              </a:extLst>
            </p:cNvPr>
            <p:cNvSpPr txBox="1"/>
            <p:nvPr/>
          </p:nvSpPr>
          <p:spPr>
            <a:xfrm>
              <a:off x="10740" y="475"/>
              <a:ext cx="23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452" name="文本框 451">
              <a:extLst>
                <a:ext uri="{FF2B5EF4-FFF2-40B4-BE49-F238E27FC236}">
                  <a16:creationId xmlns:a16="http://schemas.microsoft.com/office/drawing/2014/main" id="{6CDEF340-552F-2790-66EC-F93F1AD5348A}"/>
                </a:ext>
              </a:extLst>
            </p:cNvPr>
            <p:cNvSpPr txBox="1"/>
            <p:nvPr/>
          </p:nvSpPr>
          <p:spPr>
            <a:xfrm>
              <a:off x="10740" y="892"/>
              <a:ext cx="2352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生态协同共生</a:t>
              </a:r>
            </a:p>
          </p:txBody>
        </p:sp>
      </p:grpSp>
      <p:sp>
        <p:nvSpPr>
          <p:cNvPr id="479" name="文本框 478">
            <a:extLst>
              <a:ext uri="{FF2B5EF4-FFF2-40B4-BE49-F238E27FC236}">
                <a16:creationId xmlns:a16="http://schemas.microsoft.com/office/drawing/2014/main" id="{105D71BE-0E56-7E38-5D78-28F07EF869A4}"/>
              </a:ext>
            </a:extLst>
          </p:cNvPr>
          <p:cNvSpPr txBox="1"/>
          <p:nvPr/>
        </p:nvSpPr>
        <p:spPr>
          <a:xfrm>
            <a:off x="521653" y="1936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>
                <a:solidFill>
                  <a:srgbClr val="000000"/>
                </a:solidFill>
                <a:ea typeface="思源黑体 CN"/>
                <a:cs typeface="思源黑体 CN" panose="020B0500000000000000" pitchFamily="34" charset="-122"/>
              </a:rPr>
              <a:t>数字生态</a:t>
            </a:r>
            <a:r>
              <a:rPr lang="en-US" altLang="zh-CN">
                <a:solidFill>
                  <a:srgbClr val="000000"/>
                </a:solidFill>
                <a:ea typeface="思源黑体 CN"/>
                <a:cs typeface="思源黑体 CN" panose="020B0500000000000000" pitchFamily="34" charset="-122"/>
              </a:rPr>
              <a:t> </a:t>
            </a:r>
            <a:r>
              <a:rPr lang="zh-CN" altLang="en-US">
                <a:solidFill>
                  <a:srgbClr val="000000"/>
                </a:solidFill>
                <a:ea typeface="思源黑体 CN"/>
                <a:cs typeface="思源黑体 CN" panose="020B0500000000000000" pitchFamily="34" charset="-122"/>
              </a:rPr>
              <a:t>云为基石</a:t>
            </a:r>
          </a:p>
        </p:txBody>
      </p:sp>
      <p:sp>
        <p:nvSpPr>
          <p:cNvPr id="480" name="文本框 479">
            <a:extLst>
              <a:ext uri="{FF2B5EF4-FFF2-40B4-BE49-F238E27FC236}">
                <a16:creationId xmlns:a16="http://schemas.microsoft.com/office/drawing/2014/main" id="{06DE8383-80CD-0027-457F-84EFFA813F99}"/>
              </a:ext>
            </a:extLst>
          </p:cNvPr>
          <p:cNvSpPr txBox="1"/>
          <p:nvPr/>
        </p:nvSpPr>
        <p:spPr>
          <a:xfrm>
            <a:off x="521653" y="15398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2400" b="1" dirty="0">
                <a:solidFill>
                  <a:srgbClr val="3C007F"/>
                </a:solidFill>
                <a:latin typeface="Fluent" charset="0"/>
                <a:ea typeface="思源黑体 CN"/>
                <a:cs typeface="Fluent" charset="0"/>
              </a:rPr>
              <a:t>DIGITAL</a:t>
            </a:r>
            <a:r>
              <a:rPr lang="en-US" altLang="zh-CN" sz="2400" b="1" dirty="0">
                <a:solidFill>
                  <a:srgbClr val="000000"/>
                </a:solidFill>
                <a:latin typeface="Fluent" charset="0"/>
                <a:ea typeface="思源黑体 CN"/>
                <a:cs typeface="Fluent" charset="0"/>
              </a:rPr>
              <a:t> ECOSYSTEM</a:t>
            </a:r>
          </a:p>
        </p:txBody>
      </p: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5A74EDD4-DDE5-493D-DA03-F1D24DF86FD9}"/>
              </a:ext>
            </a:extLst>
          </p:cNvPr>
          <p:cNvGrpSpPr/>
          <p:nvPr/>
        </p:nvGrpSpPr>
        <p:grpSpPr>
          <a:xfrm>
            <a:off x="510223" y="2718435"/>
            <a:ext cx="5287010" cy="1348740"/>
            <a:chOff x="490" y="4504"/>
            <a:chExt cx="8326" cy="2124"/>
          </a:xfrm>
        </p:grpSpPr>
        <p:sp>
          <p:nvSpPr>
            <p:cNvPr id="482" name="文本框 481">
              <a:extLst>
                <a:ext uri="{FF2B5EF4-FFF2-40B4-BE49-F238E27FC236}">
                  <a16:creationId xmlns:a16="http://schemas.microsoft.com/office/drawing/2014/main" id="{8C750BC9-4966-5849-11F1-CD7047BD2D55}"/>
                </a:ext>
              </a:extLst>
            </p:cNvPr>
            <p:cNvSpPr txBox="1"/>
            <p:nvPr/>
          </p:nvSpPr>
          <p:spPr>
            <a:xfrm>
              <a:off x="490" y="5757"/>
              <a:ext cx="6291" cy="8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lnSpc>
                  <a:spcPct val="150000"/>
                </a:lnSpc>
              </a:pPr>
              <a:r>
                <a:rPr lang="zh-CN" altLang="en-US" sz="100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以云计算为核心基石，串联数据、技术与业务，打破数字生态壁垒，实现资源高效流转，为企业数字化转型与生态协同提供坚实支撑。</a:t>
              </a:r>
            </a:p>
          </p:txBody>
        </p:sp>
        <p:sp>
          <p:nvSpPr>
            <p:cNvPr id="483" name="文本框 482">
              <a:extLst>
                <a:ext uri="{FF2B5EF4-FFF2-40B4-BE49-F238E27FC236}">
                  <a16:creationId xmlns:a16="http://schemas.microsoft.com/office/drawing/2014/main" id="{41866C95-EB0C-E21E-D3B4-39FA54E50105}"/>
                </a:ext>
              </a:extLst>
            </p:cNvPr>
            <p:cNvSpPr txBox="1"/>
            <p:nvPr/>
          </p:nvSpPr>
          <p:spPr>
            <a:xfrm>
              <a:off x="490" y="4504"/>
              <a:ext cx="8326" cy="1046"/>
            </a:xfrm>
            <a:prstGeom prst="rect">
              <a:avLst/>
            </a:prstGeom>
          </p:spPr>
          <p:txBody>
            <a:bodyPr rot="0" spcFirstLastPara="0" vert="horz" wrap="square" lIns="91435" tIns="45717" rIns="91435" bIns="45717" numCol="1" spcCol="0" rtlCol="0" fromWordArt="0" anchor="t" anchorCtr="0" forceAA="0" compatLnSpc="0">
              <a:spAutoFit/>
            </a:bodyPr>
            <a:lstStyle>
              <a:defPPr>
                <a:defRPr lang="en-US"/>
              </a:defPPr>
              <a:lvl1pPr lvl="0">
                <a:lnSpc>
                  <a:spcPct val="100000"/>
                </a:lnSpc>
                <a:buClrTx/>
                <a:buSzTx/>
                <a:buFontTx/>
                <a:defRPr sz="3000" b="1">
                  <a:gradFill>
                    <a:gsLst>
                      <a:gs pos="22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rgbClr val="570BDF"/>
                      </a:gs>
                    </a:gsLst>
                    <a:lin ang="0" scaled="0"/>
                  </a:gradFill>
                  <a:latin typeface="微软雅黑" charset="-122"/>
                  <a:ea typeface="微软雅黑" charset="-122"/>
                  <a:cs typeface="微软雅黑" charset="-122"/>
                </a:defRPr>
              </a:lvl1pPr>
            </a:lstStyle>
            <a:p>
              <a:r>
                <a:rPr lang="zh-CN" altLang="en-US" sz="2600" dirty="0">
                  <a:sym typeface="+mn-ea"/>
                </a:rPr>
                <a:t>云筑数字生态</a:t>
              </a:r>
              <a:r>
                <a:rPr lang="en-US" altLang="zh-CN" sz="2600" dirty="0">
                  <a:sym typeface="+mn-ea"/>
                </a:rPr>
                <a:t> </a:t>
              </a:r>
              <a:r>
                <a:rPr lang="zh-CN" altLang="en-US" sz="2600" dirty="0">
                  <a:sym typeface="+mn-ea"/>
                </a:rPr>
                <a:t>夯实发展根基</a:t>
              </a:r>
            </a:p>
          </p:txBody>
        </p:sp>
      </p:grpSp>
      <p:grpSp>
        <p:nvGrpSpPr>
          <p:cNvPr id="484" name="组合 483">
            <a:extLst>
              <a:ext uri="{FF2B5EF4-FFF2-40B4-BE49-F238E27FC236}">
                <a16:creationId xmlns:a16="http://schemas.microsoft.com/office/drawing/2014/main" id="{F2FA997A-61E1-EF9D-7F39-19A486FC8AE6}"/>
              </a:ext>
            </a:extLst>
          </p:cNvPr>
          <p:cNvGrpSpPr/>
          <p:nvPr/>
        </p:nvGrpSpPr>
        <p:grpSpPr>
          <a:xfrm>
            <a:off x="597218" y="4218940"/>
            <a:ext cx="4019550" cy="1404620"/>
            <a:chOff x="627" y="6867"/>
            <a:chExt cx="6330" cy="2212"/>
          </a:xfrm>
        </p:grpSpPr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2FCF67E3-260E-B15A-924E-830CCBCC9BDB}"/>
                </a:ext>
              </a:extLst>
            </p:cNvPr>
            <p:cNvCxnSpPr/>
            <p:nvPr/>
          </p:nvCxnSpPr>
          <p:spPr>
            <a:xfrm>
              <a:off x="627" y="7656"/>
              <a:ext cx="804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486" name="直接连接符 485">
              <a:extLst>
                <a:ext uri="{FF2B5EF4-FFF2-40B4-BE49-F238E27FC236}">
                  <a16:creationId xmlns:a16="http://schemas.microsoft.com/office/drawing/2014/main" id="{E957EDB7-0D4F-AB08-2176-1CF7EEC190EB}"/>
                </a:ext>
              </a:extLst>
            </p:cNvPr>
            <p:cNvCxnSpPr/>
            <p:nvPr/>
          </p:nvCxnSpPr>
          <p:spPr>
            <a:xfrm>
              <a:off x="627" y="9079"/>
              <a:ext cx="804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096C1E29-D30A-16C5-4D79-D187D761F3C3}"/>
                </a:ext>
              </a:extLst>
            </p:cNvPr>
            <p:cNvCxnSpPr/>
            <p:nvPr/>
          </p:nvCxnSpPr>
          <p:spPr>
            <a:xfrm>
              <a:off x="1549" y="7656"/>
              <a:ext cx="5409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2FC024F3-041E-FA54-379B-833F2105C28C}"/>
                </a:ext>
              </a:extLst>
            </p:cNvPr>
            <p:cNvCxnSpPr/>
            <p:nvPr/>
          </p:nvCxnSpPr>
          <p:spPr>
            <a:xfrm>
              <a:off x="1549" y="9079"/>
              <a:ext cx="5409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sp>
          <p:nvSpPr>
            <p:cNvPr id="489" name="文本框 488">
              <a:extLst>
                <a:ext uri="{FF2B5EF4-FFF2-40B4-BE49-F238E27FC236}">
                  <a16:creationId xmlns:a16="http://schemas.microsoft.com/office/drawing/2014/main" id="{5F20E497-8E91-A6AB-501F-43D9D658FD78}"/>
                </a:ext>
              </a:extLst>
            </p:cNvPr>
            <p:cNvSpPr txBox="1"/>
            <p:nvPr/>
          </p:nvSpPr>
          <p:spPr>
            <a:xfrm>
              <a:off x="1549" y="6867"/>
              <a:ext cx="3235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云基数字生态</a:t>
              </a:r>
              <a:r>
                <a:rPr kumimoji="0" lang="en-US" altLang="zh-CN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协同共生</a:t>
              </a:r>
            </a:p>
          </p:txBody>
        </p:sp>
        <p:sp>
          <p:nvSpPr>
            <p:cNvPr id="490" name="文本框 489">
              <a:extLst>
                <a:ext uri="{FF2B5EF4-FFF2-40B4-BE49-F238E27FC236}">
                  <a16:creationId xmlns:a16="http://schemas.microsoft.com/office/drawing/2014/main" id="{54B2F7B9-4FDE-D3FB-4618-BDF860478A91}"/>
                </a:ext>
              </a:extLst>
            </p:cNvPr>
            <p:cNvSpPr txBox="1"/>
            <p:nvPr/>
          </p:nvSpPr>
          <p:spPr>
            <a:xfrm>
              <a:off x="1549" y="7202"/>
              <a:ext cx="3235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Intelligent Packaging Design</a:t>
              </a:r>
            </a:p>
          </p:txBody>
        </p:sp>
        <p:sp>
          <p:nvSpPr>
            <p:cNvPr id="491" name="文本框 490">
              <a:extLst>
                <a:ext uri="{FF2B5EF4-FFF2-40B4-BE49-F238E27FC236}">
                  <a16:creationId xmlns:a16="http://schemas.microsoft.com/office/drawing/2014/main" id="{76549A41-D10B-3F9B-D5C4-84A127BCE9DC}"/>
                </a:ext>
              </a:extLst>
            </p:cNvPr>
            <p:cNvSpPr txBox="1"/>
            <p:nvPr/>
          </p:nvSpPr>
          <p:spPr>
            <a:xfrm>
              <a:off x="1549" y="8275"/>
              <a:ext cx="3235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云撑生态建设</a:t>
              </a:r>
              <a:r>
                <a:rPr kumimoji="0" lang="en-US" altLang="zh-CN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数据互通</a:t>
              </a:r>
            </a:p>
          </p:txBody>
        </p:sp>
        <p:sp>
          <p:nvSpPr>
            <p:cNvPr id="492" name="文本框 491">
              <a:extLst>
                <a:ext uri="{FF2B5EF4-FFF2-40B4-BE49-F238E27FC236}">
                  <a16:creationId xmlns:a16="http://schemas.microsoft.com/office/drawing/2014/main" id="{3CD31848-75EF-5B06-AB06-4B54242F7BA4}"/>
                </a:ext>
              </a:extLst>
            </p:cNvPr>
            <p:cNvSpPr txBox="1"/>
            <p:nvPr/>
          </p:nvSpPr>
          <p:spPr>
            <a:xfrm>
              <a:off x="1549" y="8610"/>
              <a:ext cx="3235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Intelligent Packaging Design</a:t>
              </a:r>
            </a:p>
          </p:txBody>
        </p:sp>
        <p:pic>
          <p:nvPicPr>
            <p:cNvPr id="493" name="图片 153" descr="上_up (1)">
              <a:extLst>
                <a:ext uri="{FF2B5EF4-FFF2-40B4-BE49-F238E27FC236}">
                  <a16:creationId xmlns:a16="http://schemas.microsoft.com/office/drawing/2014/main" id="{9E3449CC-8B68-99F9-8055-96C9C6484A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627" y="6904"/>
              <a:ext cx="360" cy="360"/>
            </a:xfrm>
            <a:prstGeom prst="rect">
              <a:avLst/>
            </a:prstGeom>
          </p:spPr>
        </p:pic>
        <p:pic>
          <p:nvPicPr>
            <p:cNvPr id="494" name="图片 154" descr="上_up (1)">
              <a:extLst>
                <a:ext uri="{FF2B5EF4-FFF2-40B4-BE49-F238E27FC236}">
                  <a16:creationId xmlns:a16="http://schemas.microsoft.com/office/drawing/2014/main" id="{5AF0920B-0E2A-5051-8A35-8C7D484D47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627" y="8343"/>
              <a:ext cx="360" cy="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295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8C4A-6736-3D64-507C-5AF00055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CF18BC11-39EA-CBEB-A44B-AAC2FCDAA039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ja-JP" altLang="en-US" sz="3000" dirty="0">
                <a:sym typeface="+mn-ea"/>
              </a:rPr>
              <a:t>算法防弊・恶意输入与模型投毒拦截 </a:t>
            </a:r>
          </a:p>
        </p:txBody>
      </p:sp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CDAD3DED-8AC4-59AE-F300-1E7B1BEF07C7}"/>
              </a:ext>
            </a:extLst>
          </p:cNvPr>
          <p:cNvGrpSpPr/>
          <p:nvPr/>
        </p:nvGrpSpPr>
        <p:grpSpPr>
          <a:xfrm>
            <a:off x="524510" y="1442085"/>
            <a:ext cx="2160270" cy="4893310"/>
            <a:chOff x="826" y="2271"/>
            <a:chExt cx="3402" cy="7706"/>
          </a:xfrm>
        </p:grpSpPr>
        <p:sp>
          <p:nvSpPr>
            <p:cNvPr id="336" name="矩形: 圆角 131">
              <a:extLst>
                <a:ext uri="{FF2B5EF4-FFF2-40B4-BE49-F238E27FC236}">
                  <a16:creationId xmlns:a16="http://schemas.microsoft.com/office/drawing/2014/main" id="{8D337A48-A582-0FB9-06EE-A511AE810840}"/>
                </a:ext>
              </a:extLst>
            </p:cNvPr>
            <p:cNvSpPr/>
            <p:nvPr/>
          </p:nvSpPr>
          <p:spPr>
            <a:xfrm>
              <a:off x="826" y="2271"/>
              <a:ext cx="3403" cy="77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37" name="文本框 336">
              <a:extLst>
                <a:ext uri="{FF2B5EF4-FFF2-40B4-BE49-F238E27FC236}">
                  <a16:creationId xmlns:a16="http://schemas.microsoft.com/office/drawing/2014/main" id="{A673127F-A15F-41CC-35D1-A899811CF8AB}"/>
                </a:ext>
              </a:extLst>
            </p:cNvPr>
            <p:cNvSpPr txBox="1"/>
            <p:nvPr/>
          </p:nvSpPr>
          <p:spPr>
            <a:xfrm>
              <a:off x="1021" y="5215"/>
              <a:ext cx="3018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部署对抗样本检测算法，精准识别恶意输入数据，拦截数据投毒行为，保障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AI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模型训练结果的准确性与可靠性。</a:t>
              </a:r>
            </a:p>
          </p:txBody>
        </p:sp>
        <p:sp>
          <p:nvSpPr>
            <p:cNvPr id="338" name="文本框 337">
              <a:extLst>
                <a:ext uri="{FF2B5EF4-FFF2-40B4-BE49-F238E27FC236}">
                  <a16:creationId xmlns:a16="http://schemas.microsoft.com/office/drawing/2014/main" id="{01AC6A7C-01EF-4D8C-7226-8CA1A33E90B7}"/>
                </a:ext>
              </a:extLst>
            </p:cNvPr>
            <p:cNvSpPr txBox="1"/>
            <p:nvPr/>
          </p:nvSpPr>
          <p:spPr>
            <a:xfrm>
              <a:off x="1021" y="4563"/>
              <a:ext cx="30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算法防弊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拦截投毒</a:t>
              </a:r>
            </a:p>
          </p:txBody>
        </p:sp>
        <p:sp>
          <p:nvSpPr>
            <p:cNvPr id="339" name="文本框 338">
              <a:extLst>
                <a:ext uri="{FF2B5EF4-FFF2-40B4-BE49-F238E27FC236}">
                  <a16:creationId xmlns:a16="http://schemas.microsoft.com/office/drawing/2014/main" id="{F263DC54-DBB6-5F2E-0E6E-0A9D83BC4E9F}"/>
                </a:ext>
              </a:extLst>
            </p:cNvPr>
            <p:cNvSpPr txBox="1"/>
            <p:nvPr/>
          </p:nvSpPr>
          <p:spPr>
            <a:xfrm>
              <a:off x="1005" y="2572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340" name="文本框 339">
              <a:extLst>
                <a:ext uri="{FF2B5EF4-FFF2-40B4-BE49-F238E27FC236}">
                  <a16:creationId xmlns:a16="http://schemas.microsoft.com/office/drawing/2014/main" id="{16EF3FEF-08A0-7BBA-B2E7-E334BB44D5FE}"/>
                </a:ext>
              </a:extLst>
            </p:cNvPr>
            <p:cNvSpPr txBox="1"/>
            <p:nvPr/>
          </p:nvSpPr>
          <p:spPr>
            <a:xfrm>
              <a:off x="1021" y="7080"/>
              <a:ext cx="3018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30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  <p:sp>
          <p:nvSpPr>
            <p:cNvPr id="341" name="文本框 340">
              <a:extLst>
                <a:ext uri="{FF2B5EF4-FFF2-40B4-BE49-F238E27FC236}">
                  <a16:creationId xmlns:a16="http://schemas.microsoft.com/office/drawing/2014/main" id="{4C2BD6FF-2461-8073-D8E6-96CEB4B9877F}"/>
                </a:ext>
              </a:extLst>
            </p:cNvPr>
            <p:cNvSpPr txBox="1"/>
            <p:nvPr/>
          </p:nvSpPr>
          <p:spPr>
            <a:xfrm>
              <a:off x="1021" y="8073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  <p:sp>
          <p:nvSpPr>
            <p:cNvPr id="342" name="矩形 341">
              <a:extLst>
                <a:ext uri="{FF2B5EF4-FFF2-40B4-BE49-F238E27FC236}">
                  <a16:creationId xmlns:a16="http://schemas.microsoft.com/office/drawing/2014/main" id="{71B0B51A-34B7-27DA-3586-538FBB41E5A7}"/>
                </a:ext>
              </a:extLst>
            </p:cNvPr>
            <p:cNvSpPr/>
            <p:nvPr/>
          </p:nvSpPr>
          <p:spPr>
            <a:xfrm>
              <a:off x="1140" y="8795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</a:p>
          </p:txBody>
        </p:sp>
        <p:sp>
          <p:nvSpPr>
            <p:cNvPr id="343" name="矩形 342">
              <a:extLst>
                <a:ext uri="{FF2B5EF4-FFF2-40B4-BE49-F238E27FC236}">
                  <a16:creationId xmlns:a16="http://schemas.microsoft.com/office/drawing/2014/main" id="{8FBB0ECD-5692-07B5-E04C-75867CB794A2}"/>
                </a:ext>
              </a:extLst>
            </p:cNvPr>
            <p:cNvSpPr/>
            <p:nvPr/>
          </p:nvSpPr>
          <p:spPr>
            <a:xfrm>
              <a:off x="2576" y="8795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344" name="矩形 343">
              <a:extLst>
                <a:ext uri="{FF2B5EF4-FFF2-40B4-BE49-F238E27FC236}">
                  <a16:creationId xmlns:a16="http://schemas.microsoft.com/office/drawing/2014/main" id="{B50E8DDC-F8E8-D4F0-6E08-1AEDAB31D80C}"/>
                </a:ext>
              </a:extLst>
            </p:cNvPr>
            <p:cNvSpPr/>
            <p:nvPr/>
          </p:nvSpPr>
          <p:spPr>
            <a:xfrm>
              <a:off x="1140" y="9223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345" name="矩形 344">
              <a:extLst>
                <a:ext uri="{FF2B5EF4-FFF2-40B4-BE49-F238E27FC236}">
                  <a16:creationId xmlns:a16="http://schemas.microsoft.com/office/drawing/2014/main" id="{BB521B67-BD54-DEBD-6C28-4DBAB9DF0DEA}"/>
                </a:ext>
              </a:extLst>
            </p:cNvPr>
            <p:cNvSpPr/>
            <p:nvPr/>
          </p:nvSpPr>
          <p:spPr>
            <a:xfrm>
              <a:off x="2576" y="9223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pic>
          <p:nvPicPr>
            <p:cNvPr id="346" name="图片 3" descr="计算_arithmetic">
              <a:extLst>
                <a:ext uri="{FF2B5EF4-FFF2-40B4-BE49-F238E27FC236}">
                  <a16:creationId xmlns:a16="http://schemas.microsoft.com/office/drawing/2014/main" id="{6AA1C13A-FAC2-E681-6E65-AC5260642B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6" y="3447"/>
              <a:ext cx="664" cy="664"/>
            </a:xfrm>
            <a:prstGeom prst="rect">
              <a:avLst/>
            </a:prstGeom>
          </p:spPr>
        </p:pic>
      </p:grp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5368E497-7339-B9F0-1793-DB49C6967D41}"/>
              </a:ext>
            </a:extLst>
          </p:cNvPr>
          <p:cNvGrpSpPr/>
          <p:nvPr/>
        </p:nvGrpSpPr>
        <p:grpSpPr>
          <a:xfrm>
            <a:off x="9416415" y="1442085"/>
            <a:ext cx="2160905" cy="4893945"/>
            <a:chOff x="14829" y="2271"/>
            <a:chExt cx="3403" cy="7707"/>
          </a:xfrm>
        </p:grpSpPr>
        <p:sp>
          <p:nvSpPr>
            <p:cNvPr id="348" name="矩形: 圆角 131">
              <a:extLst>
                <a:ext uri="{FF2B5EF4-FFF2-40B4-BE49-F238E27FC236}">
                  <a16:creationId xmlns:a16="http://schemas.microsoft.com/office/drawing/2014/main" id="{AF7711E2-0289-83C3-3E2A-ACC96767710E}"/>
                </a:ext>
              </a:extLst>
            </p:cNvPr>
            <p:cNvSpPr/>
            <p:nvPr/>
          </p:nvSpPr>
          <p:spPr>
            <a:xfrm>
              <a:off x="14829" y="2271"/>
              <a:ext cx="3403" cy="77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49" name="矩形: 圆角 131">
              <a:extLst>
                <a:ext uri="{FF2B5EF4-FFF2-40B4-BE49-F238E27FC236}">
                  <a16:creationId xmlns:a16="http://schemas.microsoft.com/office/drawing/2014/main" id="{E64E35AA-602D-A786-EAB0-51C75B9FAE20}"/>
                </a:ext>
              </a:extLst>
            </p:cNvPr>
            <p:cNvSpPr/>
            <p:nvPr/>
          </p:nvSpPr>
          <p:spPr>
            <a:xfrm>
              <a:off x="14829" y="2272"/>
              <a:ext cx="3403" cy="3398"/>
            </a:xfrm>
            <a:prstGeom prst="rect">
              <a:avLst/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75" name="矩形: 圆角 131">
              <a:extLst>
                <a:ext uri="{FF2B5EF4-FFF2-40B4-BE49-F238E27FC236}">
                  <a16:creationId xmlns:a16="http://schemas.microsoft.com/office/drawing/2014/main" id="{FE643AB8-AA35-8723-0F22-A90879B05AE7}"/>
                </a:ext>
              </a:extLst>
            </p:cNvPr>
            <p:cNvSpPr/>
            <p:nvPr/>
          </p:nvSpPr>
          <p:spPr>
            <a:xfrm>
              <a:off x="14829" y="2399"/>
              <a:ext cx="3403" cy="7579"/>
            </a:xfrm>
            <a:prstGeom prst="rect">
              <a:avLst/>
            </a:prstGeom>
            <a:gradFill>
              <a:gsLst>
                <a:gs pos="0">
                  <a:srgbClr val="7928D5">
                    <a:alpha val="0"/>
                  </a:srgbClr>
                </a:gs>
                <a:gs pos="42000">
                  <a:srgbClr val="7928D5"/>
                </a:gs>
              </a:gsLst>
              <a:lin ang="552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76" name="文本框 375">
              <a:extLst>
                <a:ext uri="{FF2B5EF4-FFF2-40B4-BE49-F238E27FC236}">
                  <a16:creationId xmlns:a16="http://schemas.microsoft.com/office/drawing/2014/main" id="{7FB83ADA-6453-D2CA-13CE-4C0238CBF287}"/>
                </a:ext>
              </a:extLst>
            </p:cNvPr>
            <p:cNvSpPr txBox="1"/>
            <p:nvPr/>
          </p:nvSpPr>
          <p:spPr>
            <a:xfrm>
              <a:off x="15020" y="5215"/>
              <a:ext cx="3018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采用多维度特征校验技术，识别模型投毒的隐蔽手段，及时阻断异常训练流程，保障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AI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模型全周期安全可控。</a:t>
              </a:r>
            </a:p>
          </p:txBody>
        </p:sp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AAEF5A99-1C67-F69D-7DC3-2DFF005854CE}"/>
                </a:ext>
              </a:extLst>
            </p:cNvPr>
            <p:cNvSpPr txBox="1"/>
            <p:nvPr/>
          </p:nvSpPr>
          <p:spPr>
            <a:xfrm>
              <a:off x="15020" y="4563"/>
              <a:ext cx="30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算法筑盾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模型防篡</a:t>
              </a:r>
            </a:p>
          </p:txBody>
        </p:sp>
        <p:sp>
          <p:nvSpPr>
            <p:cNvPr id="378" name="文本框 377">
              <a:extLst>
                <a:ext uri="{FF2B5EF4-FFF2-40B4-BE49-F238E27FC236}">
                  <a16:creationId xmlns:a16="http://schemas.microsoft.com/office/drawing/2014/main" id="{A4903575-DA72-6F2F-91A6-EBD8FE050A9C}"/>
                </a:ext>
              </a:extLst>
            </p:cNvPr>
            <p:cNvSpPr txBox="1"/>
            <p:nvPr/>
          </p:nvSpPr>
          <p:spPr>
            <a:xfrm>
              <a:off x="15020" y="7080"/>
              <a:ext cx="3018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80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32E8058C-2D80-CFCA-51C2-C061F753AADD}"/>
                </a:ext>
              </a:extLst>
            </p:cNvPr>
            <p:cNvSpPr txBox="1"/>
            <p:nvPr/>
          </p:nvSpPr>
          <p:spPr>
            <a:xfrm>
              <a:off x="15020" y="8073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  <p:sp>
          <p:nvSpPr>
            <p:cNvPr id="380" name="矩形 379">
              <a:extLst>
                <a:ext uri="{FF2B5EF4-FFF2-40B4-BE49-F238E27FC236}">
                  <a16:creationId xmlns:a16="http://schemas.microsoft.com/office/drawing/2014/main" id="{5B7847DF-E4EC-6AD9-E67E-41C3F30B0B82}"/>
                </a:ext>
              </a:extLst>
            </p:cNvPr>
            <p:cNvSpPr/>
            <p:nvPr/>
          </p:nvSpPr>
          <p:spPr>
            <a:xfrm>
              <a:off x="15139" y="8795"/>
              <a:ext cx="1372" cy="371"/>
            </a:xfrm>
            <a:prstGeom prst="rect">
              <a:avLst/>
            </a:prstGeom>
            <a:solidFill>
              <a:srgbClr val="211235">
                <a:alpha val="49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多情景分</a:t>
              </a:r>
            </a:p>
          </p:txBody>
        </p:sp>
        <p:sp>
          <p:nvSpPr>
            <p:cNvPr id="381" name="矩形 380">
              <a:extLst>
                <a:ext uri="{FF2B5EF4-FFF2-40B4-BE49-F238E27FC236}">
                  <a16:creationId xmlns:a16="http://schemas.microsoft.com/office/drawing/2014/main" id="{BD63800A-3C7F-75F0-8924-65D910525F25}"/>
                </a:ext>
              </a:extLst>
            </p:cNvPr>
            <p:cNvSpPr/>
            <p:nvPr/>
          </p:nvSpPr>
          <p:spPr>
            <a:xfrm>
              <a:off x="16575" y="8795"/>
              <a:ext cx="1372" cy="371"/>
            </a:xfrm>
            <a:prstGeom prst="rect">
              <a:avLst/>
            </a:prstGeom>
            <a:solidFill>
              <a:srgbClr val="211235">
                <a:alpha val="49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多情景分</a:t>
              </a:r>
            </a:p>
          </p:txBody>
        </p:sp>
        <p:sp>
          <p:nvSpPr>
            <p:cNvPr id="382" name="矩形 381">
              <a:extLst>
                <a:ext uri="{FF2B5EF4-FFF2-40B4-BE49-F238E27FC236}">
                  <a16:creationId xmlns:a16="http://schemas.microsoft.com/office/drawing/2014/main" id="{DDF4824E-E51E-3564-2B25-0FF115046C44}"/>
                </a:ext>
              </a:extLst>
            </p:cNvPr>
            <p:cNvSpPr/>
            <p:nvPr/>
          </p:nvSpPr>
          <p:spPr>
            <a:xfrm>
              <a:off x="15139" y="9223"/>
              <a:ext cx="1372" cy="371"/>
            </a:xfrm>
            <a:prstGeom prst="rect">
              <a:avLst/>
            </a:prstGeom>
            <a:solidFill>
              <a:srgbClr val="211235">
                <a:alpha val="49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多情景分</a:t>
              </a:r>
            </a:p>
          </p:txBody>
        </p:sp>
        <p:sp>
          <p:nvSpPr>
            <p:cNvPr id="383" name="矩形 382">
              <a:extLst>
                <a:ext uri="{FF2B5EF4-FFF2-40B4-BE49-F238E27FC236}">
                  <a16:creationId xmlns:a16="http://schemas.microsoft.com/office/drawing/2014/main" id="{81C686F2-81C1-843D-ACF3-AE6920C45221}"/>
                </a:ext>
              </a:extLst>
            </p:cNvPr>
            <p:cNvSpPr/>
            <p:nvPr/>
          </p:nvSpPr>
          <p:spPr>
            <a:xfrm>
              <a:off x="16575" y="9223"/>
              <a:ext cx="1372" cy="371"/>
            </a:xfrm>
            <a:prstGeom prst="rect">
              <a:avLst/>
            </a:prstGeom>
            <a:solidFill>
              <a:srgbClr val="211235">
                <a:alpha val="49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多情景分</a:t>
              </a:r>
            </a:p>
          </p:txBody>
        </p:sp>
        <p:sp>
          <p:nvSpPr>
            <p:cNvPr id="384" name="文本框 383">
              <a:extLst>
                <a:ext uri="{FF2B5EF4-FFF2-40B4-BE49-F238E27FC236}">
                  <a16:creationId xmlns:a16="http://schemas.microsoft.com/office/drawing/2014/main" id="{CA5AD3D4-CFCC-AFCC-3965-E58F5FB1101D}"/>
                </a:ext>
              </a:extLst>
            </p:cNvPr>
            <p:cNvSpPr txBox="1"/>
            <p:nvPr/>
          </p:nvSpPr>
          <p:spPr>
            <a:xfrm>
              <a:off x="15036" y="2572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pic>
          <p:nvPicPr>
            <p:cNvPr id="385" name="图片 4" descr="保护_protection">
              <a:extLst>
                <a:ext uri="{FF2B5EF4-FFF2-40B4-BE49-F238E27FC236}">
                  <a16:creationId xmlns:a16="http://schemas.microsoft.com/office/drawing/2014/main" id="{9C170666-D16A-4422-8D4D-989C593EF8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139" y="3447"/>
              <a:ext cx="664" cy="664"/>
            </a:xfrm>
            <a:prstGeom prst="rect">
              <a:avLst/>
            </a:prstGeom>
          </p:spPr>
        </p:pic>
      </p:grpSp>
      <p:grpSp>
        <p:nvGrpSpPr>
          <p:cNvPr id="386" name="组合 385">
            <a:extLst>
              <a:ext uri="{FF2B5EF4-FFF2-40B4-BE49-F238E27FC236}">
                <a16:creationId xmlns:a16="http://schemas.microsoft.com/office/drawing/2014/main" id="{293B1450-56AB-B595-6B4F-C4390AA4CC80}"/>
              </a:ext>
            </a:extLst>
          </p:cNvPr>
          <p:cNvGrpSpPr/>
          <p:nvPr/>
        </p:nvGrpSpPr>
        <p:grpSpPr>
          <a:xfrm>
            <a:off x="7197725" y="1442720"/>
            <a:ext cx="2160270" cy="4893310"/>
            <a:chOff x="11335" y="2272"/>
            <a:chExt cx="3402" cy="7706"/>
          </a:xfrm>
        </p:grpSpPr>
        <p:sp>
          <p:nvSpPr>
            <p:cNvPr id="387" name="矩形: 圆角 131">
              <a:extLst>
                <a:ext uri="{FF2B5EF4-FFF2-40B4-BE49-F238E27FC236}">
                  <a16:creationId xmlns:a16="http://schemas.microsoft.com/office/drawing/2014/main" id="{9F88EDA8-311A-9BFE-5E8D-2738E33F6723}"/>
                </a:ext>
              </a:extLst>
            </p:cNvPr>
            <p:cNvSpPr/>
            <p:nvPr/>
          </p:nvSpPr>
          <p:spPr>
            <a:xfrm>
              <a:off x="11335" y="2272"/>
              <a:ext cx="3403" cy="77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88" name="文本框 387">
              <a:extLst>
                <a:ext uri="{FF2B5EF4-FFF2-40B4-BE49-F238E27FC236}">
                  <a16:creationId xmlns:a16="http://schemas.microsoft.com/office/drawing/2014/main" id="{8D9AF47B-92AB-69F2-7532-29E50DA435FC}"/>
                </a:ext>
              </a:extLst>
            </p:cNvPr>
            <p:cNvSpPr txBox="1"/>
            <p:nvPr/>
          </p:nvSpPr>
          <p:spPr>
            <a:xfrm>
              <a:off x="11528" y="5216"/>
              <a:ext cx="3018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针对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AI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模型训练环节，搭建恶意输入拦截网关，过滤带毒数据，确保训练数据集纯净，提升模型决策可信度。</a:t>
              </a:r>
            </a:p>
          </p:txBody>
        </p:sp>
        <p:sp>
          <p:nvSpPr>
            <p:cNvPr id="389" name="文本框 388">
              <a:extLst>
                <a:ext uri="{FF2B5EF4-FFF2-40B4-BE49-F238E27FC236}">
                  <a16:creationId xmlns:a16="http://schemas.microsoft.com/office/drawing/2014/main" id="{BED7E46B-AA92-2901-24F4-15A2EE027AF3}"/>
                </a:ext>
              </a:extLst>
            </p:cNvPr>
            <p:cNvSpPr txBox="1"/>
            <p:nvPr/>
          </p:nvSpPr>
          <p:spPr>
            <a:xfrm>
              <a:off x="11528" y="4564"/>
              <a:ext cx="30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智辨输入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杜绝投毒</a:t>
              </a:r>
            </a:p>
          </p:txBody>
        </p:sp>
        <p:sp>
          <p:nvSpPr>
            <p:cNvPr id="390" name="文本框 389">
              <a:extLst>
                <a:ext uri="{FF2B5EF4-FFF2-40B4-BE49-F238E27FC236}">
                  <a16:creationId xmlns:a16="http://schemas.microsoft.com/office/drawing/2014/main" id="{627D841C-2AAB-D988-820C-0B9157A78D53}"/>
                </a:ext>
              </a:extLst>
            </p:cNvPr>
            <p:cNvSpPr txBox="1"/>
            <p:nvPr/>
          </p:nvSpPr>
          <p:spPr>
            <a:xfrm>
              <a:off x="11528" y="7081"/>
              <a:ext cx="3018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70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  <p:sp>
          <p:nvSpPr>
            <p:cNvPr id="391" name="文本框 390">
              <a:extLst>
                <a:ext uri="{FF2B5EF4-FFF2-40B4-BE49-F238E27FC236}">
                  <a16:creationId xmlns:a16="http://schemas.microsoft.com/office/drawing/2014/main" id="{B34A23E9-C351-1C9F-66C0-409E6862B074}"/>
                </a:ext>
              </a:extLst>
            </p:cNvPr>
            <p:cNvSpPr txBox="1"/>
            <p:nvPr/>
          </p:nvSpPr>
          <p:spPr>
            <a:xfrm>
              <a:off x="11528" y="8074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  <p:sp>
          <p:nvSpPr>
            <p:cNvPr id="392" name="矩形 391">
              <a:extLst>
                <a:ext uri="{FF2B5EF4-FFF2-40B4-BE49-F238E27FC236}">
                  <a16:creationId xmlns:a16="http://schemas.microsoft.com/office/drawing/2014/main" id="{36FB60C4-9450-417E-FEA8-516F672299CC}"/>
                </a:ext>
              </a:extLst>
            </p:cNvPr>
            <p:cNvSpPr/>
            <p:nvPr/>
          </p:nvSpPr>
          <p:spPr>
            <a:xfrm>
              <a:off x="11647" y="8796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393" name="矩形 392">
              <a:extLst>
                <a:ext uri="{FF2B5EF4-FFF2-40B4-BE49-F238E27FC236}">
                  <a16:creationId xmlns:a16="http://schemas.microsoft.com/office/drawing/2014/main" id="{0C72F2C3-DC97-442B-1B6C-0E533540C52F}"/>
                </a:ext>
              </a:extLst>
            </p:cNvPr>
            <p:cNvSpPr/>
            <p:nvPr/>
          </p:nvSpPr>
          <p:spPr>
            <a:xfrm>
              <a:off x="13083" y="8796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394" name="矩形 393">
              <a:extLst>
                <a:ext uri="{FF2B5EF4-FFF2-40B4-BE49-F238E27FC236}">
                  <a16:creationId xmlns:a16="http://schemas.microsoft.com/office/drawing/2014/main" id="{E157137D-4D55-5844-12BA-EB5E3C1AF044}"/>
                </a:ext>
              </a:extLst>
            </p:cNvPr>
            <p:cNvSpPr/>
            <p:nvPr/>
          </p:nvSpPr>
          <p:spPr>
            <a:xfrm>
              <a:off x="11647" y="9224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395" name="矩形 394">
              <a:extLst>
                <a:ext uri="{FF2B5EF4-FFF2-40B4-BE49-F238E27FC236}">
                  <a16:creationId xmlns:a16="http://schemas.microsoft.com/office/drawing/2014/main" id="{FF8D9B5A-6CA4-21CE-E58B-80189F6ABF91}"/>
                </a:ext>
              </a:extLst>
            </p:cNvPr>
            <p:cNvSpPr/>
            <p:nvPr/>
          </p:nvSpPr>
          <p:spPr>
            <a:xfrm>
              <a:off x="13083" y="9224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396" name="文本框 395">
              <a:extLst>
                <a:ext uri="{FF2B5EF4-FFF2-40B4-BE49-F238E27FC236}">
                  <a16:creationId xmlns:a16="http://schemas.microsoft.com/office/drawing/2014/main" id="{7C7A9363-C773-ED61-A890-DFFF7737ABC2}"/>
                </a:ext>
              </a:extLst>
            </p:cNvPr>
            <p:cNvSpPr txBox="1"/>
            <p:nvPr/>
          </p:nvSpPr>
          <p:spPr>
            <a:xfrm>
              <a:off x="11528" y="2573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pic>
          <p:nvPicPr>
            <p:cNvPr id="397" name="图片 5" descr="冠状病毒_coronavirus">
              <a:extLst>
                <a:ext uri="{FF2B5EF4-FFF2-40B4-BE49-F238E27FC236}">
                  <a16:creationId xmlns:a16="http://schemas.microsoft.com/office/drawing/2014/main" id="{A34B332C-6061-5683-809A-4C8B4CF853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47" y="3447"/>
              <a:ext cx="664" cy="664"/>
            </a:xfrm>
            <a:prstGeom prst="rect">
              <a:avLst/>
            </a:prstGeom>
          </p:spPr>
        </p:pic>
      </p:grpSp>
      <p:grpSp>
        <p:nvGrpSpPr>
          <p:cNvPr id="398" name="组合 397">
            <a:extLst>
              <a:ext uri="{FF2B5EF4-FFF2-40B4-BE49-F238E27FC236}">
                <a16:creationId xmlns:a16="http://schemas.microsoft.com/office/drawing/2014/main" id="{EA7A9823-A38B-18E2-0CE2-2503F3197B56}"/>
              </a:ext>
            </a:extLst>
          </p:cNvPr>
          <p:cNvGrpSpPr/>
          <p:nvPr/>
        </p:nvGrpSpPr>
        <p:grpSpPr>
          <a:xfrm>
            <a:off x="4975225" y="1442720"/>
            <a:ext cx="2160270" cy="4893310"/>
            <a:chOff x="7835" y="2272"/>
            <a:chExt cx="3402" cy="7706"/>
          </a:xfrm>
        </p:grpSpPr>
        <p:sp>
          <p:nvSpPr>
            <p:cNvPr id="399" name="矩形: 圆角 131">
              <a:extLst>
                <a:ext uri="{FF2B5EF4-FFF2-40B4-BE49-F238E27FC236}">
                  <a16:creationId xmlns:a16="http://schemas.microsoft.com/office/drawing/2014/main" id="{517AD194-07CF-02DF-B03B-75D3A7EEA9C5}"/>
                </a:ext>
              </a:extLst>
            </p:cNvPr>
            <p:cNvSpPr/>
            <p:nvPr/>
          </p:nvSpPr>
          <p:spPr>
            <a:xfrm>
              <a:off x="7835" y="2272"/>
              <a:ext cx="3403" cy="77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00" name="文本框 399">
              <a:extLst>
                <a:ext uri="{FF2B5EF4-FFF2-40B4-BE49-F238E27FC236}">
                  <a16:creationId xmlns:a16="http://schemas.microsoft.com/office/drawing/2014/main" id="{E39D661D-05D1-5248-3C8A-4DCB38C1A8FA}"/>
                </a:ext>
              </a:extLst>
            </p:cNvPr>
            <p:cNvSpPr txBox="1"/>
            <p:nvPr/>
          </p:nvSpPr>
          <p:spPr>
            <a:xfrm>
              <a:off x="8030" y="5216"/>
              <a:ext cx="3018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构建算法防弊校验机制，对输入数据做合规性筛查，拦截诱导模型输出错误结果的恶意样本，守住模型安全线。</a:t>
              </a:r>
            </a:p>
          </p:txBody>
        </p:sp>
        <p:sp>
          <p:nvSpPr>
            <p:cNvPr id="401" name="文本框 400">
              <a:extLst>
                <a:ext uri="{FF2B5EF4-FFF2-40B4-BE49-F238E27FC236}">
                  <a16:creationId xmlns:a16="http://schemas.microsoft.com/office/drawing/2014/main" id="{1F5D35B6-DA6F-DFA7-C4D3-2C9378AFF4F9}"/>
                </a:ext>
              </a:extLst>
            </p:cNvPr>
            <p:cNvSpPr txBox="1"/>
            <p:nvPr/>
          </p:nvSpPr>
          <p:spPr>
            <a:xfrm>
              <a:off x="8030" y="4564"/>
              <a:ext cx="30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防弊加固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模型护航</a:t>
              </a:r>
            </a:p>
          </p:txBody>
        </p:sp>
        <p:sp>
          <p:nvSpPr>
            <p:cNvPr id="402" name="文本框 401">
              <a:extLst>
                <a:ext uri="{FF2B5EF4-FFF2-40B4-BE49-F238E27FC236}">
                  <a16:creationId xmlns:a16="http://schemas.microsoft.com/office/drawing/2014/main" id="{FF81074D-56C3-42AA-3659-9902E8AB6558}"/>
                </a:ext>
              </a:extLst>
            </p:cNvPr>
            <p:cNvSpPr txBox="1"/>
            <p:nvPr/>
          </p:nvSpPr>
          <p:spPr>
            <a:xfrm>
              <a:off x="8014" y="2573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403" name="文本框 402">
              <a:extLst>
                <a:ext uri="{FF2B5EF4-FFF2-40B4-BE49-F238E27FC236}">
                  <a16:creationId xmlns:a16="http://schemas.microsoft.com/office/drawing/2014/main" id="{7B45839C-9652-D6EC-C12E-EC3ADB026BE6}"/>
                </a:ext>
              </a:extLst>
            </p:cNvPr>
            <p:cNvSpPr txBox="1"/>
            <p:nvPr/>
          </p:nvSpPr>
          <p:spPr>
            <a:xfrm>
              <a:off x="8030" y="7081"/>
              <a:ext cx="3018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30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  <p:sp>
          <p:nvSpPr>
            <p:cNvPr id="404" name="文本框 403">
              <a:extLst>
                <a:ext uri="{FF2B5EF4-FFF2-40B4-BE49-F238E27FC236}">
                  <a16:creationId xmlns:a16="http://schemas.microsoft.com/office/drawing/2014/main" id="{3062FD3B-F519-10D6-4C7B-F9D177602F0C}"/>
                </a:ext>
              </a:extLst>
            </p:cNvPr>
            <p:cNvSpPr txBox="1"/>
            <p:nvPr/>
          </p:nvSpPr>
          <p:spPr>
            <a:xfrm>
              <a:off x="8030" y="8074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  <p:sp>
          <p:nvSpPr>
            <p:cNvPr id="405" name="矩形 404">
              <a:extLst>
                <a:ext uri="{FF2B5EF4-FFF2-40B4-BE49-F238E27FC236}">
                  <a16:creationId xmlns:a16="http://schemas.microsoft.com/office/drawing/2014/main" id="{B3C58934-F294-D14D-FC58-1B7D92E69C63}"/>
                </a:ext>
              </a:extLst>
            </p:cNvPr>
            <p:cNvSpPr/>
            <p:nvPr/>
          </p:nvSpPr>
          <p:spPr>
            <a:xfrm>
              <a:off x="8149" y="8796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406" name="矩形 405">
              <a:extLst>
                <a:ext uri="{FF2B5EF4-FFF2-40B4-BE49-F238E27FC236}">
                  <a16:creationId xmlns:a16="http://schemas.microsoft.com/office/drawing/2014/main" id="{87E5291C-1D12-8E4C-81CA-1B315BDAF757}"/>
                </a:ext>
              </a:extLst>
            </p:cNvPr>
            <p:cNvSpPr/>
            <p:nvPr/>
          </p:nvSpPr>
          <p:spPr>
            <a:xfrm>
              <a:off x="9585" y="8796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407" name="矩形 406">
              <a:extLst>
                <a:ext uri="{FF2B5EF4-FFF2-40B4-BE49-F238E27FC236}">
                  <a16:creationId xmlns:a16="http://schemas.microsoft.com/office/drawing/2014/main" id="{B59858A2-A577-E753-9015-31D4005A8775}"/>
                </a:ext>
              </a:extLst>
            </p:cNvPr>
            <p:cNvSpPr/>
            <p:nvPr/>
          </p:nvSpPr>
          <p:spPr>
            <a:xfrm>
              <a:off x="8149" y="9224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408" name="矩形 407">
              <a:extLst>
                <a:ext uri="{FF2B5EF4-FFF2-40B4-BE49-F238E27FC236}">
                  <a16:creationId xmlns:a16="http://schemas.microsoft.com/office/drawing/2014/main" id="{42FFD2A6-CB1C-0726-0109-A0F305BA6F1B}"/>
                </a:ext>
              </a:extLst>
            </p:cNvPr>
            <p:cNvSpPr/>
            <p:nvPr/>
          </p:nvSpPr>
          <p:spPr>
            <a:xfrm>
              <a:off x="9585" y="9224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pic>
          <p:nvPicPr>
            <p:cNvPr id="409" name="图片 10" descr="保护_protect (1)">
              <a:extLst>
                <a:ext uri="{FF2B5EF4-FFF2-40B4-BE49-F238E27FC236}">
                  <a16:creationId xmlns:a16="http://schemas.microsoft.com/office/drawing/2014/main" id="{A7D9E3AC-9F5F-8765-CC0C-9D12F98183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30" y="3447"/>
              <a:ext cx="664" cy="664"/>
            </a:xfrm>
            <a:prstGeom prst="rect">
              <a:avLst/>
            </a:prstGeom>
          </p:spPr>
        </p:pic>
      </p:grpSp>
      <p:grpSp>
        <p:nvGrpSpPr>
          <p:cNvPr id="410" name="组合 409">
            <a:extLst>
              <a:ext uri="{FF2B5EF4-FFF2-40B4-BE49-F238E27FC236}">
                <a16:creationId xmlns:a16="http://schemas.microsoft.com/office/drawing/2014/main" id="{BEBF6B5E-1148-12CD-361B-AAE0E627E74F}"/>
              </a:ext>
            </a:extLst>
          </p:cNvPr>
          <p:cNvGrpSpPr/>
          <p:nvPr/>
        </p:nvGrpSpPr>
        <p:grpSpPr>
          <a:xfrm>
            <a:off x="2747010" y="1442085"/>
            <a:ext cx="2160270" cy="4893310"/>
            <a:chOff x="4326" y="2271"/>
            <a:chExt cx="3402" cy="7706"/>
          </a:xfrm>
        </p:grpSpPr>
        <p:sp>
          <p:nvSpPr>
            <p:cNvPr id="411" name="矩形: 圆角 131">
              <a:extLst>
                <a:ext uri="{FF2B5EF4-FFF2-40B4-BE49-F238E27FC236}">
                  <a16:creationId xmlns:a16="http://schemas.microsoft.com/office/drawing/2014/main" id="{A5141E79-3215-14BF-6E42-961751BA387F}"/>
                </a:ext>
              </a:extLst>
            </p:cNvPr>
            <p:cNvSpPr/>
            <p:nvPr/>
          </p:nvSpPr>
          <p:spPr>
            <a:xfrm>
              <a:off x="4326" y="2271"/>
              <a:ext cx="3403" cy="77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12" name="文本框 411">
              <a:extLst>
                <a:ext uri="{FF2B5EF4-FFF2-40B4-BE49-F238E27FC236}">
                  <a16:creationId xmlns:a16="http://schemas.microsoft.com/office/drawing/2014/main" id="{DA57E2A8-8EE8-8995-CA1D-D01BEE626668}"/>
                </a:ext>
              </a:extLst>
            </p:cNvPr>
            <p:cNvSpPr txBox="1"/>
            <p:nvPr/>
          </p:nvSpPr>
          <p:spPr>
            <a:xfrm>
              <a:off x="4519" y="5215"/>
              <a:ext cx="3018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实时监控模型参数异动，建立投毒行为特征库，快速甄别异常训练数据，从源头杜绝模型被恶意篡改的风险。</a:t>
              </a:r>
            </a:p>
          </p:txBody>
        </p:sp>
        <p:sp>
          <p:nvSpPr>
            <p:cNvPr id="413" name="文本框 412">
              <a:extLst>
                <a:ext uri="{FF2B5EF4-FFF2-40B4-BE49-F238E27FC236}">
                  <a16:creationId xmlns:a16="http://schemas.microsoft.com/office/drawing/2014/main" id="{31533154-83C3-CC9F-4FB9-F89964C102F9}"/>
                </a:ext>
              </a:extLst>
            </p:cNvPr>
            <p:cNvSpPr txBox="1"/>
            <p:nvPr/>
          </p:nvSpPr>
          <p:spPr>
            <a:xfrm>
              <a:off x="4519" y="4563"/>
              <a:ext cx="30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识别恶意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守护模型</a:t>
              </a:r>
            </a:p>
          </p:txBody>
        </p:sp>
        <p:sp>
          <p:nvSpPr>
            <p:cNvPr id="414" name="文本框 413">
              <a:extLst>
                <a:ext uri="{FF2B5EF4-FFF2-40B4-BE49-F238E27FC236}">
                  <a16:creationId xmlns:a16="http://schemas.microsoft.com/office/drawing/2014/main" id="{DAEFBA03-1FCB-4464-547D-7DF415E41DF1}"/>
                </a:ext>
              </a:extLst>
            </p:cNvPr>
            <p:cNvSpPr txBox="1"/>
            <p:nvPr/>
          </p:nvSpPr>
          <p:spPr>
            <a:xfrm>
              <a:off x="4519" y="7080"/>
              <a:ext cx="3018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70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  <p:sp>
          <p:nvSpPr>
            <p:cNvPr id="415" name="文本框 414">
              <a:extLst>
                <a:ext uri="{FF2B5EF4-FFF2-40B4-BE49-F238E27FC236}">
                  <a16:creationId xmlns:a16="http://schemas.microsoft.com/office/drawing/2014/main" id="{38E6742C-2CCE-7D64-69CB-425BABAE798D}"/>
                </a:ext>
              </a:extLst>
            </p:cNvPr>
            <p:cNvSpPr txBox="1"/>
            <p:nvPr/>
          </p:nvSpPr>
          <p:spPr>
            <a:xfrm>
              <a:off x="4519" y="8073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  <p:sp>
          <p:nvSpPr>
            <p:cNvPr id="416" name="矩形 415">
              <a:extLst>
                <a:ext uri="{FF2B5EF4-FFF2-40B4-BE49-F238E27FC236}">
                  <a16:creationId xmlns:a16="http://schemas.microsoft.com/office/drawing/2014/main" id="{91C31AFF-4569-F85B-B6C0-0B88A214DD2A}"/>
                </a:ext>
              </a:extLst>
            </p:cNvPr>
            <p:cNvSpPr/>
            <p:nvPr/>
          </p:nvSpPr>
          <p:spPr>
            <a:xfrm>
              <a:off x="4638" y="8795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417" name="矩形 416">
              <a:extLst>
                <a:ext uri="{FF2B5EF4-FFF2-40B4-BE49-F238E27FC236}">
                  <a16:creationId xmlns:a16="http://schemas.microsoft.com/office/drawing/2014/main" id="{0D460B25-24AF-3AE4-FF65-6681EDE9E95C}"/>
                </a:ext>
              </a:extLst>
            </p:cNvPr>
            <p:cNvSpPr/>
            <p:nvPr/>
          </p:nvSpPr>
          <p:spPr>
            <a:xfrm>
              <a:off x="6074" y="8795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418" name="矩形 417">
              <a:extLst>
                <a:ext uri="{FF2B5EF4-FFF2-40B4-BE49-F238E27FC236}">
                  <a16:creationId xmlns:a16="http://schemas.microsoft.com/office/drawing/2014/main" id="{1DBC39B6-531C-670D-D1CA-2268AB1872BB}"/>
                </a:ext>
              </a:extLst>
            </p:cNvPr>
            <p:cNvSpPr/>
            <p:nvPr/>
          </p:nvSpPr>
          <p:spPr>
            <a:xfrm>
              <a:off x="4638" y="9223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419" name="矩形 418">
              <a:extLst>
                <a:ext uri="{FF2B5EF4-FFF2-40B4-BE49-F238E27FC236}">
                  <a16:creationId xmlns:a16="http://schemas.microsoft.com/office/drawing/2014/main" id="{881BD7F3-43DE-4604-09AB-2B567085A8D0}"/>
                </a:ext>
              </a:extLst>
            </p:cNvPr>
            <p:cNvSpPr/>
            <p:nvPr/>
          </p:nvSpPr>
          <p:spPr>
            <a:xfrm>
              <a:off x="6074" y="9223"/>
              <a:ext cx="1372" cy="37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67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420" name="文本框 419">
              <a:extLst>
                <a:ext uri="{FF2B5EF4-FFF2-40B4-BE49-F238E27FC236}">
                  <a16:creationId xmlns:a16="http://schemas.microsoft.com/office/drawing/2014/main" id="{1A56414E-A5D2-763D-3A29-1C1E444046EF}"/>
                </a:ext>
              </a:extLst>
            </p:cNvPr>
            <p:cNvSpPr txBox="1"/>
            <p:nvPr/>
          </p:nvSpPr>
          <p:spPr>
            <a:xfrm>
              <a:off x="4519" y="2572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pic>
          <p:nvPicPr>
            <p:cNvPr id="421" name="图片 11" descr="搜查_find-one">
              <a:extLst>
                <a:ext uri="{FF2B5EF4-FFF2-40B4-BE49-F238E27FC236}">
                  <a16:creationId xmlns:a16="http://schemas.microsoft.com/office/drawing/2014/main" id="{E9C1B287-2902-5D89-0B16-1926381A84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38" y="3447"/>
              <a:ext cx="664" cy="6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840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AFA28-C444-CDF2-24F0-49577325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B62C2736-B610-61DB-E1B3-648805F55D93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云驱数字 重塑业务</a:t>
            </a:r>
          </a:p>
        </p:txBody>
      </p:sp>
      <p:grpSp>
        <p:nvGrpSpPr>
          <p:cNvPr id="643" name="组合 642">
            <a:extLst>
              <a:ext uri="{FF2B5EF4-FFF2-40B4-BE49-F238E27FC236}">
                <a16:creationId xmlns:a16="http://schemas.microsoft.com/office/drawing/2014/main" id="{AB3F2DED-BF37-0268-C4E8-F142C1A98595}"/>
              </a:ext>
            </a:extLst>
          </p:cNvPr>
          <p:cNvGrpSpPr/>
          <p:nvPr/>
        </p:nvGrpSpPr>
        <p:grpSpPr>
          <a:xfrm>
            <a:off x="4222115" y="1597688"/>
            <a:ext cx="3718560" cy="5259585"/>
            <a:chOff x="6649" y="3074"/>
            <a:chExt cx="5856" cy="7725"/>
          </a:xfrm>
        </p:grpSpPr>
        <p:sp>
          <p:nvSpPr>
            <p:cNvPr id="644" name="矩形 643">
              <a:extLst>
                <a:ext uri="{FF2B5EF4-FFF2-40B4-BE49-F238E27FC236}">
                  <a16:creationId xmlns:a16="http://schemas.microsoft.com/office/drawing/2014/main" id="{49ADA137-8D8C-EBA2-B362-6427C4B3792A}"/>
                </a:ext>
              </a:extLst>
            </p:cNvPr>
            <p:cNvSpPr/>
            <p:nvPr/>
          </p:nvSpPr>
          <p:spPr>
            <a:xfrm>
              <a:off x="6649" y="3074"/>
              <a:ext cx="5857" cy="2313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45" name="矩形 644">
              <a:extLst>
                <a:ext uri="{FF2B5EF4-FFF2-40B4-BE49-F238E27FC236}">
                  <a16:creationId xmlns:a16="http://schemas.microsoft.com/office/drawing/2014/main" id="{80DBFB6F-8C88-F7B4-273A-C5990308BF22}"/>
                </a:ext>
              </a:extLst>
            </p:cNvPr>
            <p:cNvSpPr/>
            <p:nvPr/>
          </p:nvSpPr>
          <p:spPr>
            <a:xfrm>
              <a:off x="6649" y="3074"/>
              <a:ext cx="5857" cy="2313"/>
            </a:xfrm>
            <a:prstGeom prst="rect">
              <a:avLst/>
            </a:prstGeom>
            <a:solidFill>
              <a:srgbClr val="7928D5">
                <a:alpha val="81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46" name="圆角矩形 50">
              <a:extLst>
                <a:ext uri="{FF2B5EF4-FFF2-40B4-BE49-F238E27FC236}">
                  <a16:creationId xmlns:a16="http://schemas.microsoft.com/office/drawing/2014/main" id="{77D65360-9FB2-CAEC-87A1-F12A001C0334}"/>
                </a:ext>
              </a:extLst>
            </p:cNvPr>
            <p:cNvSpPr/>
            <p:nvPr/>
          </p:nvSpPr>
          <p:spPr>
            <a:xfrm>
              <a:off x="6949" y="3561"/>
              <a:ext cx="537" cy="537"/>
            </a:xfrm>
            <a:prstGeom prst="roundRect">
              <a:avLst>
                <a:gd name="adj" fmla="val 36912"/>
              </a:avLst>
            </a:prstGeom>
            <a:solidFill>
              <a:srgbClr val="7928D5"/>
            </a:solidFill>
            <a:ln>
              <a:noFill/>
            </a:ln>
            <a:effectLst>
              <a:outerShdw blurRad="101600" dist="76200" dir="5400000" algn="ctr" rotWithShape="0">
                <a:srgbClr val="000000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</a:endParaRPr>
            </a:p>
          </p:txBody>
        </p:sp>
        <p:pic>
          <p:nvPicPr>
            <p:cNvPr id="647" name="图片 52" descr="左_left (1)">
              <a:extLst>
                <a:ext uri="{FF2B5EF4-FFF2-40B4-BE49-F238E27FC236}">
                  <a16:creationId xmlns:a16="http://schemas.microsoft.com/office/drawing/2014/main" id="{C48A3377-6312-ECB2-AF12-CB734EF304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033" y="3646"/>
              <a:ext cx="368" cy="368"/>
            </a:xfrm>
            <a:prstGeom prst="rect">
              <a:avLst/>
            </a:prstGeom>
          </p:spPr>
        </p:pic>
        <p:sp>
          <p:nvSpPr>
            <p:cNvPr id="648" name="文本框 647">
              <a:extLst>
                <a:ext uri="{FF2B5EF4-FFF2-40B4-BE49-F238E27FC236}">
                  <a16:creationId xmlns:a16="http://schemas.microsoft.com/office/drawing/2014/main" id="{2B0326A4-A575-62E2-BCB2-096D76BBAB30}"/>
                </a:ext>
              </a:extLst>
            </p:cNvPr>
            <p:cNvSpPr txBox="1"/>
            <p:nvPr/>
          </p:nvSpPr>
          <p:spPr>
            <a:xfrm>
              <a:off x="7629" y="3561"/>
              <a:ext cx="27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250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M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 Light" panose="020B0300000000000000" charset="-122"/>
                <a:cs typeface="Fluent" charset="0"/>
                <a:sym typeface="+mn-ea"/>
              </a:endParaRPr>
            </a:p>
          </p:txBody>
        </p:sp>
        <p:sp>
          <p:nvSpPr>
            <p:cNvPr id="649" name="文本框 648">
              <a:extLst>
                <a:ext uri="{FF2B5EF4-FFF2-40B4-BE49-F238E27FC236}">
                  <a16:creationId xmlns:a16="http://schemas.microsoft.com/office/drawing/2014/main" id="{03223B24-646E-3D6A-2714-38873B3DEB8F}"/>
                </a:ext>
              </a:extLst>
            </p:cNvPr>
            <p:cNvSpPr txBox="1"/>
            <p:nvPr/>
          </p:nvSpPr>
          <p:spPr>
            <a:xfrm>
              <a:off x="6662" y="4158"/>
              <a:ext cx="199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650" name="文本框 649">
              <a:extLst>
                <a:ext uri="{FF2B5EF4-FFF2-40B4-BE49-F238E27FC236}">
                  <a16:creationId xmlns:a16="http://schemas.microsoft.com/office/drawing/2014/main" id="{1EAC5FDC-2187-4C92-7122-9C82ED669AC9}"/>
                </a:ext>
              </a:extLst>
            </p:cNvPr>
            <p:cNvSpPr txBox="1"/>
            <p:nvPr/>
          </p:nvSpPr>
          <p:spPr>
            <a:xfrm rot="5400000">
              <a:off x="12091" y="3863"/>
              <a:ext cx="252" cy="5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8" h="50">
                  <a:moveTo>
                    <a:pt x="224" y="0"/>
                  </a:moveTo>
                  <a:cubicBezTo>
                    <a:pt x="230" y="0"/>
                    <a:pt x="236" y="2"/>
                    <a:pt x="241" y="7"/>
                  </a:cubicBezTo>
                  <a:cubicBezTo>
                    <a:pt x="245" y="12"/>
                    <a:pt x="248" y="18"/>
                    <a:pt x="248" y="25"/>
                  </a:cubicBezTo>
                  <a:cubicBezTo>
                    <a:pt x="248" y="32"/>
                    <a:pt x="245" y="38"/>
                    <a:pt x="241" y="43"/>
                  </a:cubicBezTo>
                  <a:cubicBezTo>
                    <a:pt x="236" y="48"/>
                    <a:pt x="230" y="50"/>
                    <a:pt x="224" y="50"/>
                  </a:cubicBezTo>
                  <a:cubicBezTo>
                    <a:pt x="217" y="50"/>
                    <a:pt x="211" y="48"/>
                    <a:pt x="207" y="43"/>
                  </a:cubicBezTo>
                  <a:cubicBezTo>
                    <a:pt x="202" y="38"/>
                    <a:pt x="200" y="32"/>
                    <a:pt x="200" y="25"/>
                  </a:cubicBezTo>
                  <a:cubicBezTo>
                    <a:pt x="200" y="18"/>
                    <a:pt x="202" y="12"/>
                    <a:pt x="207" y="7"/>
                  </a:cubicBezTo>
                  <a:cubicBezTo>
                    <a:pt x="211" y="2"/>
                    <a:pt x="217" y="0"/>
                    <a:pt x="224" y="0"/>
                  </a:cubicBezTo>
                  <a:close/>
                  <a:moveTo>
                    <a:pt x="124" y="0"/>
                  </a:moveTo>
                  <a:cubicBezTo>
                    <a:pt x="130" y="0"/>
                    <a:pt x="136" y="2"/>
                    <a:pt x="141" y="7"/>
                  </a:cubicBezTo>
                  <a:cubicBezTo>
                    <a:pt x="145" y="12"/>
                    <a:pt x="148" y="18"/>
                    <a:pt x="148" y="25"/>
                  </a:cubicBezTo>
                  <a:cubicBezTo>
                    <a:pt x="148" y="32"/>
                    <a:pt x="145" y="38"/>
                    <a:pt x="141" y="43"/>
                  </a:cubicBezTo>
                  <a:cubicBezTo>
                    <a:pt x="136" y="48"/>
                    <a:pt x="130" y="50"/>
                    <a:pt x="124" y="50"/>
                  </a:cubicBezTo>
                  <a:cubicBezTo>
                    <a:pt x="117" y="50"/>
                    <a:pt x="111" y="48"/>
                    <a:pt x="107" y="43"/>
                  </a:cubicBezTo>
                  <a:cubicBezTo>
                    <a:pt x="102" y="38"/>
                    <a:pt x="100" y="32"/>
                    <a:pt x="100" y="25"/>
                  </a:cubicBezTo>
                  <a:cubicBezTo>
                    <a:pt x="100" y="18"/>
                    <a:pt x="102" y="12"/>
                    <a:pt x="107" y="7"/>
                  </a:cubicBezTo>
                  <a:cubicBezTo>
                    <a:pt x="111" y="2"/>
                    <a:pt x="117" y="0"/>
                    <a:pt x="124" y="0"/>
                  </a:cubicBezTo>
                  <a:close/>
                  <a:moveTo>
                    <a:pt x="24" y="0"/>
                  </a:moveTo>
                  <a:cubicBezTo>
                    <a:pt x="30" y="0"/>
                    <a:pt x="36" y="2"/>
                    <a:pt x="41" y="7"/>
                  </a:cubicBezTo>
                  <a:cubicBezTo>
                    <a:pt x="45" y="12"/>
                    <a:pt x="48" y="18"/>
                    <a:pt x="48" y="25"/>
                  </a:cubicBezTo>
                  <a:cubicBezTo>
                    <a:pt x="48" y="32"/>
                    <a:pt x="45" y="38"/>
                    <a:pt x="41" y="43"/>
                  </a:cubicBezTo>
                  <a:cubicBezTo>
                    <a:pt x="36" y="48"/>
                    <a:pt x="30" y="50"/>
                    <a:pt x="24" y="50"/>
                  </a:cubicBezTo>
                  <a:cubicBezTo>
                    <a:pt x="17" y="50"/>
                    <a:pt x="11" y="48"/>
                    <a:pt x="7" y="43"/>
                  </a:cubicBezTo>
                  <a:cubicBezTo>
                    <a:pt x="2" y="38"/>
                    <a:pt x="0" y="32"/>
                    <a:pt x="0" y="25"/>
                  </a:cubicBezTo>
                  <a:cubicBezTo>
                    <a:pt x="0" y="18"/>
                    <a:pt x="2" y="12"/>
                    <a:pt x="7" y="7"/>
                  </a:cubicBezTo>
                  <a:cubicBezTo>
                    <a:pt x="11" y="2"/>
                    <a:pt x="17" y="0"/>
                    <a:pt x="24" y="0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effectLst/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0FCC52C5-3CD9-28C7-152D-BA86C38B53F3}"/>
                </a:ext>
              </a:extLst>
            </p:cNvPr>
            <p:cNvSpPr/>
            <p:nvPr/>
          </p:nvSpPr>
          <p:spPr>
            <a:xfrm>
              <a:off x="6649" y="5387"/>
              <a:ext cx="5857" cy="5412"/>
            </a:xfrm>
            <a:prstGeom prst="rect">
              <a:avLst/>
            </a:prstGeom>
            <a:solidFill>
              <a:srgbClr val="7928D5">
                <a:alpha val="81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3D022B00-5697-A44C-626C-F21908DAA2DC}"/>
              </a:ext>
            </a:extLst>
          </p:cNvPr>
          <p:cNvGrpSpPr/>
          <p:nvPr/>
        </p:nvGrpSpPr>
        <p:grpSpPr>
          <a:xfrm>
            <a:off x="8038465" y="1597688"/>
            <a:ext cx="3718560" cy="5259585"/>
            <a:chOff x="12659" y="3074"/>
            <a:chExt cx="5856" cy="7725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A7DE1D80-B060-A0A3-FC02-2200105D945A}"/>
                </a:ext>
              </a:extLst>
            </p:cNvPr>
            <p:cNvSpPr/>
            <p:nvPr/>
          </p:nvSpPr>
          <p:spPr>
            <a:xfrm>
              <a:off x="12659" y="3074"/>
              <a:ext cx="5857" cy="2313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1E606C4D-CDCB-19FC-4816-13B184D58F6B}"/>
                </a:ext>
              </a:extLst>
            </p:cNvPr>
            <p:cNvSpPr/>
            <p:nvPr/>
          </p:nvSpPr>
          <p:spPr>
            <a:xfrm>
              <a:off x="12659" y="3074"/>
              <a:ext cx="5857" cy="2313"/>
            </a:xfrm>
            <a:prstGeom prst="rect">
              <a:avLst/>
            </a:prstGeom>
            <a:solidFill>
              <a:srgbClr val="1A0147">
                <a:alpha val="81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55" name="圆角矩形 53">
              <a:extLst>
                <a:ext uri="{FF2B5EF4-FFF2-40B4-BE49-F238E27FC236}">
                  <a16:creationId xmlns:a16="http://schemas.microsoft.com/office/drawing/2014/main" id="{26C57F98-709A-8E4F-B3D8-DD908EE30E8B}"/>
                </a:ext>
              </a:extLst>
            </p:cNvPr>
            <p:cNvSpPr/>
            <p:nvPr/>
          </p:nvSpPr>
          <p:spPr>
            <a:xfrm>
              <a:off x="12901" y="3561"/>
              <a:ext cx="537" cy="537"/>
            </a:xfrm>
            <a:prstGeom prst="roundRect">
              <a:avLst>
                <a:gd name="adj" fmla="val 36912"/>
              </a:avLst>
            </a:prstGeom>
            <a:solidFill>
              <a:srgbClr val="1A0147"/>
            </a:solidFill>
            <a:ln>
              <a:noFill/>
            </a:ln>
            <a:effectLst>
              <a:outerShdw blurRad="101600" dist="76200" dir="5400000" algn="t" rotWithShape="0">
                <a:prstClr val="black">
                  <a:alpha val="18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</a:endParaRPr>
            </a:p>
          </p:txBody>
        </p:sp>
        <p:pic>
          <p:nvPicPr>
            <p:cNvPr id="656" name="图片 55" descr="左_left (1)">
              <a:extLst>
                <a:ext uri="{FF2B5EF4-FFF2-40B4-BE49-F238E27FC236}">
                  <a16:creationId xmlns:a16="http://schemas.microsoft.com/office/drawing/2014/main" id="{5C0992B3-D7AF-8CAB-7FDA-2FAA95E648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12984" y="3646"/>
              <a:ext cx="368" cy="368"/>
            </a:xfrm>
            <a:prstGeom prst="rect">
              <a:avLst/>
            </a:prstGeom>
          </p:spPr>
        </p:pic>
        <p:sp>
          <p:nvSpPr>
            <p:cNvPr id="657" name="文本框 656">
              <a:extLst>
                <a:ext uri="{FF2B5EF4-FFF2-40B4-BE49-F238E27FC236}">
                  <a16:creationId xmlns:a16="http://schemas.microsoft.com/office/drawing/2014/main" id="{73330AAB-41DF-1D51-37E6-7596CEDCCA0F}"/>
                </a:ext>
              </a:extLst>
            </p:cNvPr>
            <p:cNvSpPr txBox="1"/>
            <p:nvPr/>
          </p:nvSpPr>
          <p:spPr>
            <a:xfrm>
              <a:off x="13649" y="3561"/>
              <a:ext cx="27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250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M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 Light" panose="020B0300000000000000" charset="-122"/>
                <a:cs typeface="Fluent" charset="0"/>
                <a:sym typeface="+mn-ea"/>
              </a:endParaRPr>
            </a:p>
          </p:txBody>
        </p:sp>
        <p:sp>
          <p:nvSpPr>
            <p:cNvPr id="658" name="文本框 657">
              <a:extLst>
                <a:ext uri="{FF2B5EF4-FFF2-40B4-BE49-F238E27FC236}">
                  <a16:creationId xmlns:a16="http://schemas.microsoft.com/office/drawing/2014/main" id="{56D2BD6D-3418-ECE3-CB22-B827BC39D51E}"/>
                </a:ext>
              </a:extLst>
            </p:cNvPr>
            <p:cNvSpPr txBox="1"/>
            <p:nvPr/>
          </p:nvSpPr>
          <p:spPr>
            <a:xfrm>
              <a:off x="12682" y="4158"/>
              <a:ext cx="199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659" name="文本框 658">
              <a:extLst>
                <a:ext uri="{FF2B5EF4-FFF2-40B4-BE49-F238E27FC236}">
                  <a16:creationId xmlns:a16="http://schemas.microsoft.com/office/drawing/2014/main" id="{9C391D83-E8BE-3F13-E586-A455F877447D}"/>
                </a:ext>
              </a:extLst>
            </p:cNvPr>
            <p:cNvSpPr txBox="1"/>
            <p:nvPr/>
          </p:nvSpPr>
          <p:spPr>
            <a:xfrm>
              <a:off x="14440" y="4265"/>
              <a:ext cx="76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+60%</a:t>
              </a:r>
            </a:p>
          </p:txBody>
        </p:sp>
        <p:sp>
          <p:nvSpPr>
            <p:cNvPr id="660" name="文本框 659">
              <a:extLst>
                <a:ext uri="{FF2B5EF4-FFF2-40B4-BE49-F238E27FC236}">
                  <a16:creationId xmlns:a16="http://schemas.microsoft.com/office/drawing/2014/main" id="{4E0629F7-1C0B-4D34-7070-3CF127D96C08}"/>
                </a:ext>
              </a:extLst>
            </p:cNvPr>
            <p:cNvSpPr txBox="1"/>
            <p:nvPr/>
          </p:nvSpPr>
          <p:spPr>
            <a:xfrm rot="5400000">
              <a:off x="18074" y="3863"/>
              <a:ext cx="252" cy="5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8" h="50">
                  <a:moveTo>
                    <a:pt x="224" y="0"/>
                  </a:moveTo>
                  <a:cubicBezTo>
                    <a:pt x="230" y="0"/>
                    <a:pt x="236" y="2"/>
                    <a:pt x="241" y="7"/>
                  </a:cubicBezTo>
                  <a:cubicBezTo>
                    <a:pt x="245" y="12"/>
                    <a:pt x="248" y="18"/>
                    <a:pt x="248" y="25"/>
                  </a:cubicBezTo>
                  <a:cubicBezTo>
                    <a:pt x="248" y="32"/>
                    <a:pt x="245" y="38"/>
                    <a:pt x="241" y="43"/>
                  </a:cubicBezTo>
                  <a:cubicBezTo>
                    <a:pt x="236" y="48"/>
                    <a:pt x="230" y="50"/>
                    <a:pt x="224" y="50"/>
                  </a:cubicBezTo>
                  <a:cubicBezTo>
                    <a:pt x="217" y="50"/>
                    <a:pt x="211" y="48"/>
                    <a:pt x="207" y="43"/>
                  </a:cubicBezTo>
                  <a:cubicBezTo>
                    <a:pt x="202" y="38"/>
                    <a:pt x="200" y="32"/>
                    <a:pt x="200" y="25"/>
                  </a:cubicBezTo>
                  <a:cubicBezTo>
                    <a:pt x="200" y="18"/>
                    <a:pt x="202" y="12"/>
                    <a:pt x="207" y="7"/>
                  </a:cubicBezTo>
                  <a:cubicBezTo>
                    <a:pt x="211" y="2"/>
                    <a:pt x="217" y="0"/>
                    <a:pt x="224" y="0"/>
                  </a:cubicBezTo>
                  <a:close/>
                  <a:moveTo>
                    <a:pt x="124" y="0"/>
                  </a:moveTo>
                  <a:cubicBezTo>
                    <a:pt x="130" y="0"/>
                    <a:pt x="136" y="2"/>
                    <a:pt x="141" y="7"/>
                  </a:cubicBezTo>
                  <a:cubicBezTo>
                    <a:pt x="145" y="12"/>
                    <a:pt x="148" y="18"/>
                    <a:pt x="148" y="25"/>
                  </a:cubicBezTo>
                  <a:cubicBezTo>
                    <a:pt x="148" y="32"/>
                    <a:pt x="145" y="38"/>
                    <a:pt x="141" y="43"/>
                  </a:cubicBezTo>
                  <a:cubicBezTo>
                    <a:pt x="136" y="48"/>
                    <a:pt x="130" y="50"/>
                    <a:pt x="124" y="50"/>
                  </a:cubicBezTo>
                  <a:cubicBezTo>
                    <a:pt x="117" y="50"/>
                    <a:pt x="111" y="48"/>
                    <a:pt x="107" y="43"/>
                  </a:cubicBezTo>
                  <a:cubicBezTo>
                    <a:pt x="102" y="38"/>
                    <a:pt x="100" y="32"/>
                    <a:pt x="100" y="25"/>
                  </a:cubicBezTo>
                  <a:cubicBezTo>
                    <a:pt x="100" y="18"/>
                    <a:pt x="102" y="12"/>
                    <a:pt x="107" y="7"/>
                  </a:cubicBezTo>
                  <a:cubicBezTo>
                    <a:pt x="111" y="2"/>
                    <a:pt x="117" y="0"/>
                    <a:pt x="124" y="0"/>
                  </a:cubicBezTo>
                  <a:close/>
                  <a:moveTo>
                    <a:pt x="24" y="0"/>
                  </a:moveTo>
                  <a:cubicBezTo>
                    <a:pt x="30" y="0"/>
                    <a:pt x="36" y="2"/>
                    <a:pt x="41" y="7"/>
                  </a:cubicBezTo>
                  <a:cubicBezTo>
                    <a:pt x="45" y="12"/>
                    <a:pt x="48" y="18"/>
                    <a:pt x="48" y="25"/>
                  </a:cubicBezTo>
                  <a:cubicBezTo>
                    <a:pt x="48" y="32"/>
                    <a:pt x="45" y="38"/>
                    <a:pt x="41" y="43"/>
                  </a:cubicBezTo>
                  <a:cubicBezTo>
                    <a:pt x="36" y="48"/>
                    <a:pt x="30" y="50"/>
                    <a:pt x="24" y="50"/>
                  </a:cubicBezTo>
                  <a:cubicBezTo>
                    <a:pt x="17" y="50"/>
                    <a:pt x="11" y="48"/>
                    <a:pt x="7" y="43"/>
                  </a:cubicBezTo>
                  <a:cubicBezTo>
                    <a:pt x="2" y="38"/>
                    <a:pt x="0" y="32"/>
                    <a:pt x="0" y="25"/>
                  </a:cubicBezTo>
                  <a:cubicBezTo>
                    <a:pt x="0" y="18"/>
                    <a:pt x="2" y="12"/>
                    <a:pt x="7" y="7"/>
                  </a:cubicBezTo>
                  <a:cubicBezTo>
                    <a:pt x="11" y="2"/>
                    <a:pt x="17" y="0"/>
                    <a:pt x="24" y="0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effectLst/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61" name="矩形 660">
              <a:extLst>
                <a:ext uri="{FF2B5EF4-FFF2-40B4-BE49-F238E27FC236}">
                  <a16:creationId xmlns:a16="http://schemas.microsoft.com/office/drawing/2014/main" id="{07FAF592-7A34-B452-A93D-A723B9A00B13}"/>
                </a:ext>
              </a:extLst>
            </p:cNvPr>
            <p:cNvSpPr/>
            <p:nvPr/>
          </p:nvSpPr>
          <p:spPr>
            <a:xfrm>
              <a:off x="12659" y="5387"/>
              <a:ext cx="5857" cy="5412"/>
            </a:xfrm>
            <a:prstGeom prst="rect">
              <a:avLst/>
            </a:prstGeom>
            <a:solidFill>
              <a:srgbClr val="1A0147">
                <a:alpha val="81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grpSp>
        <p:nvGrpSpPr>
          <p:cNvPr id="662" name="组合 661">
            <a:extLst>
              <a:ext uri="{FF2B5EF4-FFF2-40B4-BE49-F238E27FC236}">
                <a16:creationId xmlns:a16="http://schemas.microsoft.com/office/drawing/2014/main" id="{B2FFE6E0-58B0-F548-F3D9-2785CA5CD1AF}"/>
              </a:ext>
            </a:extLst>
          </p:cNvPr>
          <p:cNvGrpSpPr/>
          <p:nvPr/>
        </p:nvGrpSpPr>
        <p:grpSpPr>
          <a:xfrm>
            <a:off x="393065" y="1597688"/>
            <a:ext cx="3718560" cy="5259585"/>
            <a:chOff x="619" y="3074"/>
            <a:chExt cx="5856" cy="7725"/>
          </a:xfrm>
        </p:grpSpPr>
        <p:sp>
          <p:nvSpPr>
            <p:cNvPr id="663" name="矩形 662">
              <a:extLst>
                <a:ext uri="{FF2B5EF4-FFF2-40B4-BE49-F238E27FC236}">
                  <a16:creationId xmlns:a16="http://schemas.microsoft.com/office/drawing/2014/main" id="{B12E5C0C-391D-C0E3-CAA0-4882D075AA9F}"/>
                </a:ext>
              </a:extLst>
            </p:cNvPr>
            <p:cNvSpPr/>
            <p:nvPr/>
          </p:nvSpPr>
          <p:spPr>
            <a:xfrm>
              <a:off x="619" y="3074"/>
              <a:ext cx="5857" cy="2313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64" name="矩形 663">
              <a:extLst>
                <a:ext uri="{FF2B5EF4-FFF2-40B4-BE49-F238E27FC236}">
                  <a16:creationId xmlns:a16="http://schemas.microsoft.com/office/drawing/2014/main" id="{D46040D4-CE12-2DFA-F655-2404D1D079AE}"/>
                </a:ext>
              </a:extLst>
            </p:cNvPr>
            <p:cNvSpPr/>
            <p:nvPr/>
          </p:nvSpPr>
          <p:spPr>
            <a:xfrm>
              <a:off x="619" y="3074"/>
              <a:ext cx="5857" cy="2313"/>
            </a:xfrm>
            <a:prstGeom prst="rect">
              <a:avLst/>
            </a:prstGeom>
            <a:solidFill>
              <a:srgbClr val="3C007F">
                <a:alpha val="81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65" name="圆角矩形 12">
              <a:extLst>
                <a:ext uri="{FF2B5EF4-FFF2-40B4-BE49-F238E27FC236}">
                  <a16:creationId xmlns:a16="http://schemas.microsoft.com/office/drawing/2014/main" id="{ED293636-DBE0-FB5D-F46C-8BCCE099FB63}"/>
                </a:ext>
              </a:extLst>
            </p:cNvPr>
            <p:cNvSpPr/>
            <p:nvPr/>
          </p:nvSpPr>
          <p:spPr>
            <a:xfrm>
              <a:off x="918" y="3561"/>
              <a:ext cx="537" cy="537"/>
            </a:xfrm>
            <a:prstGeom prst="roundRect">
              <a:avLst>
                <a:gd name="adj" fmla="val 36912"/>
              </a:avLst>
            </a:prstGeom>
            <a:solidFill>
              <a:srgbClr val="7928D5"/>
            </a:solidFill>
            <a:ln>
              <a:noFill/>
            </a:ln>
            <a:effectLst>
              <a:outerShdw blurRad="101600" dist="76200" dir="5400000" algn="ctr" rotWithShape="0">
                <a:srgbClr val="000000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</a:endParaRPr>
            </a:p>
          </p:txBody>
        </p:sp>
        <p:pic>
          <p:nvPicPr>
            <p:cNvPr id="666" name="图片 13" descr="左_left (1)">
              <a:extLst>
                <a:ext uri="{FF2B5EF4-FFF2-40B4-BE49-F238E27FC236}">
                  <a16:creationId xmlns:a16="http://schemas.microsoft.com/office/drawing/2014/main" id="{61099D4E-7857-801B-88C5-72B2BEAB62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1003" y="3646"/>
              <a:ext cx="368" cy="368"/>
            </a:xfrm>
            <a:prstGeom prst="rect">
              <a:avLst/>
            </a:prstGeom>
          </p:spPr>
        </p:pic>
        <p:sp>
          <p:nvSpPr>
            <p:cNvPr id="667" name="文本框 666">
              <a:extLst>
                <a:ext uri="{FF2B5EF4-FFF2-40B4-BE49-F238E27FC236}">
                  <a16:creationId xmlns:a16="http://schemas.microsoft.com/office/drawing/2014/main" id="{FFF49E69-8079-4495-3331-B399DE817514}"/>
                </a:ext>
              </a:extLst>
            </p:cNvPr>
            <p:cNvSpPr txBox="1"/>
            <p:nvPr/>
          </p:nvSpPr>
          <p:spPr>
            <a:xfrm>
              <a:off x="1599" y="3561"/>
              <a:ext cx="27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250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ea"/>
                </a:rPr>
                <a:t>M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 Light" panose="020B0300000000000000" charset="-122"/>
                <a:cs typeface="Fluent" charset="0"/>
                <a:sym typeface="+mn-ea"/>
              </a:endParaRPr>
            </a:p>
          </p:txBody>
        </p:sp>
        <p:sp>
          <p:nvSpPr>
            <p:cNvPr id="668" name="文本框 667">
              <a:extLst>
                <a:ext uri="{FF2B5EF4-FFF2-40B4-BE49-F238E27FC236}">
                  <a16:creationId xmlns:a16="http://schemas.microsoft.com/office/drawing/2014/main" id="{8840A721-1E21-A9EC-7FB0-F85365630C88}"/>
                </a:ext>
              </a:extLst>
            </p:cNvPr>
            <p:cNvSpPr txBox="1"/>
            <p:nvPr/>
          </p:nvSpPr>
          <p:spPr>
            <a:xfrm>
              <a:off x="631" y="4158"/>
              <a:ext cx="199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50+ Scenes</a:t>
              </a:r>
            </a:p>
          </p:txBody>
        </p:sp>
        <p:sp>
          <p:nvSpPr>
            <p:cNvPr id="669" name="文本框 668">
              <a:extLst>
                <a:ext uri="{FF2B5EF4-FFF2-40B4-BE49-F238E27FC236}">
                  <a16:creationId xmlns:a16="http://schemas.microsoft.com/office/drawing/2014/main" id="{AA26AC92-4AC0-08EA-A8C2-C25D67608EA1}"/>
                </a:ext>
              </a:extLst>
            </p:cNvPr>
            <p:cNvSpPr txBox="1"/>
            <p:nvPr/>
          </p:nvSpPr>
          <p:spPr>
            <a:xfrm rot="5400000">
              <a:off x="6060" y="3863"/>
              <a:ext cx="252" cy="5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8" h="50">
                  <a:moveTo>
                    <a:pt x="224" y="0"/>
                  </a:moveTo>
                  <a:cubicBezTo>
                    <a:pt x="230" y="0"/>
                    <a:pt x="236" y="2"/>
                    <a:pt x="241" y="7"/>
                  </a:cubicBezTo>
                  <a:cubicBezTo>
                    <a:pt x="245" y="12"/>
                    <a:pt x="248" y="18"/>
                    <a:pt x="248" y="25"/>
                  </a:cubicBezTo>
                  <a:cubicBezTo>
                    <a:pt x="248" y="32"/>
                    <a:pt x="245" y="38"/>
                    <a:pt x="241" y="43"/>
                  </a:cubicBezTo>
                  <a:cubicBezTo>
                    <a:pt x="236" y="48"/>
                    <a:pt x="230" y="50"/>
                    <a:pt x="224" y="50"/>
                  </a:cubicBezTo>
                  <a:cubicBezTo>
                    <a:pt x="217" y="50"/>
                    <a:pt x="211" y="48"/>
                    <a:pt x="207" y="43"/>
                  </a:cubicBezTo>
                  <a:cubicBezTo>
                    <a:pt x="202" y="38"/>
                    <a:pt x="200" y="32"/>
                    <a:pt x="200" y="25"/>
                  </a:cubicBezTo>
                  <a:cubicBezTo>
                    <a:pt x="200" y="18"/>
                    <a:pt x="202" y="12"/>
                    <a:pt x="207" y="7"/>
                  </a:cubicBezTo>
                  <a:cubicBezTo>
                    <a:pt x="211" y="2"/>
                    <a:pt x="217" y="0"/>
                    <a:pt x="224" y="0"/>
                  </a:cubicBezTo>
                  <a:close/>
                  <a:moveTo>
                    <a:pt x="124" y="0"/>
                  </a:moveTo>
                  <a:cubicBezTo>
                    <a:pt x="130" y="0"/>
                    <a:pt x="136" y="2"/>
                    <a:pt x="141" y="7"/>
                  </a:cubicBezTo>
                  <a:cubicBezTo>
                    <a:pt x="145" y="12"/>
                    <a:pt x="148" y="18"/>
                    <a:pt x="148" y="25"/>
                  </a:cubicBezTo>
                  <a:cubicBezTo>
                    <a:pt x="148" y="32"/>
                    <a:pt x="145" y="38"/>
                    <a:pt x="141" y="43"/>
                  </a:cubicBezTo>
                  <a:cubicBezTo>
                    <a:pt x="136" y="48"/>
                    <a:pt x="130" y="50"/>
                    <a:pt x="124" y="50"/>
                  </a:cubicBezTo>
                  <a:cubicBezTo>
                    <a:pt x="117" y="50"/>
                    <a:pt x="111" y="48"/>
                    <a:pt x="107" y="43"/>
                  </a:cubicBezTo>
                  <a:cubicBezTo>
                    <a:pt x="102" y="38"/>
                    <a:pt x="100" y="32"/>
                    <a:pt x="100" y="25"/>
                  </a:cubicBezTo>
                  <a:cubicBezTo>
                    <a:pt x="100" y="18"/>
                    <a:pt x="102" y="12"/>
                    <a:pt x="107" y="7"/>
                  </a:cubicBezTo>
                  <a:cubicBezTo>
                    <a:pt x="111" y="2"/>
                    <a:pt x="117" y="0"/>
                    <a:pt x="124" y="0"/>
                  </a:cubicBezTo>
                  <a:close/>
                  <a:moveTo>
                    <a:pt x="24" y="0"/>
                  </a:moveTo>
                  <a:cubicBezTo>
                    <a:pt x="30" y="0"/>
                    <a:pt x="36" y="2"/>
                    <a:pt x="41" y="7"/>
                  </a:cubicBezTo>
                  <a:cubicBezTo>
                    <a:pt x="45" y="12"/>
                    <a:pt x="48" y="18"/>
                    <a:pt x="48" y="25"/>
                  </a:cubicBezTo>
                  <a:cubicBezTo>
                    <a:pt x="48" y="32"/>
                    <a:pt x="45" y="38"/>
                    <a:pt x="41" y="43"/>
                  </a:cubicBezTo>
                  <a:cubicBezTo>
                    <a:pt x="36" y="48"/>
                    <a:pt x="30" y="50"/>
                    <a:pt x="24" y="50"/>
                  </a:cubicBezTo>
                  <a:cubicBezTo>
                    <a:pt x="17" y="50"/>
                    <a:pt x="11" y="48"/>
                    <a:pt x="7" y="43"/>
                  </a:cubicBezTo>
                  <a:cubicBezTo>
                    <a:pt x="2" y="38"/>
                    <a:pt x="0" y="32"/>
                    <a:pt x="0" y="25"/>
                  </a:cubicBezTo>
                  <a:cubicBezTo>
                    <a:pt x="0" y="18"/>
                    <a:pt x="2" y="12"/>
                    <a:pt x="7" y="7"/>
                  </a:cubicBezTo>
                  <a:cubicBezTo>
                    <a:pt x="11" y="2"/>
                    <a:pt x="17" y="0"/>
                    <a:pt x="24" y="0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effectLst/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670" name="矩形 669">
              <a:extLst>
                <a:ext uri="{FF2B5EF4-FFF2-40B4-BE49-F238E27FC236}">
                  <a16:creationId xmlns:a16="http://schemas.microsoft.com/office/drawing/2014/main" id="{7FA17314-841E-DAA1-91E0-3F24132031C2}"/>
                </a:ext>
              </a:extLst>
            </p:cNvPr>
            <p:cNvSpPr/>
            <p:nvPr/>
          </p:nvSpPr>
          <p:spPr>
            <a:xfrm>
              <a:off x="619" y="5387"/>
              <a:ext cx="5857" cy="5412"/>
            </a:xfrm>
            <a:prstGeom prst="rect">
              <a:avLst/>
            </a:prstGeom>
            <a:solidFill>
              <a:srgbClr val="3C007F">
                <a:alpha val="81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sp>
        <p:nvSpPr>
          <p:cNvPr id="672" name="矩形 671">
            <a:extLst>
              <a:ext uri="{FF2B5EF4-FFF2-40B4-BE49-F238E27FC236}">
                <a16:creationId xmlns:a16="http://schemas.microsoft.com/office/drawing/2014/main" id="{EFF1E974-D122-B9DC-2C64-230F2BD24155}"/>
              </a:ext>
            </a:extLst>
          </p:cNvPr>
          <p:cNvSpPr/>
          <p:nvPr/>
        </p:nvSpPr>
        <p:spPr>
          <a:xfrm>
            <a:off x="448945" y="2919223"/>
            <a:ext cx="3608070" cy="39394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sp>
        <p:nvSpPr>
          <p:cNvPr id="675" name="矩形 674">
            <a:extLst>
              <a:ext uri="{FF2B5EF4-FFF2-40B4-BE49-F238E27FC236}">
                <a16:creationId xmlns:a16="http://schemas.microsoft.com/office/drawing/2014/main" id="{7D432470-CB05-862A-B15F-9F7F9EDB98A9}"/>
              </a:ext>
            </a:extLst>
          </p:cNvPr>
          <p:cNvSpPr/>
          <p:nvPr/>
        </p:nvSpPr>
        <p:spPr>
          <a:xfrm>
            <a:off x="4277995" y="2919223"/>
            <a:ext cx="3608070" cy="39394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sp>
        <p:nvSpPr>
          <p:cNvPr id="678" name="矩形 677">
            <a:extLst>
              <a:ext uri="{FF2B5EF4-FFF2-40B4-BE49-F238E27FC236}">
                <a16:creationId xmlns:a16="http://schemas.microsoft.com/office/drawing/2014/main" id="{3E3523D3-DCDB-CD9C-D85A-B0B3BEAE67D5}"/>
              </a:ext>
            </a:extLst>
          </p:cNvPr>
          <p:cNvSpPr/>
          <p:nvPr/>
        </p:nvSpPr>
        <p:spPr>
          <a:xfrm>
            <a:off x="8094345" y="2919223"/>
            <a:ext cx="3608070" cy="39394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grpSp>
        <p:nvGrpSpPr>
          <p:cNvPr id="680" name="组合 679">
            <a:extLst>
              <a:ext uri="{FF2B5EF4-FFF2-40B4-BE49-F238E27FC236}">
                <a16:creationId xmlns:a16="http://schemas.microsoft.com/office/drawing/2014/main" id="{5A539647-1EA3-4776-6DEB-A43636F63CDE}"/>
              </a:ext>
            </a:extLst>
          </p:cNvPr>
          <p:cNvGrpSpPr/>
          <p:nvPr/>
        </p:nvGrpSpPr>
        <p:grpSpPr>
          <a:xfrm>
            <a:off x="4297680" y="3297777"/>
            <a:ext cx="3598545" cy="2738389"/>
            <a:chOff x="6768" y="5571"/>
            <a:chExt cx="5667" cy="4022"/>
          </a:xfrm>
        </p:grpSpPr>
        <p:sp>
          <p:nvSpPr>
            <p:cNvPr id="681" name="文本框 680">
              <a:extLst>
                <a:ext uri="{FF2B5EF4-FFF2-40B4-BE49-F238E27FC236}">
                  <a16:creationId xmlns:a16="http://schemas.microsoft.com/office/drawing/2014/main" id="{87239706-CD07-821E-405E-6E7501DA9E6E}"/>
                </a:ext>
              </a:extLst>
            </p:cNvPr>
            <p:cNvSpPr txBox="1"/>
            <p:nvPr/>
          </p:nvSpPr>
          <p:spPr>
            <a:xfrm>
              <a:off x="6768" y="6541"/>
              <a:ext cx="5505" cy="30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数据是业务的核心资产，而云计算则是数据整合的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纽带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。它打破企业内部数据孤岛，将生产、销售、用户数据汇聚云端并实时分析，让业务决策从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经验驱动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转向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数据驱动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。某制造企业依托云数据融合，优化生产排程方案，产能利用率提升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30%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，成功重构从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生产到交付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的全链路业务逻辑。</a:t>
              </a:r>
            </a:p>
          </p:txBody>
        </p:sp>
        <p:sp>
          <p:nvSpPr>
            <p:cNvPr id="682" name="文本框 681">
              <a:extLst>
                <a:ext uri="{FF2B5EF4-FFF2-40B4-BE49-F238E27FC236}">
                  <a16:creationId xmlns:a16="http://schemas.microsoft.com/office/drawing/2014/main" id="{5F31D800-5B31-E0A9-7131-B03E29008E21}"/>
                </a:ext>
              </a:extLst>
            </p:cNvPr>
            <p:cNvSpPr txBox="1"/>
            <p:nvPr/>
          </p:nvSpPr>
          <p:spPr>
            <a:xfrm>
              <a:off x="7637" y="5571"/>
              <a:ext cx="3235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云融数据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重构业务</a:t>
              </a:r>
            </a:p>
          </p:txBody>
        </p:sp>
        <p:sp>
          <p:nvSpPr>
            <p:cNvPr id="683" name="文本框 682">
              <a:extLst>
                <a:ext uri="{FF2B5EF4-FFF2-40B4-BE49-F238E27FC236}">
                  <a16:creationId xmlns:a16="http://schemas.microsoft.com/office/drawing/2014/main" id="{0823459B-E3DB-845C-76DC-0D980A91B783}"/>
                </a:ext>
              </a:extLst>
            </p:cNvPr>
            <p:cNvSpPr txBox="1"/>
            <p:nvPr/>
          </p:nvSpPr>
          <p:spPr>
            <a:xfrm>
              <a:off x="7637" y="5969"/>
              <a:ext cx="4798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The copy is yet to be filled in</a:t>
              </a:r>
            </a:p>
          </p:txBody>
        </p:sp>
        <p:cxnSp>
          <p:nvCxnSpPr>
            <p:cNvPr id="684" name="直接连接符 683">
              <a:extLst>
                <a:ext uri="{FF2B5EF4-FFF2-40B4-BE49-F238E27FC236}">
                  <a16:creationId xmlns:a16="http://schemas.microsoft.com/office/drawing/2014/main" id="{6824B894-763F-0459-B10F-1C09779B91BC}"/>
                </a:ext>
              </a:extLst>
            </p:cNvPr>
            <p:cNvCxnSpPr/>
            <p:nvPr/>
          </p:nvCxnSpPr>
          <p:spPr>
            <a:xfrm>
              <a:off x="6936" y="6441"/>
              <a:ext cx="792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85" name="直接连接符 684">
              <a:extLst>
                <a:ext uri="{FF2B5EF4-FFF2-40B4-BE49-F238E27FC236}">
                  <a16:creationId xmlns:a16="http://schemas.microsoft.com/office/drawing/2014/main" id="{FF3451E6-6940-D34B-FA46-E9AE0C302F8A}"/>
                </a:ext>
              </a:extLst>
            </p:cNvPr>
            <p:cNvCxnSpPr/>
            <p:nvPr/>
          </p:nvCxnSpPr>
          <p:spPr>
            <a:xfrm>
              <a:off x="7816" y="6441"/>
              <a:ext cx="4347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pic>
          <p:nvPicPr>
            <p:cNvPr id="686" name="图片 145" descr="下_down (15)">
              <a:extLst>
                <a:ext uri="{FF2B5EF4-FFF2-40B4-BE49-F238E27FC236}">
                  <a16:creationId xmlns:a16="http://schemas.microsoft.com/office/drawing/2014/main" id="{DB1B3581-9472-28F3-D7A0-89D78B2CD5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6840" y="5613"/>
              <a:ext cx="356" cy="356"/>
            </a:xfrm>
            <a:prstGeom prst="rect">
              <a:avLst/>
            </a:prstGeom>
          </p:spPr>
        </p:pic>
      </p:grpSp>
      <p:grpSp>
        <p:nvGrpSpPr>
          <p:cNvPr id="687" name="组合 686">
            <a:extLst>
              <a:ext uri="{FF2B5EF4-FFF2-40B4-BE49-F238E27FC236}">
                <a16:creationId xmlns:a16="http://schemas.microsoft.com/office/drawing/2014/main" id="{2452556F-DD79-9086-E9ED-2D884EE49728}"/>
              </a:ext>
            </a:extLst>
          </p:cNvPr>
          <p:cNvGrpSpPr/>
          <p:nvPr/>
        </p:nvGrpSpPr>
        <p:grpSpPr>
          <a:xfrm>
            <a:off x="8094345" y="3297777"/>
            <a:ext cx="3598545" cy="2738389"/>
            <a:chOff x="12747" y="5571"/>
            <a:chExt cx="5667" cy="4022"/>
          </a:xfrm>
        </p:grpSpPr>
        <p:sp>
          <p:nvSpPr>
            <p:cNvPr id="688" name="文本框 687">
              <a:extLst>
                <a:ext uri="{FF2B5EF4-FFF2-40B4-BE49-F238E27FC236}">
                  <a16:creationId xmlns:a16="http://schemas.microsoft.com/office/drawing/2014/main" id="{294320BA-D7CB-B6DE-D2C7-3333C100D007}"/>
                </a:ext>
              </a:extLst>
            </p:cNvPr>
            <p:cNvSpPr txBox="1"/>
            <p:nvPr/>
          </p:nvSpPr>
          <p:spPr>
            <a:xfrm>
              <a:off x="12747" y="6541"/>
              <a:ext cx="5505" cy="30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云计算为企业技术创新提供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基座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，让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AI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、大数据等技术快速落地到业务场景。无需投入高额硬件成本，企业即可通过云服务部署智能客服、精准营销等工具，推动业务从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基础服务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向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增值服务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升级。比如服务行业借云赋能的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AI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系统，用户问题解决率提升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65%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，客户满意度显著提高，实现业务价值的进阶。</a:t>
              </a:r>
            </a:p>
          </p:txBody>
        </p:sp>
        <p:sp>
          <p:nvSpPr>
            <p:cNvPr id="689" name="文本框 688">
              <a:extLst>
                <a:ext uri="{FF2B5EF4-FFF2-40B4-BE49-F238E27FC236}">
                  <a16:creationId xmlns:a16="http://schemas.microsoft.com/office/drawing/2014/main" id="{E8C0C9E7-846C-E1A4-9870-FDE94D6C3E89}"/>
                </a:ext>
              </a:extLst>
            </p:cNvPr>
            <p:cNvSpPr txBox="1"/>
            <p:nvPr/>
          </p:nvSpPr>
          <p:spPr>
            <a:xfrm>
              <a:off x="13616" y="5571"/>
              <a:ext cx="3235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云赋技术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升级业务</a:t>
              </a:r>
            </a:p>
          </p:txBody>
        </p:sp>
        <p:sp>
          <p:nvSpPr>
            <p:cNvPr id="690" name="文本框 689">
              <a:extLst>
                <a:ext uri="{FF2B5EF4-FFF2-40B4-BE49-F238E27FC236}">
                  <a16:creationId xmlns:a16="http://schemas.microsoft.com/office/drawing/2014/main" id="{070932B3-01BF-9CE5-C718-E0FE0A8C94A6}"/>
                </a:ext>
              </a:extLst>
            </p:cNvPr>
            <p:cNvSpPr txBox="1"/>
            <p:nvPr/>
          </p:nvSpPr>
          <p:spPr>
            <a:xfrm>
              <a:off x="13616" y="5969"/>
              <a:ext cx="4798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The copy is yet to be filled in</a:t>
              </a:r>
            </a:p>
          </p:txBody>
        </p:sp>
        <p:cxnSp>
          <p:nvCxnSpPr>
            <p:cNvPr id="691" name="直接连接符 690">
              <a:extLst>
                <a:ext uri="{FF2B5EF4-FFF2-40B4-BE49-F238E27FC236}">
                  <a16:creationId xmlns:a16="http://schemas.microsoft.com/office/drawing/2014/main" id="{5B76A5A1-6EA8-25AE-093A-0051146F67A4}"/>
                </a:ext>
              </a:extLst>
            </p:cNvPr>
            <p:cNvCxnSpPr/>
            <p:nvPr/>
          </p:nvCxnSpPr>
          <p:spPr>
            <a:xfrm>
              <a:off x="12915" y="6441"/>
              <a:ext cx="792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92" name="直接连接符 691">
              <a:extLst>
                <a:ext uri="{FF2B5EF4-FFF2-40B4-BE49-F238E27FC236}">
                  <a16:creationId xmlns:a16="http://schemas.microsoft.com/office/drawing/2014/main" id="{B1BB7373-BBFA-2921-3071-881B52E8C920}"/>
                </a:ext>
              </a:extLst>
            </p:cNvPr>
            <p:cNvCxnSpPr/>
            <p:nvPr/>
          </p:nvCxnSpPr>
          <p:spPr>
            <a:xfrm>
              <a:off x="13795" y="6441"/>
              <a:ext cx="4347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pic>
          <p:nvPicPr>
            <p:cNvPr id="693" name="图片 152" descr="下_down (15)">
              <a:extLst>
                <a:ext uri="{FF2B5EF4-FFF2-40B4-BE49-F238E27FC236}">
                  <a16:creationId xmlns:a16="http://schemas.microsoft.com/office/drawing/2014/main" id="{8A87AE37-F54B-82D9-B37B-F5B610C340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12915" y="5613"/>
              <a:ext cx="356" cy="356"/>
            </a:xfrm>
            <a:prstGeom prst="rect">
              <a:avLst/>
            </a:prstGeom>
          </p:spPr>
        </p:pic>
      </p:grpSp>
      <p:grpSp>
        <p:nvGrpSpPr>
          <p:cNvPr id="694" name="组合 693">
            <a:extLst>
              <a:ext uri="{FF2B5EF4-FFF2-40B4-BE49-F238E27FC236}">
                <a16:creationId xmlns:a16="http://schemas.microsoft.com/office/drawing/2014/main" id="{F57A4AC1-ABEA-A008-7E9A-972E761331E7}"/>
              </a:ext>
            </a:extLst>
          </p:cNvPr>
          <p:cNvGrpSpPr/>
          <p:nvPr/>
        </p:nvGrpSpPr>
        <p:grpSpPr>
          <a:xfrm>
            <a:off x="448945" y="3297777"/>
            <a:ext cx="3598545" cy="2407494"/>
            <a:chOff x="707" y="5571"/>
            <a:chExt cx="5667" cy="3536"/>
          </a:xfrm>
        </p:grpSpPr>
        <p:sp>
          <p:nvSpPr>
            <p:cNvPr id="695" name="文本框 694">
              <a:extLst>
                <a:ext uri="{FF2B5EF4-FFF2-40B4-BE49-F238E27FC236}">
                  <a16:creationId xmlns:a16="http://schemas.microsoft.com/office/drawing/2014/main" id="{FED8BA33-B1D5-B8F5-8005-9B0D262C5116}"/>
                </a:ext>
              </a:extLst>
            </p:cNvPr>
            <p:cNvSpPr txBox="1"/>
            <p:nvPr/>
          </p:nvSpPr>
          <p:spPr>
            <a:xfrm>
              <a:off x="707" y="6541"/>
              <a:ext cx="5505" cy="25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云计算如同数字时代的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引擎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，为企业业务注入新动能。通过云平台整合分散的业务数据与流程，原本割裂的部门协作变得高效顺畅，传统线下业务也能快速拓展线上场景。例如零售企业借云技术实现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线上线下库存同步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”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，订单处理效率提升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50%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，真正以数字之力焕新业务运转模式。</a:t>
              </a:r>
            </a:p>
          </p:txBody>
        </p:sp>
        <p:sp>
          <p:nvSpPr>
            <p:cNvPr id="696" name="文本框 695">
              <a:extLst>
                <a:ext uri="{FF2B5EF4-FFF2-40B4-BE49-F238E27FC236}">
                  <a16:creationId xmlns:a16="http://schemas.microsoft.com/office/drawing/2014/main" id="{B1B3B727-6129-ADB8-09E1-4525DB0EB5E7}"/>
                </a:ext>
              </a:extLst>
            </p:cNvPr>
            <p:cNvSpPr txBox="1"/>
            <p:nvPr/>
          </p:nvSpPr>
          <p:spPr>
            <a:xfrm>
              <a:off x="1576" y="5571"/>
              <a:ext cx="3235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云擎数字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焕新业务</a:t>
              </a:r>
            </a:p>
          </p:txBody>
        </p:sp>
        <p:sp>
          <p:nvSpPr>
            <p:cNvPr id="697" name="文本框 696">
              <a:extLst>
                <a:ext uri="{FF2B5EF4-FFF2-40B4-BE49-F238E27FC236}">
                  <a16:creationId xmlns:a16="http://schemas.microsoft.com/office/drawing/2014/main" id="{A183D53D-C179-3435-FB68-F95391C54843}"/>
                </a:ext>
              </a:extLst>
            </p:cNvPr>
            <p:cNvSpPr txBox="1"/>
            <p:nvPr/>
          </p:nvSpPr>
          <p:spPr>
            <a:xfrm>
              <a:off x="1576" y="5969"/>
              <a:ext cx="4798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The copy is yet to be filled in</a:t>
              </a:r>
            </a:p>
          </p:txBody>
        </p:sp>
        <p:cxnSp>
          <p:nvCxnSpPr>
            <p:cNvPr id="698" name="直接连接符 697">
              <a:extLst>
                <a:ext uri="{FF2B5EF4-FFF2-40B4-BE49-F238E27FC236}">
                  <a16:creationId xmlns:a16="http://schemas.microsoft.com/office/drawing/2014/main" id="{5155C15D-D870-936D-414A-91004EAF4005}"/>
                </a:ext>
              </a:extLst>
            </p:cNvPr>
            <p:cNvCxnSpPr/>
            <p:nvPr/>
          </p:nvCxnSpPr>
          <p:spPr>
            <a:xfrm>
              <a:off x="875" y="6441"/>
              <a:ext cx="792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99" name="直接连接符 698">
              <a:extLst>
                <a:ext uri="{FF2B5EF4-FFF2-40B4-BE49-F238E27FC236}">
                  <a16:creationId xmlns:a16="http://schemas.microsoft.com/office/drawing/2014/main" id="{40CD1DEF-028D-06A5-6C8F-A863DB1DB395}"/>
                </a:ext>
              </a:extLst>
            </p:cNvPr>
            <p:cNvCxnSpPr/>
            <p:nvPr/>
          </p:nvCxnSpPr>
          <p:spPr>
            <a:xfrm>
              <a:off x="1755" y="6441"/>
              <a:ext cx="4347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pic>
          <p:nvPicPr>
            <p:cNvPr id="700" name="图片 29" descr="下_down (15)">
              <a:extLst>
                <a:ext uri="{FF2B5EF4-FFF2-40B4-BE49-F238E27FC236}">
                  <a16:creationId xmlns:a16="http://schemas.microsoft.com/office/drawing/2014/main" id="{6C8F20D3-8273-FBAC-C309-77A603EB86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830" y="5613"/>
              <a:ext cx="356" cy="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754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8B91-3645-401B-D307-565FA48A2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DB759787-6C86-BA9B-D4E3-CBA7CD8632D6}"/>
              </a:ext>
            </a:extLst>
          </p:cNvPr>
          <p:cNvSpPr txBox="1"/>
          <p:nvPr/>
        </p:nvSpPr>
        <p:spPr>
          <a:xfrm>
            <a:off x="311150" y="1115409"/>
            <a:ext cx="4017351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algn="l"/>
            <a:r>
              <a:rPr lang="zh-CN" altLang="en-US" sz="3000" dirty="0">
                <a:sym typeface="+mn-ea"/>
              </a:rPr>
              <a:t>云驱数字 重塑业务</a:t>
            </a:r>
          </a:p>
        </p:txBody>
      </p:sp>
      <p:sp>
        <p:nvSpPr>
          <p:cNvPr id="721" name="矩形 720">
            <a:extLst>
              <a:ext uri="{FF2B5EF4-FFF2-40B4-BE49-F238E27FC236}">
                <a16:creationId xmlns:a16="http://schemas.microsoft.com/office/drawing/2014/main" id="{E380DD43-9279-CE49-708F-D072E373B0E6}"/>
              </a:ext>
            </a:extLst>
          </p:cNvPr>
          <p:cNvSpPr/>
          <p:nvPr/>
        </p:nvSpPr>
        <p:spPr>
          <a:xfrm>
            <a:off x="6265545" y="0"/>
            <a:ext cx="5926455" cy="6858635"/>
          </a:xfrm>
          <a:prstGeom prst="rect">
            <a:avLst/>
          </a:prstGeom>
          <a:solidFill>
            <a:srgbClr val="7928D5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grpSp>
        <p:nvGrpSpPr>
          <p:cNvPr id="727" name="组合 726">
            <a:extLst>
              <a:ext uri="{FF2B5EF4-FFF2-40B4-BE49-F238E27FC236}">
                <a16:creationId xmlns:a16="http://schemas.microsoft.com/office/drawing/2014/main" id="{B01DC5D6-1152-8E31-B70E-4B7639FA7831}"/>
              </a:ext>
            </a:extLst>
          </p:cNvPr>
          <p:cNvGrpSpPr/>
          <p:nvPr/>
        </p:nvGrpSpPr>
        <p:grpSpPr>
          <a:xfrm>
            <a:off x="6945630" y="1948180"/>
            <a:ext cx="4582160" cy="1176655"/>
            <a:chOff x="10938" y="3068"/>
            <a:chExt cx="7216" cy="1853"/>
          </a:xfrm>
        </p:grpSpPr>
        <p:cxnSp>
          <p:nvCxnSpPr>
            <p:cNvPr id="728" name="直接连接符 727">
              <a:extLst>
                <a:ext uri="{FF2B5EF4-FFF2-40B4-BE49-F238E27FC236}">
                  <a16:creationId xmlns:a16="http://schemas.microsoft.com/office/drawing/2014/main" id="{B4602A71-E51A-5825-6942-2456B2CEE027}"/>
                </a:ext>
              </a:extLst>
            </p:cNvPr>
            <p:cNvCxnSpPr/>
            <p:nvPr/>
          </p:nvCxnSpPr>
          <p:spPr>
            <a:xfrm>
              <a:off x="13459" y="4204"/>
              <a:ext cx="4263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cxnSp>
          <p:nvCxnSpPr>
            <p:cNvPr id="729" name="直接连接符 728">
              <a:extLst>
                <a:ext uri="{FF2B5EF4-FFF2-40B4-BE49-F238E27FC236}">
                  <a16:creationId xmlns:a16="http://schemas.microsoft.com/office/drawing/2014/main" id="{BC1F4402-86BF-A139-A246-429D6235F102}"/>
                </a:ext>
              </a:extLst>
            </p:cNvPr>
            <p:cNvCxnSpPr/>
            <p:nvPr/>
          </p:nvCxnSpPr>
          <p:spPr>
            <a:xfrm>
              <a:off x="12432" y="4204"/>
              <a:ext cx="895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730" name="文本框 729">
              <a:extLst>
                <a:ext uri="{FF2B5EF4-FFF2-40B4-BE49-F238E27FC236}">
                  <a16:creationId xmlns:a16="http://schemas.microsoft.com/office/drawing/2014/main" id="{3AA1C8A5-6970-E834-78DC-B506E8C20C52}"/>
                </a:ext>
              </a:extLst>
            </p:cNvPr>
            <p:cNvSpPr txBox="1"/>
            <p:nvPr/>
          </p:nvSpPr>
          <p:spPr>
            <a:xfrm>
              <a:off x="13067" y="3219"/>
              <a:ext cx="3602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云赋企业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焕新效能</a:t>
              </a:r>
            </a:p>
          </p:txBody>
        </p:sp>
        <p:sp>
          <p:nvSpPr>
            <p:cNvPr id="731" name="文本框 730">
              <a:extLst>
                <a:ext uri="{FF2B5EF4-FFF2-40B4-BE49-F238E27FC236}">
                  <a16:creationId xmlns:a16="http://schemas.microsoft.com/office/drawing/2014/main" id="{A8D44D1C-F252-02E4-9B52-539E4FB2E7BA}"/>
                </a:ext>
              </a:extLst>
            </p:cNvPr>
            <p:cNvSpPr txBox="1"/>
            <p:nvPr/>
          </p:nvSpPr>
          <p:spPr>
            <a:xfrm>
              <a:off x="13067" y="3704"/>
              <a:ext cx="360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Intelligent Packaging Design</a:t>
              </a:r>
            </a:p>
          </p:txBody>
        </p:sp>
        <p:pic>
          <p:nvPicPr>
            <p:cNvPr id="732" name="图片 153" descr="上_up (1)">
              <a:extLst>
                <a:ext uri="{FF2B5EF4-FFF2-40B4-BE49-F238E27FC236}">
                  <a16:creationId xmlns:a16="http://schemas.microsoft.com/office/drawing/2014/main" id="{D27C3F40-F038-326D-FA38-42048F8B20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2432" y="3367"/>
              <a:ext cx="401" cy="401"/>
            </a:xfrm>
            <a:prstGeom prst="rect">
              <a:avLst/>
            </a:prstGeom>
          </p:spPr>
        </p:pic>
        <p:sp>
          <p:nvSpPr>
            <p:cNvPr id="733" name="文本框 732">
              <a:extLst>
                <a:ext uri="{FF2B5EF4-FFF2-40B4-BE49-F238E27FC236}">
                  <a16:creationId xmlns:a16="http://schemas.microsoft.com/office/drawing/2014/main" id="{F045D175-B866-02CA-57C1-D87099010BD2}"/>
                </a:ext>
              </a:extLst>
            </p:cNvPr>
            <p:cNvSpPr txBox="1"/>
            <p:nvPr/>
          </p:nvSpPr>
          <p:spPr>
            <a:xfrm>
              <a:off x="12432" y="4293"/>
              <a:ext cx="5722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云计算简化企业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IT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流程，让运营效率显著提升</a:t>
              </a:r>
            </a:p>
          </p:txBody>
        </p:sp>
        <p:sp>
          <p:nvSpPr>
            <p:cNvPr id="734" name="椭圆 733">
              <a:extLst>
                <a:ext uri="{FF2B5EF4-FFF2-40B4-BE49-F238E27FC236}">
                  <a16:creationId xmlns:a16="http://schemas.microsoft.com/office/drawing/2014/main" id="{CE2E6A98-CD2A-BE58-1DA9-492D75D0C608}"/>
                </a:ext>
              </a:extLst>
            </p:cNvPr>
            <p:cNvSpPr/>
            <p:nvPr/>
          </p:nvSpPr>
          <p:spPr>
            <a:xfrm>
              <a:off x="10938" y="3068"/>
              <a:ext cx="1050" cy="1050"/>
            </a:xfrm>
            <a:prstGeom prst="ellipse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735" name="椭圆 734">
              <a:extLst>
                <a:ext uri="{FF2B5EF4-FFF2-40B4-BE49-F238E27FC236}">
                  <a16:creationId xmlns:a16="http://schemas.microsoft.com/office/drawing/2014/main" id="{A3349FE3-0FE7-D132-8281-DA722FBC49BB}"/>
                </a:ext>
              </a:extLst>
            </p:cNvPr>
            <p:cNvSpPr/>
            <p:nvPr/>
          </p:nvSpPr>
          <p:spPr>
            <a:xfrm>
              <a:off x="10938" y="3068"/>
              <a:ext cx="1050" cy="1050"/>
            </a:xfrm>
            <a:prstGeom prst="ellipse">
              <a:avLst/>
            </a:prstGeom>
            <a:solidFill>
              <a:srgbClr val="3C007F"/>
            </a:solidFill>
            <a:ln>
              <a:noFill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01</a:t>
              </a:r>
            </a:p>
          </p:txBody>
        </p:sp>
      </p:grpSp>
      <p:grpSp>
        <p:nvGrpSpPr>
          <p:cNvPr id="736" name="组合 735">
            <a:extLst>
              <a:ext uri="{FF2B5EF4-FFF2-40B4-BE49-F238E27FC236}">
                <a16:creationId xmlns:a16="http://schemas.microsoft.com/office/drawing/2014/main" id="{9444FB7E-9F98-0AD2-0F8F-A9BA4EF76047}"/>
              </a:ext>
            </a:extLst>
          </p:cNvPr>
          <p:cNvGrpSpPr/>
          <p:nvPr/>
        </p:nvGrpSpPr>
        <p:grpSpPr>
          <a:xfrm>
            <a:off x="6945630" y="3332480"/>
            <a:ext cx="4582160" cy="1215390"/>
            <a:chOff x="10938" y="5248"/>
            <a:chExt cx="7216" cy="1914"/>
          </a:xfrm>
        </p:grpSpPr>
        <p:cxnSp>
          <p:nvCxnSpPr>
            <p:cNvPr id="737" name="直接连接符 736">
              <a:extLst>
                <a:ext uri="{FF2B5EF4-FFF2-40B4-BE49-F238E27FC236}">
                  <a16:creationId xmlns:a16="http://schemas.microsoft.com/office/drawing/2014/main" id="{088A2BCA-ADF3-54B2-EAC0-210A941C1E28}"/>
                </a:ext>
              </a:extLst>
            </p:cNvPr>
            <p:cNvCxnSpPr/>
            <p:nvPr/>
          </p:nvCxnSpPr>
          <p:spPr>
            <a:xfrm>
              <a:off x="13459" y="6384"/>
              <a:ext cx="4263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cxnSp>
          <p:nvCxnSpPr>
            <p:cNvPr id="738" name="直接连接符 737">
              <a:extLst>
                <a:ext uri="{FF2B5EF4-FFF2-40B4-BE49-F238E27FC236}">
                  <a16:creationId xmlns:a16="http://schemas.microsoft.com/office/drawing/2014/main" id="{2BD79851-B7B3-35AE-3D3A-5649ECE1CAFC}"/>
                </a:ext>
              </a:extLst>
            </p:cNvPr>
            <p:cNvCxnSpPr/>
            <p:nvPr/>
          </p:nvCxnSpPr>
          <p:spPr>
            <a:xfrm>
              <a:off x="12432" y="6384"/>
              <a:ext cx="895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739" name="文本框 738">
              <a:extLst>
                <a:ext uri="{FF2B5EF4-FFF2-40B4-BE49-F238E27FC236}">
                  <a16:creationId xmlns:a16="http://schemas.microsoft.com/office/drawing/2014/main" id="{930B35EF-19D0-F272-4607-D9A2DFE71DE3}"/>
                </a:ext>
              </a:extLst>
            </p:cNvPr>
            <p:cNvSpPr txBox="1"/>
            <p:nvPr/>
          </p:nvSpPr>
          <p:spPr>
            <a:xfrm>
              <a:off x="13067" y="5399"/>
              <a:ext cx="3602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云助创新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驱动增长</a:t>
              </a:r>
            </a:p>
          </p:txBody>
        </p:sp>
        <p:sp>
          <p:nvSpPr>
            <p:cNvPr id="740" name="文本框 739">
              <a:extLst>
                <a:ext uri="{FF2B5EF4-FFF2-40B4-BE49-F238E27FC236}">
                  <a16:creationId xmlns:a16="http://schemas.microsoft.com/office/drawing/2014/main" id="{430C471F-DD38-4538-F0BB-6B89074F0238}"/>
                </a:ext>
              </a:extLst>
            </p:cNvPr>
            <p:cNvSpPr txBox="1"/>
            <p:nvPr/>
          </p:nvSpPr>
          <p:spPr>
            <a:xfrm>
              <a:off x="13067" y="5884"/>
              <a:ext cx="360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Intelligent Packaging Design</a:t>
              </a:r>
            </a:p>
          </p:txBody>
        </p:sp>
        <p:pic>
          <p:nvPicPr>
            <p:cNvPr id="741" name="图片 14" descr="上_up (1)">
              <a:extLst>
                <a:ext uri="{FF2B5EF4-FFF2-40B4-BE49-F238E27FC236}">
                  <a16:creationId xmlns:a16="http://schemas.microsoft.com/office/drawing/2014/main" id="{014DCC08-F4EA-0F5A-3797-A03BDE2AE5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2432" y="5547"/>
              <a:ext cx="401" cy="401"/>
            </a:xfrm>
            <a:prstGeom prst="rect">
              <a:avLst/>
            </a:prstGeom>
          </p:spPr>
        </p:pic>
        <p:sp>
          <p:nvSpPr>
            <p:cNvPr id="742" name="文本框 741">
              <a:extLst>
                <a:ext uri="{FF2B5EF4-FFF2-40B4-BE49-F238E27FC236}">
                  <a16:creationId xmlns:a16="http://schemas.microsoft.com/office/drawing/2014/main" id="{7BFAB252-2A9C-A049-B7FB-609E7DE3BB29}"/>
                </a:ext>
              </a:extLst>
            </p:cNvPr>
            <p:cNvSpPr txBox="1"/>
            <p:nvPr/>
          </p:nvSpPr>
          <p:spPr>
            <a:xfrm>
              <a:off x="12432" y="6534"/>
              <a:ext cx="5722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借云计算之力，企业创新项目快速落地增收益。</a:t>
              </a:r>
            </a:p>
          </p:txBody>
        </p:sp>
        <p:sp>
          <p:nvSpPr>
            <p:cNvPr id="743" name="椭圆 742">
              <a:extLst>
                <a:ext uri="{FF2B5EF4-FFF2-40B4-BE49-F238E27FC236}">
                  <a16:creationId xmlns:a16="http://schemas.microsoft.com/office/drawing/2014/main" id="{DB1B1042-0D08-BB71-DF4D-09B7926FE804}"/>
                </a:ext>
              </a:extLst>
            </p:cNvPr>
            <p:cNvSpPr/>
            <p:nvPr/>
          </p:nvSpPr>
          <p:spPr>
            <a:xfrm>
              <a:off x="10938" y="5248"/>
              <a:ext cx="1050" cy="1050"/>
            </a:xfrm>
            <a:prstGeom prst="ellipse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744" name="椭圆 743">
              <a:extLst>
                <a:ext uri="{FF2B5EF4-FFF2-40B4-BE49-F238E27FC236}">
                  <a16:creationId xmlns:a16="http://schemas.microsoft.com/office/drawing/2014/main" id="{ADE3659C-E62C-4F64-50B4-495833DA93C1}"/>
                </a:ext>
              </a:extLst>
            </p:cNvPr>
            <p:cNvSpPr/>
            <p:nvPr/>
          </p:nvSpPr>
          <p:spPr>
            <a:xfrm>
              <a:off x="10938" y="5248"/>
              <a:ext cx="1050" cy="1050"/>
            </a:xfrm>
            <a:prstGeom prst="ellipse">
              <a:avLst/>
            </a:prstGeom>
            <a:solidFill>
              <a:srgbClr val="7928D5"/>
            </a:solidFill>
            <a:ln>
              <a:noFill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02</a:t>
              </a:r>
            </a:p>
          </p:txBody>
        </p:sp>
      </p:grpSp>
      <p:grpSp>
        <p:nvGrpSpPr>
          <p:cNvPr id="745" name="组合 744">
            <a:extLst>
              <a:ext uri="{FF2B5EF4-FFF2-40B4-BE49-F238E27FC236}">
                <a16:creationId xmlns:a16="http://schemas.microsoft.com/office/drawing/2014/main" id="{F65270E9-7B48-D65E-A33F-DC2A54D9D393}"/>
              </a:ext>
            </a:extLst>
          </p:cNvPr>
          <p:cNvGrpSpPr/>
          <p:nvPr/>
        </p:nvGrpSpPr>
        <p:grpSpPr>
          <a:xfrm>
            <a:off x="6945630" y="4756150"/>
            <a:ext cx="4582160" cy="1184275"/>
            <a:chOff x="10938" y="7490"/>
            <a:chExt cx="7216" cy="1865"/>
          </a:xfrm>
        </p:grpSpPr>
        <p:cxnSp>
          <p:nvCxnSpPr>
            <p:cNvPr id="746" name="直接连接符 745">
              <a:extLst>
                <a:ext uri="{FF2B5EF4-FFF2-40B4-BE49-F238E27FC236}">
                  <a16:creationId xmlns:a16="http://schemas.microsoft.com/office/drawing/2014/main" id="{963B9FF8-FE50-8949-424E-9C3DEC84B121}"/>
                </a:ext>
              </a:extLst>
            </p:cNvPr>
            <p:cNvCxnSpPr/>
            <p:nvPr/>
          </p:nvCxnSpPr>
          <p:spPr>
            <a:xfrm>
              <a:off x="13459" y="8621"/>
              <a:ext cx="4263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cxnSp>
          <p:nvCxnSpPr>
            <p:cNvPr id="747" name="直接连接符 746">
              <a:extLst>
                <a:ext uri="{FF2B5EF4-FFF2-40B4-BE49-F238E27FC236}">
                  <a16:creationId xmlns:a16="http://schemas.microsoft.com/office/drawing/2014/main" id="{1B79490E-5915-6E7D-8151-CB7B83FF39B6}"/>
                </a:ext>
              </a:extLst>
            </p:cNvPr>
            <p:cNvCxnSpPr/>
            <p:nvPr/>
          </p:nvCxnSpPr>
          <p:spPr>
            <a:xfrm>
              <a:off x="12432" y="8621"/>
              <a:ext cx="895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748" name="文本框 747">
              <a:extLst>
                <a:ext uri="{FF2B5EF4-FFF2-40B4-BE49-F238E27FC236}">
                  <a16:creationId xmlns:a16="http://schemas.microsoft.com/office/drawing/2014/main" id="{26DA3813-9689-67F3-9AF4-4EE8AB577516}"/>
                </a:ext>
              </a:extLst>
            </p:cNvPr>
            <p:cNvSpPr txBox="1"/>
            <p:nvPr/>
          </p:nvSpPr>
          <p:spPr>
            <a:xfrm>
              <a:off x="13067" y="7636"/>
              <a:ext cx="3602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云强技术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优化运营</a:t>
              </a:r>
            </a:p>
          </p:txBody>
        </p:sp>
        <p:sp>
          <p:nvSpPr>
            <p:cNvPr id="749" name="文本框 748">
              <a:extLst>
                <a:ext uri="{FF2B5EF4-FFF2-40B4-BE49-F238E27FC236}">
                  <a16:creationId xmlns:a16="http://schemas.microsoft.com/office/drawing/2014/main" id="{5616FEF4-944B-4876-13AF-B21AEEC1D35B}"/>
                </a:ext>
              </a:extLst>
            </p:cNvPr>
            <p:cNvSpPr txBox="1"/>
            <p:nvPr/>
          </p:nvSpPr>
          <p:spPr>
            <a:xfrm>
              <a:off x="13067" y="8121"/>
              <a:ext cx="360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Intelligent Packaging Design</a:t>
              </a:r>
            </a:p>
          </p:txBody>
        </p:sp>
        <p:pic>
          <p:nvPicPr>
            <p:cNvPr id="750" name="图片 25" descr="上_up (1)">
              <a:extLst>
                <a:ext uri="{FF2B5EF4-FFF2-40B4-BE49-F238E27FC236}">
                  <a16:creationId xmlns:a16="http://schemas.microsoft.com/office/drawing/2014/main" id="{5C034C76-92F4-0D0C-F0FB-A60831EF9D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2432" y="7784"/>
              <a:ext cx="401" cy="401"/>
            </a:xfrm>
            <a:prstGeom prst="rect">
              <a:avLst/>
            </a:prstGeom>
          </p:spPr>
        </p:pic>
        <p:sp>
          <p:nvSpPr>
            <p:cNvPr id="751" name="文本框 750">
              <a:extLst>
                <a:ext uri="{FF2B5EF4-FFF2-40B4-BE49-F238E27FC236}">
                  <a16:creationId xmlns:a16="http://schemas.microsoft.com/office/drawing/2014/main" id="{4ACB0BC3-B5FA-6365-EDE7-2E43519B6D1E}"/>
                </a:ext>
              </a:extLst>
            </p:cNvPr>
            <p:cNvSpPr txBox="1"/>
            <p:nvPr/>
          </p:nvSpPr>
          <p:spPr>
            <a:xfrm>
              <a:off x="12432" y="8727"/>
              <a:ext cx="5722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依托云计算技术，企业运营成本降低更高效。</a:t>
              </a:r>
            </a:p>
          </p:txBody>
        </p:sp>
        <p:sp>
          <p:nvSpPr>
            <p:cNvPr id="752" name="椭圆 751">
              <a:extLst>
                <a:ext uri="{FF2B5EF4-FFF2-40B4-BE49-F238E27FC236}">
                  <a16:creationId xmlns:a16="http://schemas.microsoft.com/office/drawing/2014/main" id="{69096CDE-6ADF-A462-2C17-4663EB37291A}"/>
                </a:ext>
              </a:extLst>
            </p:cNvPr>
            <p:cNvSpPr/>
            <p:nvPr/>
          </p:nvSpPr>
          <p:spPr>
            <a:xfrm>
              <a:off x="10938" y="7490"/>
              <a:ext cx="1050" cy="1050"/>
            </a:xfrm>
            <a:prstGeom prst="ellipse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753" name="椭圆 752">
              <a:extLst>
                <a:ext uri="{FF2B5EF4-FFF2-40B4-BE49-F238E27FC236}">
                  <a16:creationId xmlns:a16="http://schemas.microsoft.com/office/drawing/2014/main" id="{89FC76A2-EBAE-6176-28C9-9163E51BC17F}"/>
                </a:ext>
              </a:extLst>
            </p:cNvPr>
            <p:cNvSpPr/>
            <p:nvPr/>
          </p:nvSpPr>
          <p:spPr>
            <a:xfrm>
              <a:off x="10938" y="7490"/>
              <a:ext cx="1050" cy="1050"/>
            </a:xfrm>
            <a:prstGeom prst="ellipse">
              <a:avLst/>
            </a:prstGeom>
            <a:solidFill>
              <a:srgbClr val="1A0147"/>
            </a:solidFill>
            <a:ln>
              <a:noFill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03</a:t>
              </a:r>
            </a:p>
          </p:txBody>
        </p:sp>
      </p:grpSp>
      <p:grpSp>
        <p:nvGrpSpPr>
          <p:cNvPr id="754" name="组合 753">
            <a:extLst>
              <a:ext uri="{FF2B5EF4-FFF2-40B4-BE49-F238E27FC236}">
                <a16:creationId xmlns:a16="http://schemas.microsoft.com/office/drawing/2014/main" id="{72C14213-437D-0AB9-CBF1-D4AC16D42DFB}"/>
              </a:ext>
            </a:extLst>
          </p:cNvPr>
          <p:cNvGrpSpPr/>
          <p:nvPr/>
        </p:nvGrpSpPr>
        <p:grpSpPr>
          <a:xfrm>
            <a:off x="419100" y="1941195"/>
            <a:ext cx="5501640" cy="2653030"/>
            <a:chOff x="660" y="3057"/>
            <a:chExt cx="8664" cy="4178"/>
          </a:xfrm>
        </p:grpSpPr>
        <p:sp>
          <p:nvSpPr>
            <p:cNvPr id="755" name="矩形 754">
              <a:extLst>
                <a:ext uri="{FF2B5EF4-FFF2-40B4-BE49-F238E27FC236}">
                  <a16:creationId xmlns:a16="http://schemas.microsoft.com/office/drawing/2014/main" id="{2ED31F68-C4C1-9E2F-FEFB-211A107B1F5B}"/>
                </a:ext>
              </a:extLst>
            </p:cNvPr>
            <p:cNvSpPr/>
            <p:nvPr/>
          </p:nvSpPr>
          <p:spPr>
            <a:xfrm>
              <a:off x="8322" y="3057"/>
              <a:ext cx="1003" cy="924"/>
            </a:xfrm>
            <a:prstGeom prst="rect">
              <a:avLst/>
            </a:prstGeom>
            <a:solidFill>
              <a:srgbClr val="3C007F"/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pic>
          <p:nvPicPr>
            <p:cNvPr id="756" name="图片 755" descr="the-space-is-empty-streaks-of-brilliant-_TFRXs1FLR-y0kd8ykvJWKg_bHb1QcSjQ3Ob2QOyhTxU3w">
              <a:extLst>
                <a:ext uri="{FF2B5EF4-FFF2-40B4-BE49-F238E27FC236}">
                  <a16:creationId xmlns:a16="http://schemas.microsoft.com/office/drawing/2014/main" id="{7981FCA0-89D5-6058-E6FC-B12F3CFA3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" y="3119"/>
              <a:ext cx="8588" cy="4116"/>
            </a:xfrm>
            <a:prstGeom prst="rect">
              <a:avLst/>
            </a:prstGeom>
          </p:spPr>
        </p:pic>
        <p:sp>
          <p:nvSpPr>
            <p:cNvPr id="757" name="文本框 756">
              <a:extLst>
                <a:ext uri="{FF2B5EF4-FFF2-40B4-BE49-F238E27FC236}">
                  <a16:creationId xmlns:a16="http://schemas.microsoft.com/office/drawing/2014/main" id="{82FB0055-9E58-A3CE-EE54-016F2004AA01}"/>
                </a:ext>
              </a:extLst>
            </p:cNvPr>
            <p:cNvSpPr txBox="1"/>
            <p:nvPr/>
          </p:nvSpPr>
          <p:spPr>
            <a:xfrm>
              <a:off x="660" y="4380"/>
              <a:ext cx="6535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云计算深度赋能</a:t>
              </a: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 </a:t>
              </a: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激活数字潜能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助推企业业务升级</a:t>
              </a:r>
            </a:p>
          </p:txBody>
        </p:sp>
        <p:sp>
          <p:nvSpPr>
            <p:cNvPr id="758" name="文本框 757">
              <a:extLst>
                <a:ext uri="{FF2B5EF4-FFF2-40B4-BE49-F238E27FC236}">
                  <a16:creationId xmlns:a16="http://schemas.microsoft.com/office/drawing/2014/main" id="{9F97E0F9-2ACE-DC61-6590-17AEC23D6CD3}"/>
                </a:ext>
              </a:extLst>
            </p:cNvPr>
            <p:cNvSpPr txBox="1"/>
            <p:nvPr/>
          </p:nvSpPr>
          <p:spPr>
            <a:xfrm>
              <a:off x="660" y="5493"/>
              <a:ext cx="653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Enterprise Digital Technology Application</a:t>
              </a:r>
            </a:p>
          </p:txBody>
        </p:sp>
      </p:grpSp>
      <p:grpSp>
        <p:nvGrpSpPr>
          <p:cNvPr id="759" name="组合 758">
            <a:extLst>
              <a:ext uri="{FF2B5EF4-FFF2-40B4-BE49-F238E27FC236}">
                <a16:creationId xmlns:a16="http://schemas.microsoft.com/office/drawing/2014/main" id="{D3D0A3C8-3438-0C98-F4E4-658AE9CE9766}"/>
              </a:ext>
            </a:extLst>
          </p:cNvPr>
          <p:cNvGrpSpPr/>
          <p:nvPr/>
        </p:nvGrpSpPr>
        <p:grpSpPr>
          <a:xfrm>
            <a:off x="311150" y="4892040"/>
            <a:ext cx="5561330" cy="1264920"/>
            <a:chOff x="490" y="7704"/>
            <a:chExt cx="8758" cy="1992"/>
          </a:xfrm>
        </p:grpSpPr>
        <p:sp>
          <p:nvSpPr>
            <p:cNvPr id="760" name="文本框 759">
              <a:extLst>
                <a:ext uri="{FF2B5EF4-FFF2-40B4-BE49-F238E27FC236}">
                  <a16:creationId xmlns:a16="http://schemas.microsoft.com/office/drawing/2014/main" id="{7DC7D3A2-44C0-F585-794A-C3B70C705118}"/>
                </a:ext>
              </a:extLst>
            </p:cNvPr>
            <p:cNvSpPr txBox="1"/>
            <p:nvPr/>
          </p:nvSpPr>
          <p:spPr>
            <a:xfrm>
              <a:off x="490" y="8826"/>
              <a:ext cx="8759" cy="8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云计算以弹性资源、高效协同优势，为企业注入数字动力。无论是简化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 IT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运维、降低成本，还是支撑智能应用落地，都能精准赋能业务，助力企业在数字化浪潮中高效前行。</a:t>
              </a:r>
            </a:p>
          </p:txBody>
        </p:sp>
        <p:cxnSp>
          <p:nvCxnSpPr>
            <p:cNvPr id="761" name="直接连接符 760">
              <a:extLst>
                <a:ext uri="{FF2B5EF4-FFF2-40B4-BE49-F238E27FC236}">
                  <a16:creationId xmlns:a16="http://schemas.microsoft.com/office/drawing/2014/main" id="{DFF4A811-6711-2233-7B9E-F93D54680822}"/>
                </a:ext>
              </a:extLst>
            </p:cNvPr>
            <p:cNvCxnSpPr/>
            <p:nvPr/>
          </p:nvCxnSpPr>
          <p:spPr>
            <a:xfrm>
              <a:off x="627" y="8493"/>
              <a:ext cx="804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762" name="直接连接符 761">
              <a:extLst>
                <a:ext uri="{FF2B5EF4-FFF2-40B4-BE49-F238E27FC236}">
                  <a16:creationId xmlns:a16="http://schemas.microsoft.com/office/drawing/2014/main" id="{ACD0FFC1-401C-FE26-74D3-E7C155E36649}"/>
                </a:ext>
              </a:extLst>
            </p:cNvPr>
            <p:cNvCxnSpPr/>
            <p:nvPr/>
          </p:nvCxnSpPr>
          <p:spPr>
            <a:xfrm>
              <a:off x="1549" y="8493"/>
              <a:ext cx="5409" cy="0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ysDot"/>
              <a:miter lim="800000"/>
            </a:ln>
            <a:effectLst/>
          </p:spPr>
        </p:cxnSp>
        <p:sp>
          <p:nvSpPr>
            <p:cNvPr id="763" name="文本框 762">
              <a:extLst>
                <a:ext uri="{FF2B5EF4-FFF2-40B4-BE49-F238E27FC236}">
                  <a16:creationId xmlns:a16="http://schemas.microsoft.com/office/drawing/2014/main" id="{7093EA09-A969-3666-46E4-AAB86B7D8527}"/>
                </a:ext>
              </a:extLst>
            </p:cNvPr>
            <p:cNvSpPr txBox="1"/>
            <p:nvPr/>
          </p:nvSpPr>
          <p:spPr>
            <a:xfrm>
              <a:off x="1549" y="7704"/>
              <a:ext cx="3235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云赋能</a:t>
              </a:r>
              <a:r>
                <a:rPr kumimoji="0" lang="en-US" altLang="zh-CN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Fluent" charset="0"/>
                  <a:sym typeface="+mn-ea"/>
                </a:rPr>
                <a:t>促升级</a:t>
              </a:r>
            </a:p>
          </p:txBody>
        </p:sp>
        <p:sp>
          <p:nvSpPr>
            <p:cNvPr id="764" name="文本框 763">
              <a:extLst>
                <a:ext uri="{FF2B5EF4-FFF2-40B4-BE49-F238E27FC236}">
                  <a16:creationId xmlns:a16="http://schemas.microsoft.com/office/drawing/2014/main" id="{842CF362-1311-4EA8-40AD-AFA44C730DA0}"/>
                </a:ext>
              </a:extLst>
            </p:cNvPr>
            <p:cNvSpPr txBox="1"/>
            <p:nvPr/>
          </p:nvSpPr>
          <p:spPr>
            <a:xfrm>
              <a:off x="1549" y="8039"/>
              <a:ext cx="3235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Intelligent Packaging Design</a:t>
              </a:r>
            </a:p>
          </p:txBody>
        </p:sp>
        <p:pic>
          <p:nvPicPr>
            <p:cNvPr id="765" name="图片 99" descr="上_up (1)">
              <a:extLst>
                <a:ext uri="{FF2B5EF4-FFF2-40B4-BE49-F238E27FC236}">
                  <a16:creationId xmlns:a16="http://schemas.microsoft.com/office/drawing/2014/main" id="{CDADBA09-8785-F628-4D64-1885DD3D25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7" y="7741"/>
              <a:ext cx="360" cy="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405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image5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3345" y="0"/>
            <a:ext cx="12378055" cy="6904990"/>
          </a:xfrm>
          <a:prstGeom prst="rect">
            <a:avLst/>
          </a:prstGeom>
        </p:spPr>
      </p:pic>
      <p:grpSp>
        <p:nvGrpSpPr>
          <p:cNvPr id="100" name="组合 99"/>
          <p:cNvGrpSpPr/>
          <p:nvPr/>
        </p:nvGrpSpPr>
        <p:grpSpPr>
          <a:xfrm>
            <a:off x="1658620" y="1559560"/>
            <a:ext cx="8890000" cy="3017520"/>
            <a:chOff x="2612" y="2456"/>
            <a:chExt cx="14000" cy="4752"/>
          </a:xfrm>
        </p:grpSpPr>
        <p:sp>
          <p:nvSpPr>
            <p:cNvPr id="9" name="文本框 8"/>
            <p:cNvSpPr txBox="1"/>
            <p:nvPr/>
          </p:nvSpPr>
          <p:spPr>
            <a:xfrm>
              <a:off x="5492" y="5460"/>
              <a:ext cx="2036" cy="3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</a:rPr>
                <a:t>流程重塑</a:t>
              </a:r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2612" y="2456"/>
              <a:ext cx="14001" cy="4753"/>
              <a:chOff x="2612" y="2456"/>
              <a:chExt cx="14001" cy="4753"/>
            </a:xfrm>
          </p:grpSpPr>
          <p:grpSp>
            <p:nvGrpSpPr>
              <p:cNvPr id="95" name="组合 94"/>
              <p:cNvGrpSpPr/>
              <p:nvPr/>
            </p:nvGrpSpPr>
            <p:grpSpPr>
              <a:xfrm>
                <a:off x="2612" y="6639"/>
                <a:ext cx="2036" cy="570"/>
                <a:chOff x="2612" y="6639"/>
                <a:chExt cx="2036" cy="570"/>
              </a:xfrm>
            </p:grpSpPr>
            <p:sp>
              <p:nvSpPr>
                <p:cNvPr id="3" name="文本框 2"/>
                <p:cNvSpPr txBox="1"/>
                <p:nvPr/>
              </p:nvSpPr>
              <p:spPr>
                <a:xfrm>
                  <a:off x="2612" y="6897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战略转型</a:t>
                  </a: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2612" y="6639"/>
                  <a:ext cx="2036" cy="337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Digitalization</a:t>
                  </a:r>
                </a:p>
              </p:txBody>
            </p:sp>
          </p:grpSp>
          <p:sp>
            <p:nvSpPr>
              <p:cNvPr id="10" name="文本框 9"/>
              <p:cNvSpPr txBox="1"/>
              <p:nvPr/>
            </p:nvSpPr>
            <p:spPr>
              <a:xfrm>
                <a:off x="5492" y="5202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8582" y="4778"/>
                <a:ext cx="2036" cy="570"/>
                <a:chOff x="8582" y="4778"/>
                <a:chExt cx="2036" cy="570"/>
              </a:xfrm>
            </p:grpSpPr>
            <p:sp>
              <p:nvSpPr>
                <p:cNvPr id="11" name="文本框 10"/>
                <p:cNvSpPr txBox="1"/>
                <p:nvPr/>
              </p:nvSpPr>
              <p:spPr>
                <a:xfrm>
                  <a:off x="8582" y="5036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客户重构</a:t>
                  </a: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8582" y="4778"/>
                  <a:ext cx="2036" cy="337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Digitalization</a:t>
                  </a:r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11680" y="5202"/>
                <a:ext cx="2036" cy="570"/>
                <a:chOff x="11680" y="5202"/>
                <a:chExt cx="2036" cy="570"/>
              </a:xfrm>
            </p:grpSpPr>
            <p:sp>
              <p:nvSpPr>
                <p:cNvPr id="14" name="文本框 13"/>
                <p:cNvSpPr txBox="1"/>
                <p:nvPr/>
              </p:nvSpPr>
              <p:spPr>
                <a:xfrm>
                  <a:off x="11680" y="5460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模式创新</a:t>
                  </a: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11680" y="5202"/>
                  <a:ext cx="2036" cy="337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Digitalization</a:t>
                  </a:r>
                </a:p>
              </p:txBody>
            </p:sp>
          </p:grpSp>
          <p:grpSp>
            <p:nvGrpSpPr>
              <p:cNvPr id="87" name="组合 86"/>
              <p:cNvGrpSpPr/>
              <p:nvPr/>
            </p:nvGrpSpPr>
            <p:grpSpPr>
              <a:xfrm>
                <a:off x="14577" y="6639"/>
                <a:ext cx="2036" cy="570"/>
                <a:chOff x="14577" y="6639"/>
                <a:chExt cx="2036" cy="570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14577" y="6897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敏捷响应</a:t>
                  </a: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14577" y="6639"/>
                  <a:ext cx="2036" cy="337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Digitalization</a:t>
                  </a:r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6950" y="3308"/>
                <a:ext cx="2036" cy="570"/>
                <a:chOff x="6950" y="3308"/>
                <a:chExt cx="2036" cy="570"/>
              </a:xfrm>
            </p:grpSpPr>
            <p:sp>
              <p:nvSpPr>
                <p:cNvPr id="19" name="文本框 18"/>
                <p:cNvSpPr txBox="1"/>
                <p:nvPr/>
              </p:nvSpPr>
              <p:spPr>
                <a:xfrm>
                  <a:off x="6950" y="3566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组织重构</a:t>
                  </a: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6950" y="3308"/>
                  <a:ext cx="2036" cy="337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Digitalization</a:t>
                  </a: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0244" y="3308"/>
                <a:ext cx="2036" cy="570"/>
                <a:chOff x="10244" y="3308"/>
                <a:chExt cx="2036" cy="570"/>
              </a:xfrm>
            </p:grpSpPr>
            <p:sp>
              <p:nvSpPr>
                <p:cNvPr id="21" name="文本框 20"/>
                <p:cNvSpPr txBox="1"/>
                <p:nvPr/>
              </p:nvSpPr>
              <p:spPr>
                <a:xfrm>
                  <a:off x="10244" y="3566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生态共建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10244" y="3308"/>
                  <a:ext cx="2036" cy="337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Digitalization</a:t>
                  </a:r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8582" y="2456"/>
                <a:ext cx="2036" cy="570"/>
                <a:chOff x="8582" y="2456"/>
                <a:chExt cx="2036" cy="570"/>
              </a:xfrm>
            </p:grpSpPr>
            <p:sp>
              <p:nvSpPr>
                <p:cNvPr id="23" name="文本框 22"/>
                <p:cNvSpPr txBox="1"/>
                <p:nvPr/>
              </p:nvSpPr>
              <p:spPr>
                <a:xfrm>
                  <a:off x="8582" y="2714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人才升级</a:t>
                  </a: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8582" y="2456"/>
                  <a:ext cx="2036" cy="337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Digitalization</a:t>
                  </a:r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3504" y="5036"/>
                <a:ext cx="2036" cy="736"/>
                <a:chOff x="3504" y="5036"/>
                <a:chExt cx="2036" cy="736"/>
              </a:xfrm>
            </p:grpSpPr>
            <p:sp>
              <p:nvSpPr>
                <p:cNvPr id="32" name="文本框 31"/>
                <p:cNvSpPr txBox="1"/>
                <p:nvPr/>
              </p:nvSpPr>
              <p:spPr>
                <a:xfrm>
                  <a:off x="3504" y="5460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技术融合</a:t>
                  </a:r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3504" y="5036"/>
                  <a:ext cx="2036" cy="531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30.2%</a:t>
                  </a:r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13682" y="5036"/>
                <a:ext cx="2036" cy="736"/>
                <a:chOff x="13682" y="5036"/>
                <a:chExt cx="2036" cy="736"/>
              </a:xfrm>
            </p:grpSpPr>
            <p:sp>
              <p:nvSpPr>
                <p:cNvPr id="34" name="文本框 33"/>
                <p:cNvSpPr txBox="1"/>
                <p:nvPr/>
              </p:nvSpPr>
              <p:spPr>
                <a:xfrm>
                  <a:off x="13682" y="5460"/>
                  <a:ext cx="2036" cy="31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</a:rPr>
                    <a:t>云端迁移</a:t>
                  </a: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13682" y="5036"/>
                  <a:ext cx="2036" cy="531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luent" charset="0"/>
                      <a:ea typeface="思源黑体 CN" panose="020B0500000000000000" pitchFamily="34" charset="-122"/>
                      <a:cs typeface="Fluent" charset="0"/>
                      <a:sym typeface="+mn-ea"/>
                    </a:rPr>
                    <a:t>30.2%</a:t>
                  </a:r>
                </a:p>
              </p:txBody>
            </p:sp>
          </p:grpSp>
        </p:grpSp>
      </p:grpSp>
      <p:grpSp>
        <p:nvGrpSpPr>
          <p:cNvPr id="96" name="组合 95"/>
          <p:cNvGrpSpPr/>
          <p:nvPr/>
        </p:nvGrpSpPr>
        <p:grpSpPr>
          <a:xfrm>
            <a:off x="2898140" y="3941445"/>
            <a:ext cx="6395720" cy="1605280"/>
            <a:chOff x="4564" y="6207"/>
            <a:chExt cx="10072" cy="2528"/>
          </a:xfrm>
        </p:grpSpPr>
        <p:sp>
          <p:nvSpPr>
            <p:cNvPr id="144" name="文本框 143"/>
            <p:cNvSpPr txBox="1"/>
            <p:nvPr/>
          </p:nvSpPr>
          <p:spPr>
            <a:xfrm>
              <a:off x="5004" y="6207"/>
              <a:ext cx="9192" cy="101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</a:rPr>
                <a:t>数字化</a:t>
              </a: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4564" y="7223"/>
              <a:ext cx="10073" cy="58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STRENGTHEN THE QUALITY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5482" y="7865"/>
              <a:ext cx="82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2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Placeholder text is virtual content temporarily filled in during design and layout to facilitate previewing the layout effect.</a:t>
              </a: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805180" y="1360805"/>
            <a:ext cx="10716895" cy="2085340"/>
            <a:chOff x="1268" y="2143"/>
            <a:chExt cx="16877" cy="3284"/>
          </a:xfrm>
        </p:grpSpPr>
        <p:grpSp>
          <p:nvGrpSpPr>
            <p:cNvPr id="81" name="组合 80"/>
            <p:cNvGrpSpPr/>
            <p:nvPr/>
          </p:nvGrpSpPr>
          <p:grpSpPr>
            <a:xfrm>
              <a:off x="2889" y="3308"/>
              <a:ext cx="2036" cy="570"/>
              <a:chOff x="2889" y="3308"/>
              <a:chExt cx="2036" cy="570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2889" y="3566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数据资产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889" y="3308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>
              <a:off x="14114" y="3308"/>
              <a:ext cx="2036" cy="570"/>
              <a:chOff x="14114" y="3308"/>
              <a:chExt cx="2036" cy="570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14114" y="3566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智能决策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4114" y="3308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1268" y="4857"/>
              <a:ext cx="2036" cy="570"/>
              <a:chOff x="1268" y="4857"/>
              <a:chExt cx="2036" cy="570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1268" y="5115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安全筑基</a:t>
                </a: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1268" y="4857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16109" y="4857"/>
              <a:ext cx="2036" cy="570"/>
              <a:chOff x="16109" y="4857"/>
              <a:chExt cx="2036" cy="570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16109" y="5115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效能提升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6109" y="4857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2601" y="2143"/>
              <a:ext cx="2036" cy="570"/>
              <a:chOff x="12601" y="2143"/>
              <a:chExt cx="2036" cy="570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12601" y="2401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成本优化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2601" y="2143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4564" y="2143"/>
              <a:ext cx="2036" cy="570"/>
              <a:chOff x="4564" y="2143"/>
              <a:chExt cx="2036" cy="570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4564" y="2401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合规先行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4564" y="2143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</p:grpSp>
      <p:grpSp>
        <p:nvGrpSpPr>
          <p:cNvPr id="97" name="组合 96"/>
          <p:cNvGrpSpPr/>
          <p:nvPr/>
        </p:nvGrpSpPr>
        <p:grpSpPr>
          <a:xfrm>
            <a:off x="0" y="0"/>
            <a:ext cx="12284075" cy="11783060"/>
            <a:chOff x="0" y="0"/>
            <a:chExt cx="19345" cy="18556"/>
          </a:xfrm>
        </p:grpSpPr>
        <p:sp>
          <p:nvSpPr>
            <p:cNvPr id="48" name="椭圆 47"/>
            <p:cNvSpPr/>
            <p:nvPr/>
          </p:nvSpPr>
          <p:spPr>
            <a:xfrm>
              <a:off x="351" y="0"/>
              <a:ext cx="18556" cy="18556"/>
            </a:xfrm>
            <a:prstGeom prst="ellipse">
              <a:avLst/>
            </a:prstGeom>
            <a:noFill/>
            <a:ln w="3175">
              <a:gradFill>
                <a:gsLst>
                  <a:gs pos="3000">
                    <a:schemeClr val="accent1">
                      <a:lumMod val="45000"/>
                      <a:lumOff val="5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28000"/>
                    </a:schemeClr>
                  </a:gs>
                </a:gsLst>
                <a:lin ang="1668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14577" y="790"/>
              <a:ext cx="2036" cy="570"/>
              <a:chOff x="14577" y="790"/>
              <a:chExt cx="2036" cy="570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14577" y="1048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文化重塑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14577" y="790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16035" y="1909"/>
              <a:ext cx="2036" cy="570"/>
              <a:chOff x="16035" y="1909"/>
              <a:chExt cx="2036" cy="570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6035" y="2167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效能提升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6035" y="1909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17309" y="3387"/>
              <a:ext cx="2036" cy="570"/>
              <a:chOff x="17309" y="3387"/>
              <a:chExt cx="2036" cy="570"/>
            </a:xfrm>
          </p:grpSpPr>
          <p:sp>
            <p:nvSpPr>
              <p:cNvPr id="53" name="文本框 52"/>
              <p:cNvSpPr txBox="1"/>
              <p:nvPr/>
            </p:nvSpPr>
            <p:spPr>
              <a:xfrm>
                <a:off x="17309" y="3645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成本优化</a:t>
                </a: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7309" y="3387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2688" y="790"/>
              <a:ext cx="2036" cy="570"/>
              <a:chOff x="2688" y="790"/>
              <a:chExt cx="2036" cy="570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2688" y="1048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协同共生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2688" y="790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1177" y="1909"/>
              <a:ext cx="2036" cy="570"/>
              <a:chOff x="1177" y="1909"/>
              <a:chExt cx="2036" cy="570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177" y="2167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场景落地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177" y="1909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0" y="3387"/>
              <a:ext cx="2036" cy="570"/>
              <a:chOff x="0" y="3387"/>
              <a:chExt cx="2036" cy="570"/>
            </a:xfrm>
          </p:grpSpPr>
          <p:sp>
            <p:nvSpPr>
              <p:cNvPr id="59" name="文本框 58"/>
              <p:cNvSpPr txBox="1"/>
              <p:nvPr/>
            </p:nvSpPr>
            <p:spPr>
              <a:xfrm>
                <a:off x="0" y="3645"/>
                <a:ext cx="2036" cy="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</a:rPr>
                  <a:t>持续迭代</a:t>
                </a: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0" y="3387"/>
                <a:ext cx="2036" cy="33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alpha val="42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Digitalization</a:t>
                </a:r>
              </a:p>
            </p:txBody>
          </p:sp>
        </p:grpSp>
      </p:grpSp>
      <p:grpSp>
        <p:nvGrpSpPr>
          <p:cNvPr id="83" name="组合 82"/>
          <p:cNvGrpSpPr/>
          <p:nvPr/>
        </p:nvGrpSpPr>
        <p:grpSpPr>
          <a:xfrm>
            <a:off x="4445000" y="501650"/>
            <a:ext cx="3302000" cy="1057910"/>
            <a:chOff x="7000" y="790"/>
            <a:chExt cx="5200" cy="1666"/>
          </a:xfrm>
        </p:grpSpPr>
        <p:sp>
          <p:nvSpPr>
            <p:cNvPr id="62" name="文本框 61"/>
            <p:cNvSpPr txBox="1"/>
            <p:nvPr/>
          </p:nvSpPr>
          <p:spPr>
            <a:xfrm>
              <a:off x="7000" y="1246"/>
              <a:ext cx="5200" cy="12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5000">
                        <a:srgbClr val="FFFFFF"/>
                      </a:gs>
                      <a:gs pos="70000">
                        <a:srgbClr val="FFFFFF">
                          <a:alpha val="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</a:rPr>
                <a:t>5866.88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7000" y="790"/>
              <a:ext cx="5200" cy="43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62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Fluent" charset="0"/>
                  <a:sym typeface="+mn-ea"/>
                </a:rPr>
                <a:t>中国数字化转型的战略投入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62000"/>
                  </a:srgbClr>
                </a:solidFill>
                <a:effectLst/>
                <a:uLnTx/>
                <a:uFillTx/>
                <a:latin typeface="思源黑体 CN Light" panose="020B0300000000000000" charset="-122"/>
                <a:ea typeface="思源黑体 CN Light" panose="020B0300000000000000" charset="-122"/>
                <a:cs typeface="Fluent" charset="0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6D1E-0F42-1A87-054F-3BA106E8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图片 324" descr="image90">
            <a:extLst>
              <a:ext uri="{FF2B5EF4-FFF2-40B4-BE49-F238E27FC236}">
                <a16:creationId xmlns:a16="http://schemas.microsoft.com/office/drawing/2014/main" id="{97B7D81A-B993-AC68-DE26-73812DD70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5541" y="706754"/>
            <a:ext cx="8507730" cy="2834005"/>
          </a:xfrm>
          <a:prstGeom prst="rect">
            <a:avLst/>
          </a:prstGeom>
        </p:spPr>
      </p:pic>
      <p:sp>
        <p:nvSpPr>
          <p:cNvPr id="326" name="矩形 325">
            <a:extLst>
              <a:ext uri="{FF2B5EF4-FFF2-40B4-BE49-F238E27FC236}">
                <a16:creationId xmlns:a16="http://schemas.microsoft.com/office/drawing/2014/main" id="{CBF7966A-70EC-B24A-8CA4-0F882622B2D1}"/>
              </a:ext>
            </a:extLst>
          </p:cNvPr>
          <p:cNvSpPr/>
          <p:nvPr/>
        </p:nvSpPr>
        <p:spPr>
          <a:xfrm rot="5400000">
            <a:off x="2891791" y="-2193926"/>
            <a:ext cx="2844165" cy="8627110"/>
          </a:xfrm>
          <a:prstGeom prst="rect">
            <a:avLst/>
          </a:prstGeom>
          <a:gradFill rotWithShape="1">
            <a:gsLst>
              <a:gs pos="0">
                <a:srgbClr val="1A0147">
                  <a:satMod val="110000"/>
                  <a:lumMod val="100000"/>
                  <a:shade val="100000"/>
                  <a:alpha val="0"/>
                </a:srgbClr>
              </a:gs>
              <a:gs pos="48000">
                <a:srgbClr val="1A014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  <a:sym typeface="+mn-ea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716890FA-EFF0-4EB1-FD4D-0F9B3DE74A60}"/>
              </a:ext>
            </a:extLst>
          </p:cNvPr>
          <p:cNvSpPr txBox="1"/>
          <p:nvPr/>
        </p:nvSpPr>
        <p:spPr>
          <a:xfrm>
            <a:off x="7952106" y="2279649"/>
            <a:ext cx="176530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2000">
                <a:solidFill>
                  <a:srgbClr val="FFFFFF"/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rPr>
              <a:t>智联链</a:t>
            </a: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20F120EC-9A6C-9CB5-2C16-FF956F083521}"/>
              </a:ext>
            </a:extLst>
          </p:cNvPr>
          <p:cNvSpPr txBox="1"/>
          <p:nvPr/>
        </p:nvSpPr>
        <p:spPr>
          <a:xfrm>
            <a:off x="7823201" y="1800224"/>
            <a:ext cx="2024380" cy="5219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1400" b="1">
                <a:solidFill>
                  <a:srgbClr val="FFFFFF"/>
                </a:solidFill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rPr>
              <a:t>Digital Collaboration in Supply Chain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C987C564-6E38-791C-F79F-475B0F7B82A9}"/>
              </a:ext>
            </a:extLst>
          </p:cNvPr>
          <p:cNvSpPr/>
          <p:nvPr/>
        </p:nvSpPr>
        <p:spPr>
          <a:xfrm rot="5400000">
            <a:off x="2891791" y="-2194561"/>
            <a:ext cx="2844165" cy="8627110"/>
          </a:xfrm>
          <a:prstGeom prst="rect">
            <a:avLst/>
          </a:prstGeom>
          <a:gradFill rotWithShape="1">
            <a:gsLst>
              <a:gs pos="56000">
                <a:srgbClr val="7928D5">
                  <a:satMod val="110000"/>
                  <a:lumMod val="100000"/>
                  <a:shade val="100000"/>
                  <a:alpha val="0"/>
                </a:srgbClr>
              </a:gs>
              <a:gs pos="100000">
                <a:srgbClr val="7928D5">
                  <a:lumMod val="99000"/>
                  <a:satMod val="120000"/>
                  <a:shade val="78000"/>
                  <a:alpha val="76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  <a:sym typeface="+mn-ea"/>
            </a:endParaRPr>
          </a:p>
        </p:txBody>
      </p:sp>
      <p:grpSp>
        <p:nvGrpSpPr>
          <p:cNvPr id="330" name="组合 329">
            <a:extLst>
              <a:ext uri="{FF2B5EF4-FFF2-40B4-BE49-F238E27FC236}">
                <a16:creationId xmlns:a16="http://schemas.microsoft.com/office/drawing/2014/main" id="{103C8CDD-3D57-F366-DC75-D9FDA9D92D7B}"/>
              </a:ext>
            </a:extLst>
          </p:cNvPr>
          <p:cNvGrpSpPr/>
          <p:nvPr/>
        </p:nvGrpSpPr>
        <p:grpSpPr>
          <a:xfrm>
            <a:off x="292101" y="1930399"/>
            <a:ext cx="6395720" cy="807085"/>
            <a:chOff x="460" y="1927"/>
            <a:chExt cx="10072" cy="1271"/>
          </a:xfrm>
        </p:grpSpPr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FB2D5A17-BD39-5269-D21E-B34E5332D343}"/>
                </a:ext>
              </a:extLst>
            </p:cNvPr>
            <p:cNvSpPr txBox="1"/>
            <p:nvPr/>
          </p:nvSpPr>
          <p:spPr>
            <a:xfrm>
              <a:off x="460" y="2570"/>
              <a:ext cx="4536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2000">
                  <a:solidFill>
                    <a:srgbClr val="FFFFFF"/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</a:rPr>
                <a:t>供应链数字化协同</a:t>
              </a:r>
            </a:p>
          </p:txBody>
        </p:sp>
        <p:sp>
          <p:nvSpPr>
            <p:cNvPr id="332" name="文本框 331">
              <a:extLst>
                <a:ext uri="{FF2B5EF4-FFF2-40B4-BE49-F238E27FC236}">
                  <a16:creationId xmlns:a16="http://schemas.microsoft.com/office/drawing/2014/main" id="{AB045D6B-0EB8-AF49-DCB3-78282F21A811}"/>
                </a:ext>
              </a:extLst>
            </p:cNvPr>
            <p:cNvSpPr txBox="1"/>
            <p:nvPr/>
          </p:nvSpPr>
          <p:spPr>
            <a:xfrm>
              <a:off x="460" y="1927"/>
              <a:ext cx="10073" cy="72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altLang="zh-CN" sz="2400" b="1">
                  <a:solidFill>
                    <a:srgbClr val="FFFFFF"/>
                  </a:solidFill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STRENGTHEN THE QUALITY</a:t>
              </a:r>
            </a:p>
          </p:txBody>
        </p:sp>
      </p:grpSp>
      <p:sp>
        <p:nvSpPr>
          <p:cNvPr id="333" name="圆角矩形 272">
            <a:extLst>
              <a:ext uri="{FF2B5EF4-FFF2-40B4-BE49-F238E27FC236}">
                <a16:creationId xmlns:a16="http://schemas.microsoft.com/office/drawing/2014/main" id="{424E9B29-E76D-E850-3DB2-DC7D8BD55FE0}"/>
              </a:ext>
            </a:extLst>
          </p:cNvPr>
          <p:cNvSpPr/>
          <p:nvPr/>
        </p:nvSpPr>
        <p:spPr>
          <a:xfrm>
            <a:off x="1" y="4878139"/>
            <a:ext cx="12192635" cy="14046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406400" dist="165100" dir="5400000" sx="95000" sy="95000" algn="t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</a:endParaRPr>
          </a:p>
        </p:txBody>
      </p:sp>
      <p:grpSp>
        <p:nvGrpSpPr>
          <p:cNvPr id="334" name="组合 333">
            <a:extLst>
              <a:ext uri="{FF2B5EF4-FFF2-40B4-BE49-F238E27FC236}">
                <a16:creationId xmlns:a16="http://schemas.microsoft.com/office/drawing/2014/main" id="{01C00BCD-2CE0-4B78-7038-59BC4EE7CD5B}"/>
              </a:ext>
            </a:extLst>
          </p:cNvPr>
          <p:cNvGrpSpPr/>
          <p:nvPr/>
        </p:nvGrpSpPr>
        <p:grpSpPr>
          <a:xfrm>
            <a:off x="390526" y="5116899"/>
            <a:ext cx="11254740" cy="873760"/>
            <a:chOff x="615" y="7446"/>
            <a:chExt cx="17724" cy="1376"/>
          </a:xfrm>
        </p:grpSpPr>
        <p:sp>
          <p:nvSpPr>
            <p:cNvPr id="350" name="object 45">
              <a:extLst>
                <a:ext uri="{FF2B5EF4-FFF2-40B4-BE49-F238E27FC236}">
                  <a16:creationId xmlns:a16="http://schemas.microsoft.com/office/drawing/2014/main" id="{1C78AC6C-4C9E-B7BB-0E2F-2DD91ECA96A4}"/>
                </a:ext>
              </a:extLst>
            </p:cNvPr>
            <p:cNvSpPr txBox="1"/>
            <p:nvPr/>
          </p:nvSpPr>
          <p:spPr>
            <a:xfrm>
              <a:off x="615" y="856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数据互通</a:t>
              </a:r>
            </a:p>
          </p:txBody>
        </p:sp>
        <p:sp>
          <p:nvSpPr>
            <p:cNvPr id="352" name="圆角矩形 274">
              <a:extLst>
                <a:ext uri="{FF2B5EF4-FFF2-40B4-BE49-F238E27FC236}">
                  <a16:creationId xmlns:a16="http://schemas.microsoft.com/office/drawing/2014/main" id="{2A4EE746-AEA9-3D03-EC8E-51F7084A2198}"/>
                </a:ext>
              </a:extLst>
            </p:cNvPr>
            <p:cNvSpPr/>
            <p:nvPr/>
          </p:nvSpPr>
          <p:spPr>
            <a:xfrm>
              <a:off x="615" y="747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sp>
          <p:nvSpPr>
            <p:cNvPr id="353" name="object 45">
              <a:extLst>
                <a:ext uri="{FF2B5EF4-FFF2-40B4-BE49-F238E27FC236}">
                  <a16:creationId xmlns:a16="http://schemas.microsoft.com/office/drawing/2014/main" id="{2DBA5956-CE91-5D08-61CF-F50ACF125FBE}"/>
                </a:ext>
              </a:extLst>
            </p:cNvPr>
            <p:cNvSpPr txBox="1"/>
            <p:nvPr/>
          </p:nvSpPr>
          <p:spPr>
            <a:xfrm>
              <a:off x="2616" y="855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智能预测</a:t>
              </a:r>
            </a:p>
          </p:txBody>
        </p:sp>
        <p:sp>
          <p:nvSpPr>
            <p:cNvPr id="354" name="圆角矩形 276">
              <a:extLst>
                <a:ext uri="{FF2B5EF4-FFF2-40B4-BE49-F238E27FC236}">
                  <a16:creationId xmlns:a16="http://schemas.microsoft.com/office/drawing/2014/main" id="{AA162025-5C35-01AE-D7B6-B62A75B87A84}"/>
                </a:ext>
              </a:extLst>
            </p:cNvPr>
            <p:cNvSpPr/>
            <p:nvPr/>
          </p:nvSpPr>
          <p:spPr>
            <a:xfrm>
              <a:off x="2616" y="746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sp>
          <p:nvSpPr>
            <p:cNvPr id="355" name="object 45">
              <a:extLst>
                <a:ext uri="{FF2B5EF4-FFF2-40B4-BE49-F238E27FC236}">
                  <a16:creationId xmlns:a16="http://schemas.microsoft.com/office/drawing/2014/main" id="{576CC464-ED22-8821-63BB-BCD9D5357B61}"/>
                </a:ext>
              </a:extLst>
            </p:cNvPr>
            <p:cNvSpPr txBox="1"/>
            <p:nvPr/>
          </p:nvSpPr>
          <p:spPr>
            <a:xfrm>
              <a:off x="4617" y="855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协同计划</a:t>
              </a:r>
            </a:p>
          </p:txBody>
        </p:sp>
        <p:sp>
          <p:nvSpPr>
            <p:cNvPr id="356" name="圆角矩形 278">
              <a:extLst>
                <a:ext uri="{FF2B5EF4-FFF2-40B4-BE49-F238E27FC236}">
                  <a16:creationId xmlns:a16="http://schemas.microsoft.com/office/drawing/2014/main" id="{1BEA99CC-5CE3-B6EA-FFE2-D7E2F3615B4F}"/>
                </a:ext>
              </a:extLst>
            </p:cNvPr>
            <p:cNvSpPr/>
            <p:nvPr/>
          </p:nvSpPr>
          <p:spPr>
            <a:xfrm>
              <a:off x="4617" y="746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sp>
          <p:nvSpPr>
            <p:cNvPr id="357" name="object 45">
              <a:extLst>
                <a:ext uri="{FF2B5EF4-FFF2-40B4-BE49-F238E27FC236}">
                  <a16:creationId xmlns:a16="http://schemas.microsoft.com/office/drawing/2014/main" id="{E3A2DB56-76CB-DCB2-B922-8D80892B059A}"/>
                </a:ext>
              </a:extLst>
            </p:cNvPr>
            <p:cNvSpPr txBox="1"/>
            <p:nvPr/>
          </p:nvSpPr>
          <p:spPr>
            <a:xfrm>
              <a:off x="6618" y="854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动态调度</a:t>
              </a:r>
            </a:p>
          </p:txBody>
        </p:sp>
        <p:sp>
          <p:nvSpPr>
            <p:cNvPr id="358" name="圆角矩形 280">
              <a:extLst>
                <a:ext uri="{FF2B5EF4-FFF2-40B4-BE49-F238E27FC236}">
                  <a16:creationId xmlns:a16="http://schemas.microsoft.com/office/drawing/2014/main" id="{F0D123AC-0423-4F62-2437-216751685BAE}"/>
                </a:ext>
              </a:extLst>
            </p:cNvPr>
            <p:cNvSpPr/>
            <p:nvPr/>
          </p:nvSpPr>
          <p:spPr>
            <a:xfrm>
              <a:off x="6618" y="745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sp>
          <p:nvSpPr>
            <p:cNvPr id="359" name="object 45">
              <a:extLst>
                <a:ext uri="{FF2B5EF4-FFF2-40B4-BE49-F238E27FC236}">
                  <a16:creationId xmlns:a16="http://schemas.microsoft.com/office/drawing/2014/main" id="{90697222-3983-551C-E3C2-BEE70704956E}"/>
                </a:ext>
              </a:extLst>
            </p:cNvPr>
            <p:cNvSpPr txBox="1"/>
            <p:nvPr/>
          </p:nvSpPr>
          <p:spPr>
            <a:xfrm>
              <a:off x="8619" y="855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可视化追踪</a:t>
              </a:r>
            </a:p>
          </p:txBody>
        </p:sp>
        <p:sp>
          <p:nvSpPr>
            <p:cNvPr id="360" name="圆角矩形 282">
              <a:extLst>
                <a:ext uri="{FF2B5EF4-FFF2-40B4-BE49-F238E27FC236}">
                  <a16:creationId xmlns:a16="http://schemas.microsoft.com/office/drawing/2014/main" id="{03D14E24-403E-6DC7-2C91-2C11E0AA4A92}"/>
                </a:ext>
              </a:extLst>
            </p:cNvPr>
            <p:cNvSpPr/>
            <p:nvPr/>
          </p:nvSpPr>
          <p:spPr>
            <a:xfrm>
              <a:off x="8619" y="746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sp>
          <p:nvSpPr>
            <p:cNvPr id="361" name="object 45">
              <a:extLst>
                <a:ext uri="{FF2B5EF4-FFF2-40B4-BE49-F238E27FC236}">
                  <a16:creationId xmlns:a16="http://schemas.microsoft.com/office/drawing/2014/main" id="{CDC1A316-84BC-A9DE-6916-6A42B090FEAE}"/>
                </a:ext>
              </a:extLst>
            </p:cNvPr>
            <p:cNvSpPr txBox="1"/>
            <p:nvPr/>
          </p:nvSpPr>
          <p:spPr>
            <a:xfrm>
              <a:off x="10620" y="854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风险共防</a:t>
              </a:r>
            </a:p>
          </p:txBody>
        </p:sp>
        <p:sp>
          <p:nvSpPr>
            <p:cNvPr id="362" name="圆角矩形 284">
              <a:extLst>
                <a:ext uri="{FF2B5EF4-FFF2-40B4-BE49-F238E27FC236}">
                  <a16:creationId xmlns:a16="http://schemas.microsoft.com/office/drawing/2014/main" id="{87CECCBF-AC77-4803-2EF4-6148E31558BF}"/>
                </a:ext>
              </a:extLst>
            </p:cNvPr>
            <p:cNvSpPr/>
            <p:nvPr/>
          </p:nvSpPr>
          <p:spPr>
            <a:xfrm>
              <a:off x="10620" y="745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sp>
          <p:nvSpPr>
            <p:cNvPr id="363" name="object 45">
              <a:extLst>
                <a:ext uri="{FF2B5EF4-FFF2-40B4-BE49-F238E27FC236}">
                  <a16:creationId xmlns:a16="http://schemas.microsoft.com/office/drawing/2014/main" id="{43E884ED-18C6-D0E5-F894-DC36BBB5710F}"/>
                </a:ext>
              </a:extLst>
            </p:cNvPr>
            <p:cNvSpPr txBox="1"/>
            <p:nvPr/>
          </p:nvSpPr>
          <p:spPr>
            <a:xfrm>
              <a:off x="12621" y="854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流程标准化</a:t>
              </a:r>
            </a:p>
          </p:txBody>
        </p:sp>
        <p:sp>
          <p:nvSpPr>
            <p:cNvPr id="364" name="圆角矩形 286">
              <a:extLst>
                <a:ext uri="{FF2B5EF4-FFF2-40B4-BE49-F238E27FC236}">
                  <a16:creationId xmlns:a16="http://schemas.microsoft.com/office/drawing/2014/main" id="{B13B2836-32F0-D7A0-BBFD-104C86AF66F9}"/>
                </a:ext>
              </a:extLst>
            </p:cNvPr>
            <p:cNvSpPr/>
            <p:nvPr/>
          </p:nvSpPr>
          <p:spPr>
            <a:xfrm>
              <a:off x="12621" y="745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sp>
          <p:nvSpPr>
            <p:cNvPr id="365" name="object 45">
              <a:extLst>
                <a:ext uri="{FF2B5EF4-FFF2-40B4-BE49-F238E27FC236}">
                  <a16:creationId xmlns:a16="http://schemas.microsoft.com/office/drawing/2014/main" id="{CC53719B-F1A1-EDC4-2FB7-88B7D8E69EE4}"/>
                </a:ext>
              </a:extLst>
            </p:cNvPr>
            <p:cNvSpPr txBox="1"/>
            <p:nvPr/>
          </p:nvSpPr>
          <p:spPr>
            <a:xfrm>
              <a:off x="14622" y="853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生态互联</a:t>
              </a:r>
            </a:p>
          </p:txBody>
        </p:sp>
        <p:sp>
          <p:nvSpPr>
            <p:cNvPr id="366" name="圆角矩形 288">
              <a:extLst>
                <a:ext uri="{FF2B5EF4-FFF2-40B4-BE49-F238E27FC236}">
                  <a16:creationId xmlns:a16="http://schemas.microsoft.com/office/drawing/2014/main" id="{F3B2C254-F333-ED7B-9A71-07B28F550820}"/>
                </a:ext>
              </a:extLst>
            </p:cNvPr>
            <p:cNvSpPr/>
            <p:nvPr/>
          </p:nvSpPr>
          <p:spPr>
            <a:xfrm>
              <a:off x="14622" y="744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sp>
          <p:nvSpPr>
            <p:cNvPr id="367" name="object 45">
              <a:extLst>
                <a:ext uri="{FF2B5EF4-FFF2-40B4-BE49-F238E27FC236}">
                  <a16:creationId xmlns:a16="http://schemas.microsoft.com/office/drawing/2014/main" id="{D57EA1AE-F585-D1C0-9573-CC63B7B36820}"/>
                </a:ext>
              </a:extLst>
            </p:cNvPr>
            <p:cNvSpPr txBox="1"/>
            <p:nvPr/>
          </p:nvSpPr>
          <p:spPr>
            <a:xfrm>
              <a:off x="16623" y="8530"/>
              <a:ext cx="1717" cy="262"/>
            </a:xfrm>
            <a:prstGeom prst="rect">
              <a:avLst/>
            </a:prstGeom>
            <a:noFill/>
          </p:spPr>
          <p:txBody>
            <a:bodyPr vert="horz" wrap="square" lIns="0" tIns="12700" rIns="0" bIns="0" rtlCol="0">
              <a:spAutoFit/>
            </a:bodyPr>
            <a:lstStyle/>
            <a:p>
              <a:pPr marL="3175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效能跃升</a:t>
              </a:r>
            </a:p>
          </p:txBody>
        </p:sp>
        <p:sp>
          <p:nvSpPr>
            <p:cNvPr id="368" name="圆角矩形 290">
              <a:extLst>
                <a:ext uri="{FF2B5EF4-FFF2-40B4-BE49-F238E27FC236}">
                  <a16:creationId xmlns:a16="http://schemas.microsoft.com/office/drawing/2014/main" id="{DF478A36-D5CE-23BB-19C7-E203B7FB9BA9}"/>
                </a:ext>
              </a:extLst>
            </p:cNvPr>
            <p:cNvSpPr/>
            <p:nvPr/>
          </p:nvSpPr>
          <p:spPr>
            <a:xfrm>
              <a:off x="16591" y="7476"/>
              <a:ext cx="1716" cy="942"/>
            </a:xfrm>
            <a:prstGeom prst="roundRect">
              <a:avLst>
                <a:gd name="adj" fmla="val 50000"/>
              </a:avLst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2225" cap="flat" cmpd="sng" algn="ctr">
              <a:solidFill>
                <a:srgbClr val="7928D5"/>
              </a:solidFill>
              <a:prstDash val="solid"/>
              <a:miter lim="800000"/>
            </a:ln>
            <a:effectLst>
              <a:outerShdw blurRad="177800" dist="139700" dir="5400000" sx="87000" sy="87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</p:grpSp>
      <p:grpSp>
        <p:nvGrpSpPr>
          <p:cNvPr id="369" name="组合 368">
            <a:extLst>
              <a:ext uri="{FF2B5EF4-FFF2-40B4-BE49-F238E27FC236}">
                <a16:creationId xmlns:a16="http://schemas.microsoft.com/office/drawing/2014/main" id="{2ADB95DA-54C7-DC17-78BD-463D0F8A8F97}"/>
              </a:ext>
            </a:extLst>
          </p:cNvPr>
          <p:cNvGrpSpPr/>
          <p:nvPr/>
        </p:nvGrpSpPr>
        <p:grpSpPr>
          <a:xfrm>
            <a:off x="292101" y="3763714"/>
            <a:ext cx="8335645" cy="1106805"/>
            <a:chOff x="7516" y="2944"/>
            <a:chExt cx="13127" cy="1743"/>
          </a:xfrm>
        </p:grpSpPr>
        <p:sp>
          <p:nvSpPr>
            <p:cNvPr id="370" name="文本框 369">
              <a:extLst>
                <a:ext uri="{FF2B5EF4-FFF2-40B4-BE49-F238E27FC236}">
                  <a16:creationId xmlns:a16="http://schemas.microsoft.com/office/drawing/2014/main" id="{19462CC5-5209-A94A-9184-84728DAB8025}"/>
                </a:ext>
              </a:extLst>
            </p:cNvPr>
            <p:cNvSpPr txBox="1"/>
            <p:nvPr/>
          </p:nvSpPr>
          <p:spPr>
            <a:xfrm>
              <a:off x="11983" y="3178"/>
              <a:ext cx="6981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Hidden Danger Inspection Mechanism</a:t>
              </a:r>
            </a:p>
          </p:txBody>
        </p:sp>
        <p:sp>
          <p:nvSpPr>
            <p:cNvPr id="371" name="文本框 370">
              <a:extLst>
                <a:ext uri="{FF2B5EF4-FFF2-40B4-BE49-F238E27FC236}">
                  <a16:creationId xmlns:a16="http://schemas.microsoft.com/office/drawing/2014/main" id="{D0CA3B26-0CEC-868C-3CFA-249D87B0196E}"/>
                </a:ext>
              </a:extLst>
            </p:cNvPr>
            <p:cNvSpPr txBox="1"/>
            <p:nvPr/>
          </p:nvSpPr>
          <p:spPr>
            <a:xfrm>
              <a:off x="11983" y="3709"/>
              <a:ext cx="8660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某汽车集团实现供应链数字化协同后，订单响应时效从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 48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小时缩短至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 8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小时，库存周转率提升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 50%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，采购成本降低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 18%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。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​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  <a:alpha val="63000"/>
                  </a:srgbClr>
                </a:solidFill>
                <a:effectLst/>
                <a:uLnTx/>
                <a:uFillTx/>
                <a:latin typeface="Fluent Thin" charset="0"/>
                <a:ea typeface="思源黑体 CN Light" panose="020B0300000000000000" charset="-122"/>
                <a:cs typeface="Fluent Thin" charset="0"/>
                <a:sym typeface="+mn-ea"/>
              </a:endParaRPr>
            </a:p>
          </p:txBody>
        </p:sp>
        <p:sp>
          <p:nvSpPr>
            <p:cNvPr id="372" name="文本框 371">
              <a:extLst>
                <a:ext uri="{FF2B5EF4-FFF2-40B4-BE49-F238E27FC236}">
                  <a16:creationId xmlns:a16="http://schemas.microsoft.com/office/drawing/2014/main" id="{00E32945-3EB1-9061-6389-1C49C01BF68D}"/>
                </a:ext>
              </a:extLst>
            </p:cNvPr>
            <p:cNvSpPr txBox="1"/>
            <p:nvPr/>
          </p:nvSpPr>
          <p:spPr>
            <a:xfrm>
              <a:off x="9374" y="3806"/>
              <a:ext cx="2749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3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订单响应时效</a:t>
              </a:r>
            </a:p>
          </p:txBody>
        </p:sp>
        <p:sp>
          <p:nvSpPr>
            <p:cNvPr id="373" name="文本框 372">
              <a:extLst>
                <a:ext uri="{FF2B5EF4-FFF2-40B4-BE49-F238E27FC236}">
                  <a16:creationId xmlns:a16="http://schemas.microsoft.com/office/drawing/2014/main" id="{15D94B7C-D3D4-1C5C-1484-8C867DC68D3F}"/>
                </a:ext>
              </a:extLst>
            </p:cNvPr>
            <p:cNvSpPr txBox="1"/>
            <p:nvPr/>
          </p:nvSpPr>
          <p:spPr>
            <a:xfrm>
              <a:off x="7516" y="2944"/>
              <a:ext cx="2459" cy="17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6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45</a:t>
              </a:r>
            </a:p>
          </p:txBody>
        </p:sp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1A1B92D5-76ED-366A-FF6D-83680AD0E6EA}"/>
                </a:ext>
              </a:extLst>
            </p:cNvPr>
            <p:cNvSpPr txBox="1"/>
            <p:nvPr/>
          </p:nvSpPr>
          <p:spPr>
            <a:xfrm>
              <a:off x="9374" y="3444"/>
              <a:ext cx="2232" cy="3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68000"/>
                    </a:srgbClr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Increased</a:t>
              </a:r>
            </a:p>
          </p:txBody>
        </p: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D9253D65-E094-BA18-0B95-22F9F1DB3D15}"/>
                </a:ext>
              </a:extLst>
            </p:cNvPr>
            <p:cNvCxnSpPr/>
            <p:nvPr/>
          </p:nvCxnSpPr>
          <p:spPr>
            <a:xfrm>
              <a:off x="11721" y="3182"/>
              <a:ext cx="0" cy="1104"/>
            </a:xfrm>
            <a:prstGeom prst="line">
              <a:avLst/>
            </a:prstGeom>
            <a:noFill/>
            <a:ln w="12700" cap="flat" cmpd="sng" algn="ctr">
              <a:solidFill>
                <a:srgbClr val="3C007F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4843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70733-1E99-3CA1-BAF4-E3B342BE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组合 486">
            <a:extLst>
              <a:ext uri="{FF2B5EF4-FFF2-40B4-BE49-F238E27FC236}">
                <a16:creationId xmlns:a16="http://schemas.microsoft.com/office/drawing/2014/main" id="{5D6C110C-DFB6-21E7-89EF-49DA3959A4FC}"/>
              </a:ext>
            </a:extLst>
          </p:cNvPr>
          <p:cNvGrpSpPr/>
          <p:nvPr/>
        </p:nvGrpSpPr>
        <p:grpSpPr>
          <a:xfrm>
            <a:off x="451485" y="1621790"/>
            <a:ext cx="4632325" cy="909320"/>
            <a:chOff x="460" y="4387"/>
            <a:chExt cx="7295" cy="1432"/>
          </a:xfrm>
        </p:grpSpPr>
        <p:sp>
          <p:nvSpPr>
            <p:cNvPr id="489" name="文本框 488">
              <a:extLst>
                <a:ext uri="{FF2B5EF4-FFF2-40B4-BE49-F238E27FC236}">
                  <a16:creationId xmlns:a16="http://schemas.microsoft.com/office/drawing/2014/main" id="{488055DE-1B53-9A64-A7B7-388C038ECC8E}"/>
                </a:ext>
              </a:extLst>
            </p:cNvPr>
            <p:cNvSpPr txBox="1"/>
            <p:nvPr/>
          </p:nvSpPr>
          <p:spPr>
            <a:xfrm>
              <a:off x="460" y="4773"/>
              <a:ext cx="7293" cy="628"/>
            </a:xfrm>
            <a:prstGeom prst="rect">
              <a:avLst/>
            </a:prstGeom>
          </p:spPr>
          <p:txBody>
            <a:bodyPr rot="0" spcFirstLastPara="0" vert="horz" wrap="square" lIns="91435" tIns="45717" rIns="91435" bIns="45717" numCol="1" spcCol="0" rtlCol="0" fromWordArt="0" anchor="t" anchorCtr="0" forceAA="0" compatLnSpc="0">
              <a:spAutoFit/>
            </a:bodyPr>
            <a:lstStyle>
              <a:defPPr>
                <a:defRPr lang="en-US"/>
              </a:defPPr>
              <a:lvl1pPr lvl="0">
                <a:lnSpc>
                  <a:spcPct val="100000"/>
                </a:lnSpc>
                <a:buClrTx/>
                <a:buSzTx/>
                <a:buFontTx/>
                <a:defRPr sz="2600" b="1">
                  <a:gradFill>
                    <a:gsLst>
                      <a:gs pos="22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rgbClr val="570BDF"/>
                      </a:gs>
                    </a:gsLst>
                    <a:lin ang="0" scaled="0"/>
                  </a:gradFill>
                  <a:latin typeface="微软雅黑" charset="-122"/>
                  <a:ea typeface="微软雅黑" charset="-122"/>
                  <a:cs typeface="微软雅黑" charset="-122"/>
                </a:defRPr>
              </a:lvl1pPr>
            </a:lstStyle>
            <a:p>
              <a:r>
                <a:rPr lang="zh-CN" altLang="en-US" dirty="0"/>
                <a:t>全域智能互联深度渗透</a:t>
              </a:r>
            </a:p>
          </p:txBody>
        </p:sp>
        <p:sp>
          <p:nvSpPr>
            <p:cNvPr id="490" name="文本框 489">
              <a:extLst>
                <a:ext uri="{FF2B5EF4-FFF2-40B4-BE49-F238E27FC236}">
                  <a16:creationId xmlns:a16="http://schemas.microsoft.com/office/drawing/2014/main" id="{FEFC878E-F2B1-595D-7DB7-A52C08DE9742}"/>
                </a:ext>
              </a:extLst>
            </p:cNvPr>
            <p:cNvSpPr txBox="1"/>
            <p:nvPr/>
          </p:nvSpPr>
          <p:spPr>
            <a:xfrm>
              <a:off x="460" y="4387"/>
              <a:ext cx="7295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000" dirty="0">
                  <a:solidFill>
                    <a:srgbClr val="000000">
                      <a:lumMod val="85000"/>
                      <a:lumOff val="15000"/>
                      <a:alpha val="41000"/>
                    </a:srgbClr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万物智联</a:t>
              </a:r>
              <a:r>
                <a:rPr lang="en-US" altLang="zh-CN" sz="1000" dirty="0">
                  <a:solidFill>
                    <a:srgbClr val="000000">
                      <a:lumMod val="85000"/>
                      <a:lumOff val="15000"/>
                      <a:alpha val="41000"/>
                    </a:srgbClr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 </a:t>
              </a:r>
              <a:r>
                <a:rPr lang="zh-CN" altLang="en-US" sz="1000" dirty="0">
                  <a:solidFill>
                    <a:srgbClr val="000000">
                      <a:lumMod val="85000"/>
                      <a:lumOff val="15000"/>
                      <a:alpha val="41000"/>
                    </a:srgbClr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场景无缝贯通</a:t>
              </a:r>
            </a:p>
          </p:txBody>
        </p:sp>
      </p:grpSp>
      <p:sp>
        <p:nvSpPr>
          <p:cNvPr id="488" name="文本框 487">
            <a:extLst>
              <a:ext uri="{FF2B5EF4-FFF2-40B4-BE49-F238E27FC236}">
                <a16:creationId xmlns:a16="http://schemas.microsoft.com/office/drawing/2014/main" id="{F20BF9E5-8DAC-968F-FCF3-B516DC181593}"/>
              </a:ext>
            </a:extLst>
          </p:cNvPr>
          <p:cNvSpPr txBox="1"/>
          <p:nvPr/>
        </p:nvSpPr>
        <p:spPr>
          <a:xfrm>
            <a:off x="451485" y="2776220"/>
            <a:ext cx="4631055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1000" dirty="0">
                <a:solidFill>
                  <a:srgbClr val="000000">
                    <a:lumMod val="85000"/>
                    <a:lumOff val="15000"/>
                    <a:alpha val="63000"/>
                  </a:srgbClr>
                </a:solidFill>
                <a:latin typeface="Fluent Thin" charset="0"/>
                <a:ea typeface="思源黑体 CN Light" panose="020B0300000000000000" charset="-122"/>
                <a:cs typeface="Fluent Thin" charset="0"/>
              </a:rPr>
              <a:t>全域智能互联正打破空间与行业壁垒，从城市交通到工业产线，从家居生活到医疗服务，实现设备、数据、场景的无缝对接。</a:t>
            </a:r>
            <a:r>
              <a:rPr lang="en-US" altLang="zh-CN" sz="1000" dirty="0">
                <a:solidFill>
                  <a:srgbClr val="000000">
                    <a:lumMod val="85000"/>
                    <a:lumOff val="15000"/>
                    <a:alpha val="63000"/>
                  </a:srgbClr>
                </a:solidFill>
                <a:latin typeface="Fluent Thin" charset="0"/>
                <a:ea typeface="思源黑体 CN Light" panose="020B0300000000000000" charset="-122"/>
                <a:cs typeface="Fluent Thin" charset="0"/>
              </a:rPr>
              <a:t>5G</a:t>
            </a:r>
            <a:r>
              <a:rPr lang="zh-CN" altLang="en-US" sz="1000" dirty="0">
                <a:solidFill>
                  <a:srgbClr val="000000">
                    <a:lumMod val="85000"/>
                    <a:lumOff val="15000"/>
                    <a:alpha val="63000"/>
                  </a:srgbClr>
                </a:solidFill>
                <a:latin typeface="Fluent Thin" charset="0"/>
                <a:ea typeface="思源黑体 CN Light" panose="020B0300000000000000" charset="-122"/>
                <a:cs typeface="Fluent Thin" charset="0"/>
              </a:rPr>
              <a:t>、物联网与</a:t>
            </a:r>
            <a:r>
              <a:rPr lang="en-US" altLang="zh-CN" sz="1000" dirty="0">
                <a:solidFill>
                  <a:srgbClr val="000000">
                    <a:lumMod val="85000"/>
                    <a:lumOff val="15000"/>
                    <a:alpha val="63000"/>
                  </a:srgbClr>
                </a:solidFill>
                <a:latin typeface="Fluent Thin" charset="0"/>
                <a:ea typeface="思源黑体 CN Light" panose="020B0300000000000000" charset="-122"/>
                <a:cs typeface="Fluent Thin" charset="0"/>
              </a:rPr>
              <a:t> AI </a:t>
            </a:r>
            <a:r>
              <a:rPr lang="zh-CN" altLang="en-US" sz="1000" dirty="0">
                <a:solidFill>
                  <a:srgbClr val="000000">
                    <a:lumMod val="85000"/>
                    <a:lumOff val="15000"/>
                    <a:alpha val="63000"/>
                  </a:srgbClr>
                </a:solidFill>
                <a:latin typeface="Fluent Thin" charset="0"/>
                <a:ea typeface="思源黑体 CN Light" panose="020B0300000000000000" charset="-122"/>
                <a:cs typeface="Fluent Thin" charset="0"/>
              </a:rPr>
              <a:t>的融合，让远程操控、实时监测、协同响应成为常态，推动社会运行效率跃升。未来，从微观的智能终端到宏观的生态网络，互联深度将持续加深，重构生产生活的每一个环节，催生更高效、更便捷的全域智能生态。</a:t>
            </a:r>
          </a:p>
        </p:txBody>
      </p:sp>
      <p:grpSp>
        <p:nvGrpSpPr>
          <p:cNvPr id="491" name="组合 490">
            <a:extLst>
              <a:ext uri="{FF2B5EF4-FFF2-40B4-BE49-F238E27FC236}">
                <a16:creationId xmlns:a16="http://schemas.microsoft.com/office/drawing/2014/main" id="{0EC0423D-4965-9C56-D080-1A5684D1CBB6}"/>
              </a:ext>
            </a:extLst>
          </p:cNvPr>
          <p:cNvGrpSpPr/>
          <p:nvPr/>
        </p:nvGrpSpPr>
        <p:grpSpPr>
          <a:xfrm>
            <a:off x="292100" y="5035550"/>
            <a:ext cx="3512820" cy="562610"/>
            <a:chOff x="6834" y="9170"/>
            <a:chExt cx="5532" cy="886"/>
          </a:xfrm>
        </p:grpSpPr>
        <p:grpSp>
          <p:nvGrpSpPr>
            <p:cNvPr id="492" name="组合 491">
              <a:extLst>
                <a:ext uri="{FF2B5EF4-FFF2-40B4-BE49-F238E27FC236}">
                  <a16:creationId xmlns:a16="http://schemas.microsoft.com/office/drawing/2014/main" id="{3E30A054-2D0E-8C06-47CE-233A557BF3AD}"/>
                </a:ext>
              </a:extLst>
            </p:cNvPr>
            <p:cNvGrpSpPr/>
            <p:nvPr/>
          </p:nvGrpSpPr>
          <p:grpSpPr>
            <a:xfrm>
              <a:off x="6834" y="9282"/>
              <a:ext cx="5532" cy="774"/>
              <a:chOff x="6480" y="9180"/>
              <a:chExt cx="5532" cy="774"/>
            </a:xfrm>
          </p:grpSpPr>
          <p:sp>
            <p:nvSpPr>
              <p:cNvPr id="496" name="矩形: 圆角 133">
                <a:extLst>
                  <a:ext uri="{FF2B5EF4-FFF2-40B4-BE49-F238E27FC236}">
                    <a16:creationId xmlns:a16="http://schemas.microsoft.com/office/drawing/2014/main" id="{7AAF5FF7-8B9A-6E44-587E-890979078BC3}"/>
                  </a:ext>
                </a:extLst>
              </p:cNvPr>
              <p:cNvSpPr/>
              <p:nvPr/>
            </p:nvSpPr>
            <p:spPr>
              <a:xfrm>
                <a:off x="6480" y="9498"/>
                <a:ext cx="1728" cy="456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" panose="020B0500000000000000" pitchFamily="34" charset="-122"/>
                  </a:rPr>
                  <a:t>客户连接</a:t>
                </a:r>
              </a:p>
            </p:txBody>
          </p:sp>
          <p:sp>
            <p:nvSpPr>
              <p:cNvPr id="497" name="矩形: 圆角 133">
                <a:extLst>
                  <a:ext uri="{FF2B5EF4-FFF2-40B4-BE49-F238E27FC236}">
                    <a16:creationId xmlns:a16="http://schemas.microsoft.com/office/drawing/2014/main" id="{22C5EB9C-4699-9A38-7A97-77B2B1A457E6}"/>
                  </a:ext>
                </a:extLst>
              </p:cNvPr>
              <p:cNvSpPr/>
              <p:nvPr/>
            </p:nvSpPr>
            <p:spPr>
              <a:xfrm>
                <a:off x="8382" y="9498"/>
                <a:ext cx="1728" cy="456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" panose="020B0500000000000000" pitchFamily="34" charset="-122"/>
                  </a:rPr>
                  <a:t>文化培育</a:t>
                </a:r>
              </a:p>
            </p:txBody>
          </p:sp>
          <p:sp>
            <p:nvSpPr>
              <p:cNvPr id="498" name="矩形: 圆角 133">
                <a:extLst>
                  <a:ext uri="{FF2B5EF4-FFF2-40B4-BE49-F238E27FC236}">
                    <a16:creationId xmlns:a16="http://schemas.microsoft.com/office/drawing/2014/main" id="{2837B482-F076-C0AD-2A05-2E361B3C5362}"/>
                  </a:ext>
                </a:extLst>
              </p:cNvPr>
              <p:cNvSpPr/>
              <p:nvPr/>
            </p:nvSpPr>
            <p:spPr>
              <a:xfrm>
                <a:off x="10284" y="9498"/>
                <a:ext cx="1728" cy="456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" panose="020B0500000000000000" pitchFamily="34" charset="-122"/>
                  </a:rPr>
                  <a:t>安全防护</a:t>
                </a:r>
              </a:p>
            </p:txBody>
          </p:sp>
          <p:cxnSp>
            <p:nvCxnSpPr>
              <p:cNvPr id="499" name="直接连接符 498">
                <a:extLst>
                  <a:ext uri="{FF2B5EF4-FFF2-40B4-BE49-F238E27FC236}">
                    <a16:creationId xmlns:a16="http://schemas.microsoft.com/office/drawing/2014/main" id="{267809A3-3F37-1EC4-A630-455D405D170D}"/>
                  </a:ext>
                </a:extLst>
              </p:cNvPr>
              <p:cNvCxnSpPr/>
              <p:nvPr/>
            </p:nvCxnSpPr>
            <p:spPr>
              <a:xfrm>
                <a:off x="8322" y="9180"/>
                <a:ext cx="0" cy="660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>
                    <a:alpha val="15000"/>
                  </a:srgb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00" name="直接连接符 499">
                <a:extLst>
                  <a:ext uri="{FF2B5EF4-FFF2-40B4-BE49-F238E27FC236}">
                    <a16:creationId xmlns:a16="http://schemas.microsoft.com/office/drawing/2014/main" id="{C01CC8E2-68C4-67BA-17AC-F4782E255951}"/>
                  </a:ext>
                </a:extLst>
              </p:cNvPr>
              <p:cNvCxnSpPr/>
              <p:nvPr/>
            </p:nvCxnSpPr>
            <p:spPr>
              <a:xfrm>
                <a:off x="10197" y="9180"/>
                <a:ext cx="0" cy="660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>
                    <a:alpha val="15000"/>
                  </a:srgbClr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493" name="图片 70" descr="复制链接_copy-link (1)">
              <a:extLst>
                <a:ext uri="{FF2B5EF4-FFF2-40B4-BE49-F238E27FC236}">
                  <a16:creationId xmlns:a16="http://schemas.microsoft.com/office/drawing/2014/main" id="{5C63A67F-9285-307D-1618-0F2B96E437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18" y="9170"/>
              <a:ext cx="360" cy="360"/>
            </a:xfrm>
            <a:prstGeom prst="rect">
              <a:avLst/>
            </a:prstGeom>
          </p:spPr>
        </p:pic>
        <p:pic>
          <p:nvPicPr>
            <p:cNvPr id="494" name="图片 71" descr="保护_protect (8)">
              <a:extLst>
                <a:ext uri="{FF2B5EF4-FFF2-40B4-BE49-F238E27FC236}">
                  <a16:creationId xmlns:a16="http://schemas.microsoft.com/office/drawing/2014/main" id="{1C1B190C-62DB-464D-6FB6-2DE2F75E31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86" y="9170"/>
              <a:ext cx="360" cy="360"/>
            </a:xfrm>
            <a:prstGeom prst="rect">
              <a:avLst/>
            </a:prstGeom>
          </p:spPr>
        </p:pic>
        <p:pic>
          <p:nvPicPr>
            <p:cNvPr id="495" name="图片 72" descr="书籍-打开_book-open (2)">
              <a:extLst>
                <a:ext uri="{FF2B5EF4-FFF2-40B4-BE49-F238E27FC236}">
                  <a16:creationId xmlns:a16="http://schemas.microsoft.com/office/drawing/2014/main" id="{B290165A-7707-BADD-1842-EF3A235218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20" y="9170"/>
              <a:ext cx="360" cy="360"/>
            </a:xfrm>
            <a:prstGeom prst="rect">
              <a:avLst/>
            </a:prstGeom>
          </p:spPr>
        </p:pic>
      </p:grpSp>
      <p:grpSp>
        <p:nvGrpSpPr>
          <p:cNvPr id="501" name="组合 500">
            <a:extLst>
              <a:ext uri="{FF2B5EF4-FFF2-40B4-BE49-F238E27FC236}">
                <a16:creationId xmlns:a16="http://schemas.microsoft.com/office/drawing/2014/main" id="{7A88D15C-AEC7-7DF6-C42D-BE115E2DD837}"/>
              </a:ext>
            </a:extLst>
          </p:cNvPr>
          <p:cNvGrpSpPr/>
          <p:nvPr/>
        </p:nvGrpSpPr>
        <p:grpSpPr>
          <a:xfrm>
            <a:off x="7620000" y="665162"/>
            <a:ext cx="1988820" cy="5527675"/>
            <a:chOff x="12000" y="1355"/>
            <a:chExt cx="3132" cy="8705"/>
          </a:xfrm>
        </p:grpSpPr>
        <p:sp>
          <p:nvSpPr>
            <p:cNvPr id="502" name="矩形 501">
              <a:extLst>
                <a:ext uri="{FF2B5EF4-FFF2-40B4-BE49-F238E27FC236}">
                  <a16:creationId xmlns:a16="http://schemas.microsoft.com/office/drawing/2014/main" id="{944F2A50-F609-C38D-116C-A2339747357F}"/>
                </a:ext>
              </a:extLst>
            </p:cNvPr>
            <p:cNvSpPr/>
            <p:nvPr/>
          </p:nvSpPr>
          <p:spPr>
            <a:xfrm>
              <a:off x="12000" y="1355"/>
              <a:ext cx="3124" cy="4184"/>
            </a:xfrm>
            <a:prstGeom prst="rect">
              <a:avLst/>
            </a:prstGeom>
            <a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503" name="矩形 502">
              <a:extLst>
                <a:ext uri="{FF2B5EF4-FFF2-40B4-BE49-F238E27FC236}">
                  <a16:creationId xmlns:a16="http://schemas.microsoft.com/office/drawing/2014/main" id="{E24A6B56-3BA2-134B-A638-BCCDDEB9ADFC}"/>
                </a:ext>
              </a:extLst>
            </p:cNvPr>
            <p:cNvSpPr/>
            <p:nvPr/>
          </p:nvSpPr>
          <p:spPr>
            <a:xfrm>
              <a:off x="12000" y="1356"/>
              <a:ext cx="3124" cy="8705"/>
            </a:xfrm>
            <a:prstGeom prst="rect">
              <a:avLst/>
            </a:prstGeom>
            <a:gradFill rotWithShape="1">
              <a:gsLst>
                <a:gs pos="48000">
                  <a:srgbClr val="350A66">
                    <a:alpha val="100000"/>
                  </a:srgbClr>
                </a:gs>
                <a:gs pos="0">
                  <a:srgbClr val="000000">
                    <a:alpha val="0"/>
                  </a:srgbClr>
                </a:gs>
                <a:gs pos="100000">
                  <a:srgbClr val="7928D5">
                    <a:lumMod val="99000"/>
                    <a:satMod val="120000"/>
                    <a:shade val="78000"/>
                    <a:alpha val="100000"/>
                  </a:srgbClr>
                </a:gs>
              </a:gsLst>
              <a:lin ang="5400000" scaled="0"/>
            </a:grad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504" name="文本框 503">
              <a:extLst>
                <a:ext uri="{FF2B5EF4-FFF2-40B4-BE49-F238E27FC236}">
                  <a16:creationId xmlns:a16="http://schemas.microsoft.com/office/drawing/2014/main" id="{428F0027-AE13-761C-3E82-DD8BEA7EA1D8}"/>
                </a:ext>
              </a:extLst>
            </p:cNvPr>
            <p:cNvSpPr txBox="1"/>
            <p:nvPr/>
          </p:nvSpPr>
          <p:spPr>
            <a:xfrm>
              <a:off x="12008" y="7003"/>
              <a:ext cx="3109" cy="58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全域数据流</a:t>
              </a:r>
            </a:p>
          </p:txBody>
        </p:sp>
        <p:sp>
          <p:nvSpPr>
            <p:cNvPr id="505" name="文本框 504">
              <a:extLst>
                <a:ext uri="{FF2B5EF4-FFF2-40B4-BE49-F238E27FC236}">
                  <a16:creationId xmlns:a16="http://schemas.microsoft.com/office/drawing/2014/main" id="{6EE37F64-9BE7-2562-FBD0-F9DE5445EFB0}"/>
                </a:ext>
              </a:extLst>
            </p:cNvPr>
            <p:cNvSpPr txBox="1"/>
            <p:nvPr/>
          </p:nvSpPr>
          <p:spPr>
            <a:xfrm>
              <a:off x="12008" y="6621"/>
              <a:ext cx="3110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alpha val="41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数字化转型基础</a:t>
              </a:r>
            </a:p>
          </p:txBody>
        </p:sp>
        <p:sp>
          <p:nvSpPr>
            <p:cNvPr id="506" name="矩形 505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BD834681-BDBC-AC70-DFEA-F3AF20B5442A}"/>
                </a:ext>
              </a:extLst>
            </p:cNvPr>
            <p:cNvSpPr/>
            <p:nvPr/>
          </p:nvSpPr>
          <p:spPr>
            <a:xfrm>
              <a:off x="12008" y="7968"/>
              <a:ext cx="3124" cy="123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alpha val="91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</a:rPr>
                <a:t>工业设备与云端实时联动，生产数据秒级同步，故障预警准确率达 95%。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cxnSp>
          <p:nvCxnSpPr>
            <p:cNvPr id="507" name="直接连接符 506">
              <a:extLst>
                <a:ext uri="{FF2B5EF4-FFF2-40B4-BE49-F238E27FC236}">
                  <a16:creationId xmlns:a16="http://schemas.microsoft.com/office/drawing/2014/main" id="{F481719A-AB8E-9662-EBB4-202662A21267}"/>
                </a:ext>
              </a:extLst>
            </p:cNvPr>
            <p:cNvCxnSpPr/>
            <p:nvPr/>
          </p:nvCxnSpPr>
          <p:spPr>
            <a:xfrm>
              <a:off x="12218" y="7849"/>
              <a:ext cx="2686" cy="0"/>
            </a:xfrm>
            <a:prstGeom prst="line">
              <a:avLst/>
            </a:prstGeom>
            <a:noFill/>
            <a:ln w="3175" cap="flat" cmpd="sng" algn="ctr">
              <a:solidFill>
                <a:srgbClr val="FFFFFF">
                  <a:alpha val="25000"/>
                </a:srgbClr>
              </a:solidFill>
              <a:prstDash val="solid"/>
              <a:miter lim="800000"/>
            </a:ln>
            <a:effectLst/>
          </p:spPr>
        </p:cxnSp>
        <p:pic>
          <p:nvPicPr>
            <p:cNvPr id="508" name="图片 14" descr="纹路_process-line (3)">
              <a:extLst>
                <a:ext uri="{FF2B5EF4-FFF2-40B4-BE49-F238E27FC236}">
                  <a16:creationId xmlns:a16="http://schemas.microsoft.com/office/drawing/2014/main" id="{C8448069-3A72-B8A3-3479-7E18946F61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66" y="6157"/>
              <a:ext cx="360" cy="360"/>
            </a:xfrm>
            <a:prstGeom prst="rect">
              <a:avLst/>
            </a:prstGeom>
          </p:spPr>
        </p:pic>
      </p:grpSp>
      <p:grpSp>
        <p:nvGrpSpPr>
          <p:cNvPr id="509" name="组合 508">
            <a:extLst>
              <a:ext uri="{FF2B5EF4-FFF2-40B4-BE49-F238E27FC236}">
                <a16:creationId xmlns:a16="http://schemas.microsoft.com/office/drawing/2014/main" id="{A80DA7BE-3F5E-C9BC-FCE1-5033C339C6FA}"/>
              </a:ext>
            </a:extLst>
          </p:cNvPr>
          <p:cNvGrpSpPr/>
          <p:nvPr/>
        </p:nvGrpSpPr>
        <p:grpSpPr>
          <a:xfrm>
            <a:off x="5479415" y="665162"/>
            <a:ext cx="1985010" cy="5527675"/>
            <a:chOff x="8629" y="1355"/>
            <a:chExt cx="3126" cy="8705"/>
          </a:xfrm>
        </p:grpSpPr>
        <p:sp>
          <p:nvSpPr>
            <p:cNvPr id="510" name="矩形 509">
              <a:extLst>
                <a:ext uri="{FF2B5EF4-FFF2-40B4-BE49-F238E27FC236}">
                  <a16:creationId xmlns:a16="http://schemas.microsoft.com/office/drawing/2014/main" id="{939CA52A-E7C4-6166-F7AD-EDFB89E8FE89}"/>
                </a:ext>
              </a:extLst>
            </p:cNvPr>
            <p:cNvSpPr/>
            <p:nvPr/>
          </p:nvSpPr>
          <p:spPr>
            <a:xfrm>
              <a:off x="8629" y="1355"/>
              <a:ext cx="3124" cy="4184"/>
            </a:xfrm>
            <a:prstGeom prst="rect">
              <a:avLst/>
            </a:prstGeom>
            <a:blipFill rotWithShape="1">
              <a:blip r:embed="rId8"/>
              <a:stretch>
                <a:fillRect/>
              </a:stretch>
            </a:blip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blipFill>
                  <a:blip r:embed="rId9"/>
                  <a:stretch>
                    <a:fillRect/>
                  </a:stretch>
                </a:blip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511" name="矩形 510">
              <a:extLst>
                <a:ext uri="{FF2B5EF4-FFF2-40B4-BE49-F238E27FC236}">
                  <a16:creationId xmlns:a16="http://schemas.microsoft.com/office/drawing/2014/main" id="{148A9CA2-AB8D-F4AE-6D4F-912FF68FCE1E}"/>
                </a:ext>
              </a:extLst>
            </p:cNvPr>
            <p:cNvSpPr/>
            <p:nvPr/>
          </p:nvSpPr>
          <p:spPr>
            <a:xfrm>
              <a:off x="8629" y="1356"/>
              <a:ext cx="3124" cy="8705"/>
            </a:xfrm>
            <a:prstGeom prst="rect">
              <a:avLst/>
            </a:prstGeom>
            <a:gradFill rotWithShape="1">
              <a:gsLst>
                <a:gs pos="0">
                  <a:srgbClr val="3C007F">
                    <a:satMod val="110000"/>
                    <a:lumMod val="100000"/>
                    <a:shade val="100000"/>
                    <a:alpha val="0"/>
                  </a:srgbClr>
                </a:gs>
                <a:gs pos="46000">
                  <a:srgbClr val="3C007F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512" name="文本框 511">
              <a:extLst>
                <a:ext uri="{FF2B5EF4-FFF2-40B4-BE49-F238E27FC236}">
                  <a16:creationId xmlns:a16="http://schemas.microsoft.com/office/drawing/2014/main" id="{91FD2A01-3C66-F657-E46B-55FE29ACF1A1}"/>
                </a:ext>
              </a:extLst>
            </p:cNvPr>
            <p:cNvSpPr txBox="1"/>
            <p:nvPr/>
          </p:nvSpPr>
          <p:spPr>
            <a:xfrm>
              <a:off x="8645" y="7002"/>
              <a:ext cx="3109" cy="58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智联无边界</a:t>
              </a:r>
            </a:p>
          </p:txBody>
        </p:sp>
        <p:sp>
          <p:nvSpPr>
            <p:cNvPr id="513" name="文本框 512">
              <a:extLst>
                <a:ext uri="{FF2B5EF4-FFF2-40B4-BE49-F238E27FC236}">
                  <a16:creationId xmlns:a16="http://schemas.microsoft.com/office/drawing/2014/main" id="{E9804578-E0C1-56BE-2B50-0758098000E2}"/>
                </a:ext>
              </a:extLst>
            </p:cNvPr>
            <p:cNvSpPr txBox="1"/>
            <p:nvPr/>
          </p:nvSpPr>
          <p:spPr>
            <a:xfrm>
              <a:off x="8645" y="6620"/>
              <a:ext cx="3110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alpha val="41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数字化转型基础</a:t>
              </a:r>
            </a:p>
          </p:txBody>
        </p:sp>
        <p:sp>
          <p:nvSpPr>
            <p:cNvPr id="514" name="矩形 513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AFF7AF1C-3133-EF49-45DD-9CE0B79F02C9}"/>
                </a:ext>
              </a:extLst>
            </p:cNvPr>
            <p:cNvSpPr/>
            <p:nvPr/>
          </p:nvSpPr>
          <p:spPr>
            <a:xfrm>
              <a:off x="8630" y="7968"/>
              <a:ext cx="3124" cy="123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alpha val="91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</a:rPr>
                <a:t>5G + 物联网织就全域网络，设备互联率超 90%，跨场景响应速度提升 60%。</a:t>
              </a:r>
            </a:p>
          </p:txBody>
        </p:sp>
        <p:cxnSp>
          <p:nvCxnSpPr>
            <p:cNvPr id="515" name="直接连接符 514">
              <a:extLst>
                <a:ext uri="{FF2B5EF4-FFF2-40B4-BE49-F238E27FC236}">
                  <a16:creationId xmlns:a16="http://schemas.microsoft.com/office/drawing/2014/main" id="{578EA3E6-F96C-74AF-AF26-C45DF96636D2}"/>
                </a:ext>
              </a:extLst>
            </p:cNvPr>
            <p:cNvCxnSpPr/>
            <p:nvPr/>
          </p:nvCxnSpPr>
          <p:spPr>
            <a:xfrm>
              <a:off x="8843" y="7849"/>
              <a:ext cx="2686" cy="0"/>
            </a:xfrm>
            <a:prstGeom prst="line">
              <a:avLst/>
            </a:prstGeom>
            <a:noFill/>
            <a:ln w="3175" cap="flat" cmpd="sng" algn="ctr">
              <a:solidFill>
                <a:srgbClr val="FFFFFF">
                  <a:alpha val="25000"/>
                </a:srgbClr>
              </a:solidFill>
              <a:prstDash val="solid"/>
              <a:miter lim="800000"/>
            </a:ln>
            <a:effectLst/>
          </p:spPr>
        </p:cxnSp>
        <p:pic>
          <p:nvPicPr>
            <p:cNvPr id="516" name="图片 15" descr="数据文件_data-file (7)">
              <a:extLst>
                <a:ext uri="{FF2B5EF4-FFF2-40B4-BE49-F238E27FC236}">
                  <a16:creationId xmlns:a16="http://schemas.microsoft.com/office/drawing/2014/main" id="{3D97926C-3C92-9E4B-1BE3-45536DF996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785" y="6157"/>
              <a:ext cx="360" cy="360"/>
            </a:xfrm>
            <a:prstGeom prst="rect">
              <a:avLst/>
            </a:prstGeom>
          </p:spPr>
        </p:pic>
      </p:grpSp>
      <p:grpSp>
        <p:nvGrpSpPr>
          <p:cNvPr id="517" name="组合 516">
            <a:extLst>
              <a:ext uri="{FF2B5EF4-FFF2-40B4-BE49-F238E27FC236}">
                <a16:creationId xmlns:a16="http://schemas.microsoft.com/office/drawing/2014/main" id="{4C6191DC-778B-F4A7-67B3-D67BE2F7CEB0}"/>
              </a:ext>
            </a:extLst>
          </p:cNvPr>
          <p:cNvGrpSpPr/>
          <p:nvPr/>
        </p:nvGrpSpPr>
        <p:grpSpPr>
          <a:xfrm>
            <a:off x="9759950" y="665162"/>
            <a:ext cx="1993900" cy="5527675"/>
            <a:chOff x="15370" y="1355"/>
            <a:chExt cx="3140" cy="8705"/>
          </a:xfrm>
        </p:grpSpPr>
        <p:sp>
          <p:nvSpPr>
            <p:cNvPr id="518" name="矩形 517">
              <a:extLst>
                <a:ext uri="{FF2B5EF4-FFF2-40B4-BE49-F238E27FC236}">
                  <a16:creationId xmlns:a16="http://schemas.microsoft.com/office/drawing/2014/main" id="{6474551C-AED1-67C7-0A9C-0E6EA16FC697}"/>
                </a:ext>
              </a:extLst>
            </p:cNvPr>
            <p:cNvSpPr/>
            <p:nvPr/>
          </p:nvSpPr>
          <p:spPr>
            <a:xfrm>
              <a:off x="15370" y="1355"/>
              <a:ext cx="3124" cy="4184"/>
            </a:xfrm>
            <a:prstGeom prst="rect">
              <a:avLst/>
            </a:prstGeom>
            <a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519" name="矩形 518">
              <a:extLst>
                <a:ext uri="{FF2B5EF4-FFF2-40B4-BE49-F238E27FC236}">
                  <a16:creationId xmlns:a16="http://schemas.microsoft.com/office/drawing/2014/main" id="{F2479698-5D44-2169-5917-A2C65A7DAF4C}"/>
                </a:ext>
              </a:extLst>
            </p:cNvPr>
            <p:cNvSpPr/>
            <p:nvPr/>
          </p:nvSpPr>
          <p:spPr>
            <a:xfrm>
              <a:off x="15370" y="1356"/>
              <a:ext cx="3124" cy="8705"/>
            </a:xfrm>
            <a:prstGeom prst="rect">
              <a:avLst/>
            </a:prstGeom>
            <a:gradFill rotWithShape="1">
              <a:gsLst>
                <a:gs pos="0">
                  <a:srgbClr val="1A0147">
                    <a:satMod val="110000"/>
                    <a:lumMod val="100000"/>
                    <a:shade val="100000"/>
                    <a:alpha val="0"/>
                  </a:srgbClr>
                </a:gs>
                <a:gs pos="47000">
                  <a:srgbClr val="1A0147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  <a:sym typeface="+mn-ea"/>
              </a:endParaRPr>
            </a:p>
          </p:txBody>
        </p:sp>
        <p:sp>
          <p:nvSpPr>
            <p:cNvPr id="520" name="文本框 519">
              <a:extLst>
                <a:ext uri="{FF2B5EF4-FFF2-40B4-BE49-F238E27FC236}">
                  <a16:creationId xmlns:a16="http://schemas.microsoft.com/office/drawing/2014/main" id="{B7418E96-9AF3-01F5-DDEC-085E07AB0F79}"/>
                </a:ext>
              </a:extLst>
            </p:cNvPr>
            <p:cNvSpPr txBox="1"/>
            <p:nvPr/>
          </p:nvSpPr>
          <p:spPr>
            <a:xfrm>
              <a:off x="15386" y="7005"/>
              <a:ext cx="3109" cy="58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万物协同动</a:t>
              </a:r>
            </a:p>
          </p:txBody>
        </p:sp>
        <p:sp>
          <p:nvSpPr>
            <p:cNvPr id="521" name="文本框 520">
              <a:extLst>
                <a:ext uri="{FF2B5EF4-FFF2-40B4-BE49-F238E27FC236}">
                  <a16:creationId xmlns:a16="http://schemas.microsoft.com/office/drawing/2014/main" id="{046D788B-3454-A09B-1026-F52443E64678}"/>
                </a:ext>
              </a:extLst>
            </p:cNvPr>
            <p:cNvSpPr txBox="1"/>
            <p:nvPr/>
          </p:nvSpPr>
          <p:spPr>
            <a:xfrm>
              <a:off x="15386" y="6622"/>
              <a:ext cx="3110" cy="3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alpha val="41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数字化转型基础</a:t>
              </a:r>
            </a:p>
          </p:txBody>
        </p:sp>
        <p:sp>
          <p:nvSpPr>
            <p:cNvPr id="522" name="矩形 521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DADDC503-F444-28A0-3770-F0C358383BD9}"/>
                </a:ext>
              </a:extLst>
            </p:cNvPr>
            <p:cNvSpPr/>
            <p:nvPr/>
          </p:nvSpPr>
          <p:spPr>
            <a:xfrm>
              <a:off x="15386" y="7968"/>
              <a:ext cx="3124" cy="123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91000"/>
                    </a:srgbClr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以严苛标准构建质量屏障，从源头拦截缺陷，全程把控生产链路，用数据验证防线强度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endParaRPr>
            </a:p>
          </p:txBody>
        </p:sp>
        <p:cxnSp>
          <p:nvCxnSpPr>
            <p:cNvPr id="523" name="直接连接符 522">
              <a:extLst>
                <a:ext uri="{FF2B5EF4-FFF2-40B4-BE49-F238E27FC236}">
                  <a16:creationId xmlns:a16="http://schemas.microsoft.com/office/drawing/2014/main" id="{5C8AA55F-0F61-B922-0E73-6AF33DB470C3}"/>
                </a:ext>
              </a:extLst>
            </p:cNvPr>
            <p:cNvCxnSpPr/>
            <p:nvPr/>
          </p:nvCxnSpPr>
          <p:spPr>
            <a:xfrm>
              <a:off x="15571" y="7849"/>
              <a:ext cx="2686" cy="0"/>
            </a:xfrm>
            <a:prstGeom prst="line">
              <a:avLst/>
            </a:prstGeom>
            <a:noFill/>
            <a:ln w="3175" cap="flat" cmpd="sng" algn="ctr">
              <a:solidFill>
                <a:srgbClr val="FFFFFF">
                  <a:alpha val="25000"/>
                </a:srgbClr>
              </a:solidFill>
              <a:prstDash val="solid"/>
              <a:miter lim="800000"/>
            </a:ln>
            <a:effectLst/>
          </p:spPr>
        </p:cxnSp>
        <p:pic>
          <p:nvPicPr>
            <p:cNvPr id="524" name="图片 18" descr="牵手_holding-hands (10)">
              <a:extLst>
                <a:ext uri="{FF2B5EF4-FFF2-40B4-BE49-F238E27FC236}">
                  <a16:creationId xmlns:a16="http://schemas.microsoft.com/office/drawing/2014/main" id="{36C6CDDF-08D6-8329-8096-3597C4D360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543" y="6157"/>
              <a:ext cx="360" cy="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066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D3B71-8484-0C99-36FB-CE720A6A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AE228C3C-423B-6B1E-8B81-9844D07DD0A9}"/>
              </a:ext>
            </a:extLst>
          </p:cNvPr>
          <p:cNvSpPr txBox="1"/>
          <p:nvPr/>
        </p:nvSpPr>
        <p:spPr>
          <a:xfrm>
            <a:off x="566420" y="1300194"/>
            <a:ext cx="4276195" cy="796430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algn="l"/>
            <a:r>
              <a:rPr lang="zh-CN" altLang="en-US" sz="3200" dirty="0">
                <a:sym typeface="+mn-ea"/>
              </a:rPr>
              <a:t>数转赋能 生产智变 </a:t>
            </a:r>
            <a:endParaRPr lang="ja-JP" altLang="en-US" sz="3200" dirty="0">
              <a:sym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5C801FB-ACA1-8872-5C49-5D0B5EF4C237}"/>
              </a:ext>
            </a:extLst>
          </p:cNvPr>
          <p:cNvSpPr txBox="1"/>
          <p:nvPr/>
        </p:nvSpPr>
        <p:spPr>
          <a:xfrm>
            <a:off x="474980" y="5065395"/>
            <a:ext cx="701802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rgbClr val="26323B">
                    <a:alpha val="71000"/>
                  </a:srgb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以数字技术为核心驱动力，对生产全流程进行智能化改造，打通设计、生产、质检、物流各环节数据链路，实现生产决策智能化、流程自动化、管理精细化，助力产业高质量发展。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827DADD-2474-B4FA-D05E-60B13CA2617A}"/>
              </a:ext>
            </a:extLst>
          </p:cNvPr>
          <p:cNvGrpSpPr/>
          <p:nvPr/>
        </p:nvGrpSpPr>
        <p:grpSpPr>
          <a:xfrm>
            <a:off x="566420" y="2296795"/>
            <a:ext cx="6991350" cy="2254885"/>
            <a:chOff x="892" y="3617"/>
            <a:chExt cx="11010" cy="3551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EA48763-AEDE-7980-E485-6431503298C8}"/>
                </a:ext>
              </a:extLst>
            </p:cNvPr>
            <p:cNvSpPr/>
            <p:nvPr/>
          </p:nvSpPr>
          <p:spPr>
            <a:xfrm>
              <a:off x="892" y="3618"/>
              <a:ext cx="3633" cy="355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7850D00-4F69-AF9C-9E0C-E388726F1FBD}"/>
                </a:ext>
              </a:extLst>
            </p:cNvPr>
            <p:cNvSpPr/>
            <p:nvPr/>
          </p:nvSpPr>
          <p:spPr>
            <a:xfrm>
              <a:off x="4620" y="3618"/>
              <a:ext cx="3633" cy="355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17B92346-6D8E-C828-6656-928E5978EC8D}"/>
                </a:ext>
              </a:extLst>
            </p:cNvPr>
            <p:cNvSpPr/>
            <p:nvPr/>
          </p:nvSpPr>
          <p:spPr>
            <a:xfrm>
              <a:off x="8351" y="3617"/>
              <a:ext cx="3551" cy="3551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21" name="文本框 320">
              <a:extLst>
                <a:ext uri="{FF2B5EF4-FFF2-40B4-BE49-F238E27FC236}">
                  <a16:creationId xmlns:a16="http://schemas.microsoft.com/office/drawing/2014/main" id="{7AF61C30-562C-0CCB-5A5D-321BE51C4309}"/>
                </a:ext>
              </a:extLst>
            </p:cNvPr>
            <p:cNvSpPr txBox="1"/>
            <p:nvPr/>
          </p:nvSpPr>
          <p:spPr>
            <a:xfrm>
              <a:off x="972" y="5250"/>
              <a:ext cx="3383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引入数字技术改造产线，优化生产流程，实现全环节智能管控提效</a:t>
              </a:r>
            </a:p>
          </p:txBody>
        </p:sp>
        <p:sp>
          <p:nvSpPr>
            <p:cNvPr id="322" name="文本框 321">
              <a:extLst>
                <a:ext uri="{FF2B5EF4-FFF2-40B4-BE49-F238E27FC236}">
                  <a16:creationId xmlns:a16="http://schemas.microsoft.com/office/drawing/2014/main" id="{FD79F307-A473-9B30-FB52-E7750F9C1269}"/>
                </a:ext>
              </a:extLst>
            </p:cNvPr>
            <p:cNvSpPr txBox="1"/>
            <p:nvPr/>
          </p:nvSpPr>
          <p:spPr>
            <a:xfrm>
              <a:off x="1364" y="4350"/>
              <a:ext cx="242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数转赋能产线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生产全面智变</a:t>
              </a:r>
            </a:p>
          </p:txBody>
        </p:sp>
        <p:sp>
          <p:nvSpPr>
            <p:cNvPr id="323" name="文本框 322">
              <a:extLst>
                <a:ext uri="{FF2B5EF4-FFF2-40B4-BE49-F238E27FC236}">
                  <a16:creationId xmlns:a16="http://schemas.microsoft.com/office/drawing/2014/main" id="{D8409602-3863-DF8A-CA22-95703335B19A}"/>
                </a:ext>
              </a:extLst>
            </p:cNvPr>
            <p:cNvSpPr txBox="1"/>
            <p:nvPr/>
          </p:nvSpPr>
          <p:spPr>
            <a:xfrm>
              <a:off x="4762" y="5250"/>
              <a:ext cx="3383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依托数智化工具赋能生产，打通数据壁垒，推动制造模式转型升级</a:t>
              </a:r>
            </a:p>
          </p:txBody>
        </p:sp>
        <p:sp>
          <p:nvSpPr>
            <p:cNvPr id="324" name="文本框 323">
              <a:extLst>
                <a:ext uri="{FF2B5EF4-FFF2-40B4-BE49-F238E27FC236}">
                  <a16:creationId xmlns:a16="http://schemas.microsoft.com/office/drawing/2014/main" id="{21282FA3-0C65-38B6-5631-45330854E7C1}"/>
                </a:ext>
              </a:extLst>
            </p:cNvPr>
            <p:cNvSpPr txBox="1"/>
            <p:nvPr/>
          </p:nvSpPr>
          <p:spPr>
            <a:xfrm>
              <a:off x="5154" y="4350"/>
              <a:ext cx="242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生产数智升级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效能稳步提升</a:t>
              </a:r>
            </a:p>
          </p:txBody>
        </p: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9036F99C-0FAA-CD1B-FB3B-3211FE4E0750}"/>
                </a:ext>
              </a:extLst>
            </p:cNvPr>
            <p:cNvCxnSpPr/>
            <p:nvPr/>
          </p:nvCxnSpPr>
          <p:spPr>
            <a:xfrm>
              <a:off x="1192" y="4389"/>
              <a:ext cx="0" cy="720"/>
            </a:xfrm>
            <a:prstGeom prst="line">
              <a:avLst/>
            </a:prstGeom>
            <a:noFill/>
            <a:ln w="28575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375FDAA7-B9AC-F11D-DF46-18EF49496568}"/>
                </a:ext>
              </a:extLst>
            </p:cNvPr>
            <p:cNvCxnSpPr/>
            <p:nvPr/>
          </p:nvCxnSpPr>
          <p:spPr>
            <a:xfrm>
              <a:off x="4992" y="4389"/>
              <a:ext cx="0" cy="720"/>
            </a:xfrm>
            <a:prstGeom prst="line">
              <a:avLst/>
            </a:prstGeom>
            <a:noFill/>
            <a:ln w="28575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</p:cxnSp>
        <p:sp>
          <p:nvSpPr>
            <p:cNvPr id="327" name="矩形 326">
              <a:extLst>
                <a:ext uri="{FF2B5EF4-FFF2-40B4-BE49-F238E27FC236}">
                  <a16:creationId xmlns:a16="http://schemas.microsoft.com/office/drawing/2014/main" id="{25F5F323-7BBE-D037-6BC1-5C70A754A6A9}"/>
                </a:ext>
              </a:extLst>
            </p:cNvPr>
            <p:cNvSpPr/>
            <p:nvPr/>
          </p:nvSpPr>
          <p:spPr>
            <a:xfrm>
              <a:off x="8352" y="3617"/>
              <a:ext cx="3551" cy="3551"/>
            </a:xfrm>
            <a:prstGeom prst="rect">
              <a:avLst/>
            </a:prstGeom>
            <a:solidFill>
              <a:srgbClr val="7928D5">
                <a:alpha val="5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grpSp>
        <p:nvGrpSpPr>
          <p:cNvPr id="328" name="组合 327">
            <a:extLst>
              <a:ext uri="{FF2B5EF4-FFF2-40B4-BE49-F238E27FC236}">
                <a16:creationId xmlns:a16="http://schemas.microsoft.com/office/drawing/2014/main" id="{5B98515C-C0AA-2C15-665F-531C5B30AABB}"/>
              </a:ext>
            </a:extLst>
          </p:cNvPr>
          <p:cNvGrpSpPr/>
          <p:nvPr/>
        </p:nvGrpSpPr>
        <p:grpSpPr>
          <a:xfrm>
            <a:off x="9935845" y="2296795"/>
            <a:ext cx="2255520" cy="4551045"/>
            <a:chOff x="15647" y="3617"/>
            <a:chExt cx="3552" cy="7167"/>
          </a:xfrm>
        </p:grpSpPr>
        <p:sp>
          <p:nvSpPr>
            <p:cNvPr id="329" name="矩形 328">
              <a:extLst>
                <a:ext uri="{FF2B5EF4-FFF2-40B4-BE49-F238E27FC236}">
                  <a16:creationId xmlns:a16="http://schemas.microsoft.com/office/drawing/2014/main" id="{E29F822D-7CA1-EC4F-849E-6C15EC860DE1}"/>
                </a:ext>
              </a:extLst>
            </p:cNvPr>
            <p:cNvSpPr/>
            <p:nvPr/>
          </p:nvSpPr>
          <p:spPr>
            <a:xfrm>
              <a:off x="15647" y="3617"/>
              <a:ext cx="3551" cy="3551"/>
            </a:xfrm>
            <a:prstGeom prst="rect">
              <a:avLst/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30" name="矩形 329">
              <a:extLst>
                <a:ext uri="{FF2B5EF4-FFF2-40B4-BE49-F238E27FC236}">
                  <a16:creationId xmlns:a16="http://schemas.microsoft.com/office/drawing/2014/main" id="{8911BD7D-67DC-F65A-19B2-23DA8D40DC2D}"/>
                </a:ext>
              </a:extLst>
            </p:cNvPr>
            <p:cNvSpPr/>
            <p:nvPr/>
          </p:nvSpPr>
          <p:spPr>
            <a:xfrm>
              <a:off x="15648" y="7234"/>
              <a:ext cx="3551" cy="3551"/>
            </a:xfrm>
            <a:prstGeom prst="rect">
              <a:avLst/>
            </a:prstGeom>
            <a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31" name="矩形 330">
              <a:extLst>
                <a:ext uri="{FF2B5EF4-FFF2-40B4-BE49-F238E27FC236}">
                  <a16:creationId xmlns:a16="http://schemas.microsoft.com/office/drawing/2014/main" id="{6DA15ADD-4A1F-9DFD-DE90-B52D3710898D}"/>
                </a:ext>
              </a:extLst>
            </p:cNvPr>
            <p:cNvSpPr/>
            <p:nvPr/>
          </p:nvSpPr>
          <p:spPr>
            <a:xfrm>
              <a:off x="15648" y="3617"/>
              <a:ext cx="3551" cy="3551"/>
            </a:xfrm>
            <a:prstGeom prst="rect">
              <a:avLst/>
            </a:prstGeom>
            <a:solidFill>
              <a:srgbClr val="1D2840">
                <a:alpha val="67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32" name="矩形 331">
              <a:extLst>
                <a:ext uri="{FF2B5EF4-FFF2-40B4-BE49-F238E27FC236}">
                  <a16:creationId xmlns:a16="http://schemas.microsoft.com/office/drawing/2014/main" id="{F51D5687-640F-D797-3B27-50EA771CD583}"/>
                </a:ext>
              </a:extLst>
            </p:cNvPr>
            <p:cNvSpPr/>
            <p:nvPr/>
          </p:nvSpPr>
          <p:spPr>
            <a:xfrm>
              <a:off x="15649" y="7234"/>
              <a:ext cx="3551" cy="3551"/>
            </a:xfrm>
            <a:prstGeom prst="rect">
              <a:avLst/>
            </a:prstGeom>
            <a:solidFill>
              <a:srgbClr val="7928D5">
                <a:alpha val="5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grpSp>
        <p:nvGrpSpPr>
          <p:cNvPr id="333" name="组合 332">
            <a:extLst>
              <a:ext uri="{FF2B5EF4-FFF2-40B4-BE49-F238E27FC236}">
                <a16:creationId xmlns:a16="http://schemas.microsoft.com/office/drawing/2014/main" id="{74DE8035-99E8-63CF-F152-8DD06466E02F}"/>
              </a:ext>
            </a:extLst>
          </p:cNvPr>
          <p:cNvGrpSpPr/>
          <p:nvPr/>
        </p:nvGrpSpPr>
        <p:grpSpPr>
          <a:xfrm>
            <a:off x="7258050" y="0"/>
            <a:ext cx="2937510" cy="6847840"/>
            <a:chOff x="11430" y="0"/>
            <a:chExt cx="4626" cy="10784"/>
          </a:xfrm>
        </p:grpSpPr>
        <p:grpSp>
          <p:nvGrpSpPr>
            <p:cNvPr id="334" name="组合 333">
              <a:extLst>
                <a:ext uri="{FF2B5EF4-FFF2-40B4-BE49-F238E27FC236}">
                  <a16:creationId xmlns:a16="http://schemas.microsoft.com/office/drawing/2014/main" id="{2B766ADF-3C3F-1831-C41C-2CA0484ED3B7}"/>
                </a:ext>
              </a:extLst>
            </p:cNvPr>
            <p:cNvGrpSpPr/>
            <p:nvPr/>
          </p:nvGrpSpPr>
          <p:grpSpPr>
            <a:xfrm>
              <a:off x="11942" y="0"/>
              <a:ext cx="3609" cy="10784"/>
              <a:chOff x="11942" y="0"/>
              <a:chExt cx="3609" cy="10784"/>
            </a:xfrm>
          </p:grpSpPr>
          <p:sp>
            <p:nvSpPr>
              <p:cNvPr id="352" name="矩形 351">
                <a:extLst>
                  <a:ext uri="{FF2B5EF4-FFF2-40B4-BE49-F238E27FC236}">
                    <a16:creationId xmlns:a16="http://schemas.microsoft.com/office/drawing/2014/main" id="{AC74FFE7-6BE0-67AA-A896-D63EA4E996D0}"/>
                  </a:ext>
                </a:extLst>
              </p:cNvPr>
              <p:cNvSpPr/>
              <p:nvPr/>
            </p:nvSpPr>
            <p:spPr>
              <a:xfrm>
                <a:off x="11999" y="0"/>
                <a:ext cx="3551" cy="3551"/>
              </a:xfrm>
              <a:prstGeom prst="rect">
                <a:avLst/>
              </a:prstGeom>
              <a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C90DBB7E-3601-DF60-C3C4-FA51E974E2E8}"/>
                  </a:ext>
                </a:extLst>
              </p:cNvPr>
              <p:cNvSpPr/>
              <p:nvPr/>
            </p:nvSpPr>
            <p:spPr>
              <a:xfrm>
                <a:off x="12000" y="7234"/>
                <a:ext cx="3551" cy="3551"/>
              </a:xfrm>
              <a:prstGeom prst="rect">
                <a:avLst/>
              </a:prstGeom>
              <a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54" name="矩形 353">
                <a:extLst>
                  <a:ext uri="{FF2B5EF4-FFF2-40B4-BE49-F238E27FC236}">
                    <a16:creationId xmlns:a16="http://schemas.microsoft.com/office/drawing/2014/main" id="{4BD38FAC-E245-C021-FA76-8B4902F351DE}"/>
                  </a:ext>
                </a:extLst>
              </p:cNvPr>
              <p:cNvSpPr/>
              <p:nvPr/>
            </p:nvSpPr>
            <p:spPr>
              <a:xfrm>
                <a:off x="12000" y="0"/>
                <a:ext cx="3551" cy="3551"/>
              </a:xfrm>
              <a:prstGeom prst="rect">
                <a:avLst/>
              </a:prstGeom>
              <a:solidFill>
                <a:srgbClr val="1D2840">
                  <a:alpha val="67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709FAEDC-1C19-7AA1-3504-E8B4C6BE0F55}"/>
                  </a:ext>
                </a:extLst>
              </p:cNvPr>
              <p:cNvSpPr/>
              <p:nvPr/>
            </p:nvSpPr>
            <p:spPr>
              <a:xfrm>
                <a:off x="12001" y="7234"/>
                <a:ext cx="3551" cy="3551"/>
              </a:xfrm>
              <a:prstGeom prst="rect">
                <a:avLst/>
              </a:prstGeom>
              <a:solidFill>
                <a:srgbClr val="7928D5">
                  <a:alpha val="5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56" name="矩形 355">
                <a:extLst>
                  <a:ext uri="{FF2B5EF4-FFF2-40B4-BE49-F238E27FC236}">
                    <a16:creationId xmlns:a16="http://schemas.microsoft.com/office/drawing/2014/main" id="{7D7784C3-9AF0-12C8-7E11-0CDF90339854}"/>
                  </a:ext>
                </a:extLst>
              </p:cNvPr>
              <p:cNvSpPr/>
              <p:nvPr/>
            </p:nvSpPr>
            <p:spPr>
              <a:xfrm>
                <a:off x="12000" y="3617"/>
                <a:ext cx="3551" cy="3551"/>
              </a:xfrm>
              <a:prstGeom prst="rect">
                <a:avLst/>
              </a:prstGeom>
              <a:solidFill>
                <a:srgbClr val="7928D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84200" dist="609600" dir="5400000" sx="83000" sy="83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57" name="文本框 356">
                <a:extLst>
                  <a:ext uri="{FF2B5EF4-FFF2-40B4-BE49-F238E27FC236}">
                    <a16:creationId xmlns:a16="http://schemas.microsoft.com/office/drawing/2014/main" id="{B50CEC27-8CE3-0255-F324-D94BB25EDDC4}"/>
                  </a:ext>
                </a:extLst>
              </p:cNvPr>
              <p:cNvSpPr txBox="1"/>
              <p:nvPr/>
            </p:nvSpPr>
            <p:spPr>
              <a:xfrm>
                <a:off x="11942" y="5783"/>
                <a:ext cx="3602" cy="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产业数转落地生根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 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生产智变提质增效</a:t>
                </a:r>
              </a:p>
            </p:txBody>
          </p:sp>
        </p:grpSp>
        <p:sp>
          <p:nvSpPr>
            <p:cNvPr id="350" name="文本框 349">
              <a:extLst>
                <a:ext uri="{FF2B5EF4-FFF2-40B4-BE49-F238E27FC236}">
                  <a16:creationId xmlns:a16="http://schemas.microsoft.com/office/drawing/2014/main" id="{48C555DB-F1CE-E67C-A3DE-2580DC7F0A63}"/>
                </a:ext>
              </a:extLst>
            </p:cNvPr>
            <p:cNvSpPr txBox="1"/>
            <p:nvPr/>
          </p:nvSpPr>
          <p:spPr>
            <a:xfrm>
              <a:off x="11430" y="4670"/>
              <a:ext cx="4626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数字技术深度赋能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生产流程智能变革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8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56A86-C3CB-1FE0-0CE2-C128B2A2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组合 339">
            <a:extLst>
              <a:ext uri="{FF2B5EF4-FFF2-40B4-BE49-F238E27FC236}">
                <a16:creationId xmlns:a16="http://schemas.microsoft.com/office/drawing/2014/main" id="{3E39BAC1-1BCE-83D9-D0EE-C81F777244BA}"/>
              </a:ext>
            </a:extLst>
          </p:cNvPr>
          <p:cNvGrpSpPr/>
          <p:nvPr/>
        </p:nvGrpSpPr>
        <p:grpSpPr>
          <a:xfrm>
            <a:off x="474980" y="1083310"/>
            <a:ext cx="11186795" cy="3286760"/>
            <a:chOff x="748" y="1706"/>
            <a:chExt cx="17617" cy="5176"/>
          </a:xfrm>
        </p:grpSpPr>
        <p:sp>
          <p:nvSpPr>
            <p:cNvPr id="341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D1B92C81-E388-B6B8-C995-468F248C29A1}"/>
                </a:ext>
              </a:extLst>
            </p:cNvPr>
            <p:cNvSpPr/>
            <p:nvPr/>
          </p:nvSpPr>
          <p:spPr>
            <a:xfrm rot="5400000">
              <a:off x="9492" y="-1991"/>
              <a:ext cx="5159" cy="12587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342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ABAD72F8-B033-2C60-2098-A7CB11B7610C}"/>
                </a:ext>
              </a:extLst>
            </p:cNvPr>
            <p:cNvSpPr/>
            <p:nvPr/>
          </p:nvSpPr>
          <p:spPr>
            <a:xfrm rot="5400000">
              <a:off x="6977" y="-4522"/>
              <a:ext cx="5159" cy="17616"/>
            </a:xfrm>
            <a:prstGeom prst="rect">
              <a:avLst/>
            </a:prstGeom>
            <a:solidFill>
              <a:srgbClr val="000000">
                <a:alpha val="33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343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553D9559-0137-DB2A-760D-140EF96FD3F1}"/>
                </a:ext>
              </a:extLst>
            </p:cNvPr>
            <p:cNvSpPr/>
            <p:nvPr/>
          </p:nvSpPr>
          <p:spPr>
            <a:xfrm rot="5400000">
              <a:off x="6977" y="-4522"/>
              <a:ext cx="5159" cy="17616"/>
            </a:xfrm>
            <a:prstGeom prst="rect">
              <a:avLst/>
            </a:prstGeom>
            <a:solidFill>
              <a:srgbClr val="7928D5">
                <a:alpha val="33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344" name="文本框 343">
              <a:extLst>
                <a:ext uri="{FF2B5EF4-FFF2-40B4-BE49-F238E27FC236}">
                  <a16:creationId xmlns:a16="http://schemas.microsoft.com/office/drawing/2014/main" id="{14AFED2A-47A8-D3A8-4275-E902402CC637}"/>
                </a:ext>
              </a:extLst>
            </p:cNvPr>
            <p:cNvSpPr txBox="1"/>
            <p:nvPr/>
          </p:nvSpPr>
          <p:spPr>
            <a:xfrm>
              <a:off x="6153" y="2103"/>
              <a:ext cx="5257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Continuously  innovative</a:t>
              </a:r>
            </a:p>
          </p:txBody>
        </p:sp>
        <p:sp>
          <p:nvSpPr>
            <p:cNvPr id="345" name="文本框 344">
              <a:extLst>
                <a:ext uri="{FF2B5EF4-FFF2-40B4-BE49-F238E27FC236}">
                  <a16:creationId xmlns:a16="http://schemas.microsoft.com/office/drawing/2014/main" id="{DDC09D16-67F7-614A-FAA5-37C58AD75FC2}"/>
                </a:ext>
              </a:extLst>
            </p:cNvPr>
            <p:cNvSpPr txBox="1"/>
            <p:nvPr/>
          </p:nvSpPr>
          <p:spPr>
            <a:xfrm>
              <a:off x="6153" y="2585"/>
              <a:ext cx="4891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 Light" charset="0"/>
                  <a:ea typeface="思源黑体 CN" panose="020B0500000000000000" pitchFamily="34" charset="-122"/>
                  <a:cs typeface="Fluent Light" charset="0"/>
                </a:rPr>
                <a:t>Continuously  innovative</a:t>
              </a:r>
            </a:p>
          </p:txBody>
        </p:sp>
        <p:sp>
          <p:nvSpPr>
            <p:cNvPr id="346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F2DF3D29-CF4A-A69E-E2F4-D08AB40B25D1}"/>
                </a:ext>
              </a:extLst>
            </p:cNvPr>
            <p:cNvSpPr/>
            <p:nvPr/>
          </p:nvSpPr>
          <p:spPr>
            <a:xfrm rot="5400000">
              <a:off x="683" y="1773"/>
              <a:ext cx="5160" cy="5029"/>
            </a:xfrm>
            <a:prstGeom prst="rect">
              <a:avLst/>
            </a:prstGeom>
            <a:solidFill>
              <a:srgbClr val="7928D5">
                <a:alpha val="97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347" name="Text Placeholder 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DD657559-236B-3E02-6E3D-926F35D122CC}"/>
                </a:ext>
              </a:extLst>
            </p:cNvPr>
            <p:cNvSpPr txBox="1"/>
            <p:nvPr/>
          </p:nvSpPr>
          <p:spPr>
            <a:xfrm>
              <a:off x="3601" y="2152"/>
              <a:ext cx="1441" cy="3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sz="1800" b="0" kern="1200" spc="0" baseline="0">
                  <a:solidFill>
                    <a:schemeClr val="tx1"/>
                  </a:solidFill>
                  <a:latin typeface="+mn-lt"/>
                  <a:ea typeface="Work Sans"/>
                  <a:cs typeface="Work Sans"/>
                  <a:sym typeface="Work Sans"/>
                </a:defRPr>
              </a:lvl1pPr>
              <a:lvl2pPr marL="0" indent="0" algn="l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l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39.00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348" name="Text Placeholder 206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9B4A506F-B3F1-201F-B3C9-E375DD8A8FB8}"/>
                </a:ext>
              </a:extLst>
            </p:cNvPr>
            <p:cNvSpPr txBox="1"/>
            <p:nvPr/>
          </p:nvSpPr>
          <p:spPr>
            <a:xfrm>
              <a:off x="3601" y="2585"/>
              <a:ext cx="1441" cy="284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lang="en-US" sz="900" b="0" i="0" kern="1200" spc="0" baseline="0" smtClean="0">
                  <a:solidFill>
                    <a:schemeClr val="tx1">
                      <a:lumMod val="95000"/>
                      <a:lumOff val="5000"/>
                      <a:alpha val="4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0" indent="0" algn="ctr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ctr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ctr" defTabSz="90678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ctr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40000"/>
                    </a:srgbClr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关键文本</a:t>
              </a:r>
            </a:p>
          </p:txBody>
        </p:sp>
        <p:sp>
          <p:nvSpPr>
            <p:cNvPr id="349" name="文本框 348">
              <a:extLst>
                <a:ext uri="{FF2B5EF4-FFF2-40B4-BE49-F238E27FC236}">
                  <a16:creationId xmlns:a16="http://schemas.microsoft.com/office/drawing/2014/main" id="{CFFA9D50-58A1-C385-9334-02D0B55FD613}"/>
                </a:ext>
              </a:extLst>
            </p:cNvPr>
            <p:cNvSpPr txBox="1"/>
            <p:nvPr/>
          </p:nvSpPr>
          <p:spPr>
            <a:xfrm>
              <a:off x="1022" y="2153"/>
              <a:ext cx="282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358" name="文本框 357">
              <a:extLst>
                <a:ext uri="{FF2B5EF4-FFF2-40B4-BE49-F238E27FC236}">
                  <a16:creationId xmlns:a16="http://schemas.microsoft.com/office/drawing/2014/main" id="{CE7BEBC6-F381-47B2-BFBD-EA9ECE201D12}"/>
                </a:ext>
              </a:extLst>
            </p:cNvPr>
            <p:cNvSpPr txBox="1"/>
            <p:nvPr/>
          </p:nvSpPr>
          <p:spPr>
            <a:xfrm>
              <a:off x="1022" y="2537"/>
              <a:ext cx="2043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  <p:sp>
          <p:nvSpPr>
            <p:cNvPr id="359" name="文本框 358">
              <a:extLst>
                <a:ext uri="{FF2B5EF4-FFF2-40B4-BE49-F238E27FC236}">
                  <a16:creationId xmlns:a16="http://schemas.microsoft.com/office/drawing/2014/main" id="{4D612173-DE0F-F087-59BA-CD7285E904F0}"/>
                </a:ext>
              </a:extLst>
            </p:cNvPr>
            <p:cNvSpPr txBox="1"/>
            <p:nvPr/>
          </p:nvSpPr>
          <p:spPr>
            <a:xfrm>
              <a:off x="905" y="5310"/>
              <a:ext cx="4493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打通生产全流程数据节点，实现智能调度与实时监管，高效降本提升产能效益</a:t>
              </a:r>
            </a:p>
          </p:txBody>
        </p:sp>
        <p:sp>
          <p:nvSpPr>
            <p:cNvPr id="360" name="文本框 359">
              <a:extLst>
                <a:ext uri="{FF2B5EF4-FFF2-40B4-BE49-F238E27FC236}">
                  <a16:creationId xmlns:a16="http://schemas.microsoft.com/office/drawing/2014/main" id="{73FB23E8-34D1-61B2-F117-61B4E64E2EAA}"/>
                </a:ext>
              </a:extLst>
            </p:cNvPr>
            <p:cNvSpPr txBox="1"/>
            <p:nvPr/>
          </p:nvSpPr>
          <p:spPr>
            <a:xfrm>
              <a:off x="905" y="3633"/>
              <a:ext cx="4138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全流程智能管控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降本提质增效</a:t>
              </a:r>
            </a:p>
          </p:txBody>
        </p: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id="{351C8D19-6D2C-EB9E-8437-096CB451E75F}"/>
              </a:ext>
            </a:extLst>
          </p:cNvPr>
          <p:cNvGrpSpPr/>
          <p:nvPr/>
        </p:nvGrpSpPr>
        <p:grpSpPr>
          <a:xfrm>
            <a:off x="474980" y="4623435"/>
            <a:ext cx="11185525" cy="1521460"/>
            <a:chOff x="748" y="7281"/>
            <a:chExt cx="17615" cy="2396"/>
          </a:xfrm>
        </p:grpSpPr>
        <p:sp>
          <p:nvSpPr>
            <p:cNvPr id="362" name="矩形: 圆角 131">
              <a:extLst>
                <a:ext uri="{FF2B5EF4-FFF2-40B4-BE49-F238E27FC236}">
                  <a16:creationId xmlns:a16="http://schemas.microsoft.com/office/drawing/2014/main" id="{D0897C53-83B9-B75A-B193-9CD4100544F3}"/>
                </a:ext>
              </a:extLst>
            </p:cNvPr>
            <p:cNvSpPr/>
            <p:nvPr/>
          </p:nvSpPr>
          <p:spPr>
            <a:xfrm>
              <a:off x="762" y="7281"/>
              <a:ext cx="4264" cy="1382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algn="ctr" defTabSz="914400"/>
              <a:endPara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63" name="文本框 362">
              <a:extLst>
                <a:ext uri="{FF2B5EF4-FFF2-40B4-BE49-F238E27FC236}">
                  <a16:creationId xmlns:a16="http://schemas.microsoft.com/office/drawing/2014/main" id="{2B822310-2ED2-E979-5CFC-784BFA18340F}"/>
                </a:ext>
              </a:extLst>
            </p:cNvPr>
            <p:cNvSpPr txBox="1"/>
            <p:nvPr/>
          </p:nvSpPr>
          <p:spPr>
            <a:xfrm>
              <a:off x="1541" y="7543"/>
              <a:ext cx="2406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Fluent" charset="0"/>
                  <a:ea typeface="思源黑体 CN" panose="020B0500000000000000" pitchFamily="34" charset="-122"/>
                  <a:cs typeface="Fluent" charset="0"/>
                </a:rPr>
                <a:t>智能管控</a:t>
              </a:r>
            </a:p>
          </p:txBody>
        </p:sp>
        <p:sp>
          <p:nvSpPr>
            <p:cNvPr id="364" name="矩形: 圆角 131">
              <a:extLst>
                <a:ext uri="{FF2B5EF4-FFF2-40B4-BE49-F238E27FC236}">
                  <a16:creationId xmlns:a16="http://schemas.microsoft.com/office/drawing/2014/main" id="{E920C816-EF80-E6DC-0827-869C2F81C469}"/>
                </a:ext>
              </a:extLst>
            </p:cNvPr>
            <p:cNvSpPr/>
            <p:nvPr/>
          </p:nvSpPr>
          <p:spPr>
            <a:xfrm>
              <a:off x="5208" y="7281"/>
              <a:ext cx="4264" cy="1382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algn="ctr" defTabSz="914400"/>
              <a:endPara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65" name="文本框 364">
              <a:extLst>
                <a:ext uri="{FF2B5EF4-FFF2-40B4-BE49-F238E27FC236}">
                  <a16:creationId xmlns:a16="http://schemas.microsoft.com/office/drawing/2014/main" id="{F9268D51-C46E-062B-BB5E-15F99B3A35C0}"/>
                </a:ext>
              </a:extLst>
            </p:cNvPr>
            <p:cNvSpPr txBox="1"/>
            <p:nvPr/>
          </p:nvSpPr>
          <p:spPr>
            <a:xfrm>
              <a:off x="5987" y="7543"/>
              <a:ext cx="2406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Fluent" charset="0"/>
                  <a:ea typeface="思源黑体 CN" panose="020B0500000000000000" pitchFamily="34" charset="-122"/>
                  <a:cs typeface="Fluent" charset="0"/>
                </a:rPr>
                <a:t>降本提效</a:t>
              </a:r>
            </a:p>
          </p:txBody>
        </p:sp>
        <p:sp>
          <p:nvSpPr>
            <p:cNvPr id="366" name="矩形: 圆角 131">
              <a:extLst>
                <a:ext uri="{FF2B5EF4-FFF2-40B4-BE49-F238E27FC236}">
                  <a16:creationId xmlns:a16="http://schemas.microsoft.com/office/drawing/2014/main" id="{E02BB0F9-8B46-AD21-7DAE-275EEDE43E0B}"/>
                </a:ext>
              </a:extLst>
            </p:cNvPr>
            <p:cNvSpPr/>
            <p:nvPr/>
          </p:nvSpPr>
          <p:spPr>
            <a:xfrm>
              <a:off x="9653" y="7281"/>
              <a:ext cx="4264" cy="1382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algn="ctr" defTabSz="914400"/>
              <a:endPara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67" name="文本框 366">
              <a:extLst>
                <a:ext uri="{FF2B5EF4-FFF2-40B4-BE49-F238E27FC236}">
                  <a16:creationId xmlns:a16="http://schemas.microsoft.com/office/drawing/2014/main" id="{F30BC884-51D8-F9EE-5D8B-B7E70A45B5EC}"/>
                </a:ext>
              </a:extLst>
            </p:cNvPr>
            <p:cNvSpPr txBox="1"/>
            <p:nvPr/>
          </p:nvSpPr>
          <p:spPr>
            <a:xfrm>
              <a:off x="10432" y="7543"/>
              <a:ext cx="2406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Fluent" charset="0"/>
                  <a:ea typeface="思源黑体 CN" panose="020B0500000000000000" pitchFamily="34" charset="-122"/>
                  <a:cs typeface="Fluent" charset="0"/>
                </a:rPr>
                <a:t>流程优化</a:t>
              </a:r>
            </a:p>
          </p:txBody>
        </p:sp>
        <p:sp>
          <p:nvSpPr>
            <p:cNvPr id="368" name="矩形: 圆角 131">
              <a:extLst>
                <a:ext uri="{FF2B5EF4-FFF2-40B4-BE49-F238E27FC236}">
                  <a16:creationId xmlns:a16="http://schemas.microsoft.com/office/drawing/2014/main" id="{CE053B24-CBC4-AAC2-2457-7ECD9D8EBFD0}"/>
                </a:ext>
              </a:extLst>
            </p:cNvPr>
            <p:cNvSpPr/>
            <p:nvPr/>
          </p:nvSpPr>
          <p:spPr>
            <a:xfrm>
              <a:off x="14099" y="7281"/>
              <a:ext cx="4264" cy="1382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203200" dist="127000" dir="2700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algn="ctr" defTabSz="914400"/>
              <a:endPara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69" name="文本框 368">
              <a:extLst>
                <a:ext uri="{FF2B5EF4-FFF2-40B4-BE49-F238E27FC236}">
                  <a16:creationId xmlns:a16="http://schemas.microsoft.com/office/drawing/2014/main" id="{DF492772-969E-9E2F-4EB2-34613E7A7467}"/>
                </a:ext>
              </a:extLst>
            </p:cNvPr>
            <p:cNvSpPr txBox="1"/>
            <p:nvPr/>
          </p:nvSpPr>
          <p:spPr>
            <a:xfrm>
              <a:off x="14878" y="7543"/>
              <a:ext cx="2406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Fluent" charset="0"/>
                  <a:ea typeface="思源黑体 CN" panose="020B0500000000000000" pitchFamily="34" charset="-122"/>
                  <a:cs typeface="Fluent" charset="0"/>
                </a:rPr>
                <a:t>数据驱动</a:t>
              </a:r>
            </a:p>
          </p:txBody>
        </p:sp>
        <p:sp>
          <p:nvSpPr>
            <p:cNvPr id="370" name="文本框 369">
              <a:extLst>
                <a:ext uri="{FF2B5EF4-FFF2-40B4-BE49-F238E27FC236}">
                  <a16:creationId xmlns:a16="http://schemas.microsoft.com/office/drawing/2014/main" id="{F38F1548-AE95-3B0D-DF9D-361A4132E591}"/>
                </a:ext>
              </a:extLst>
            </p:cNvPr>
            <p:cNvSpPr txBox="1"/>
            <p:nvPr/>
          </p:nvSpPr>
          <p:spPr>
            <a:xfrm>
              <a:off x="1541" y="7986"/>
              <a:ext cx="3132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关键文本信息替换</a:t>
              </a:r>
            </a:p>
          </p:txBody>
        </p:sp>
        <p:sp>
          <p:nvSpPr>
            <p:cNvPr id="371" name="文本框 370">
              <a:extLst>
                <a:ext uri="{FF2B5EF4-FFF2-40B4-BE49-F238E27FC236}">
                  <a16:creationId xmlns:a16="http://schemas.microsoft.com/office/drawing/2014/main" id="{2E73D326-8EA8-B1BD-E232-23607399CB7E}"/>
                </a:ext>
              </a:extLst>
            </p:cNvPr>
            <p:cNvSpPr txBox="1"/>
            <p:nvPr/>
          </p:nvSpPr>
          <p:spPr>
            <a:xfrm>
              <a:off x="5987" y="7986"/>
              <a:ext cx="3132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关键文本信息替换</a:t>
              </a:r>
            </a:p>
          </p:txBody>
        </p:sp>
        <p:sp>
          <p:nvSpPr>
            <p:cNvPr id="372" name="文本框 371">
              <a:extLst>
                <a:ext uri="{FF2B5EF4-FFF2-40B4-BE49-F238E27FC236}">
                  <a16:creationId xmlns:a16="http://schemas.microsoft.com/office/drawing/2014/main" id="{07A29611-08E3-3CD5-9FDC-A079B073FA55}"/>
                </a:ext>
              </a:extLst>
            </p:cNvPr>
            <p:cNvSpPr txBox="1"/>
            <p:nvPr/>
          </p:nvSpPr>
          <p:spPr>
            <a:xfrm>
              <a:off x="10432" y="7986"/>
              <a:ext cx="3132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关键文本信息替换</a:t>
              </a:r>
            </a:p>
          </p:txBody>
        </p:sp>
        <p:sp>
          <p:nvSpPr>
            <p:cNvPr id="373" name="文本框 372">
              <a:extLst>
                <a:ext uri="{FF2B5EF4-FFF2-40B4-BE49-F238E27FC236}">
                  <a16:creationId xmlns:a16="http://schemas.microsoft.com/office/drawing/2014/main" id="{B995E81B-0EE5-006A-C410-20F16C123BFA}"/>
                </a:ext>
              </a:extLst>
            </p:cNvPr>
            <p:cNvSpPr txBox="1"/>
            <p:nvPr/>
          </p:nvSpPr>
          <p:spPr>
            <a:xfrm>
              <a:off x="14878" y="7986"/>
              <a:ext cx="3132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defTabSz="914400"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关键文本信息替换</a:t>
              </a:r>
            </a:p>
          </p:txBody>
        </p:sp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0EA65D7A-3FC2-0F46-FFF7-9F20048204D5}"/>
                </a:ext>
              </a:extLst>
            </p:cNvPr>
            <p:cNvSpPr txBox="1"/>
            <p:nvPr/>
          </p:nvSpPr>
          <p:spPr>
            <a:xfrm>
              <a:off x="748" y="8953"/>
              <a:ext cx="1733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zh-CN" altLang="en-US" sz="12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围绕生产全流程的订单、排产、加工、质检、仓储、物流等关键环节，搭建一体化智能管控平台，打通各部门数据壁垒，实现生产状态实时监控、异常自动预警、资源动态调配，从源头减少浪费、缩短周期，最终达成降本与提效的双重目标。</a:t>
              </a:r>
            </a:p>
          </p:txBody>
        </p:sp>
        <p:pic>
          <p:nvPicPr>
            <p:cNvPr id="375" name="图片 1" descr="左_left (1)">
              <a:extLst>
                <a:ext uri="{FF2B5EF4-FFF2-40B4-BE49-F238E27FC236}">
                  <a16:creationId xmlns:a16="http://schemas.microsoft.com/office/drawing/2014/main" id="{7E95AA75-A0DA-792B-3D5A-C5E24FD5E1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163" y="7616"/>
              <a:ext cx="360" cy="360"/>
            </a:xfrm>
            <a:prstGeom prst="rect">
              <a:avLst/>
            </a:prstGeom>
          </p:spPr>
        </p:pic>
        <p:pic>
          <p:nvPicPr>
            <p:cNvPr id="376" name="图片 2" descr="左_left (1)">
              <a:extLst>
                <a:ext uri="{FF2B5EF4-FFF2-40B4-BE49-F238E27FC236}">
                  <a16:creationId xmlns:a16="http://schemas.microsoft.com/office/drawing/2014/main" id="{08503CF8-2DB5-39FC-83D4-2BABE12A77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5684" y="7624"/>
              <a:ext cx="360" cy="360"/>
            </a:xfrm>
            <a:prstGeom prst="rect">
              <a:avLst/>
            </a:prstGeom>
          </p:spPr>
        </p:pic>
        <p:pic>
          <p:nvPicPr>
            <p:cNvPr id="377" name="图片 13" descr="左_left (1)">
              <a:extLst>
                <a:ext uri="{FF2B5EF4-FFF2-40B4-BE49-F238E27FC236}">
                  <a16:creationId xmlns:a16="http://schemas.microsoft.com/office/drawing/2014/main" id="{E47DF9D2-35B6-D122-72DA-78F5047CD1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0072" y="7624"/>
              <a:ext cx="360" cy="360"/>
            </a:xfrm>
            <a:prstGeom prst="rect">
              <a:avLst/>
            </a:prstGeom>
          </p:spPr>
        </p:pic>
        <p:pic>
          <p:nvPicPr>
            <p:cNvPr id="378" name="图片 14" descr="左_left (1)">
              <a:extLst>
                <a:ext uri="{FF2B5EF4-FFF2-40B4-BE49-F238E27FC236}">
                  <a16:creationId xmlns:a16="http://schemas.microsoft.com/office/drawing/2014/main" id="{EEB2A44C-7653-A7D7-1BB6-8F0E666DBF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14593" y="7632"/>
              <a:ext cx="360" cy="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948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D2D65-508F-EC40-830D-79F3497E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椭圆 418">
            <a:extLst>
              <a:ext uri="{FF2B5EF4-FFF2-40B4-BE49-F238E27FC236}">
                <a16:creationId xmlns:a16="http://schemas.microsoft.com/office/drawing/2014/main" id="{B0424C6B-F0F7-63A3-8BD3-B598221A109D}"/>
              </a:ext>
            </a:extLst>
          </p:cNvPr>
          <p:cNvSpPr/>
          <p:nvPr/>
        </p:nvSpPr>
        <p:spPr>
          <a:xfrm>
            <a:off x="3094990" y="702945"/>
            <a:ext cx="6002020" cy="5957570"/>
          </a:xfrm>
          <a:prstGeom prst="ellipse">
            <a:avLst/>
          </a:prstGeom>
          <a:noFill/>
          <a:ln w="9525" cap="flat" cmpd="sng" algn="ctr">
            <a:solidFill>
              <a:srgbClr val="7928D5">
                <a:alpha val="36000"/>
              </a:srgbClr>
            </a:solidFill>
            <a:prstDash val="dash"/>
            <a:miter lim="800000"/>
          </a:ln>
          <a:effectLst>
            <a:outerShdw blurRad="279400" dist="482600" dir="5400000" sx="85000" sy="85000" algn="t" rotWithShape="0">
              <a:prstClr val="black">
                <a:alpha val="9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grpSp>
        <p:nvGrpSpPr>
          <p:cNvPr id="420" name="组合 419">
            <a:extLst>
              <a:ext uri="{FF2B5EF4-FFF2-40B4-BE49-F238E27FC236}">
                <a16:creationId xmlns:a16="http://schemas.microsoft.com/office/drawing/2014/main" id="{70D9DD55-D6F8-B1B6-44B6-5AA8897EB36C}"/>
              </a:ext>
            </a:extLst>
          </p:cNvPr>
          <p:cNvGrpSpPr/>
          <p:nvPr/>
        </p:nvGrpSpPr>
        <p:grpSpPr>
          <a:xfrm>
            <a:off x="3796665" y="1119505"/>
            <a:ext cx="4623435" cy="4481830"/>
            <a:chOff x="5979" y="1763"/>
            <a:chExt cx="7281" cy="7058"/>
          </a:xfrm>
        </p:grpSpPr>
        <p:sp>
          <p:nvSpPr>
            <p:cNvPr id="421" name="椭圆 420">
              <a:extLst>
                <a:ext uri="{FF2B5EF4-FFF2-40B4-BE49-F238E27FC236}">
                  <a16:creationId xmlns:a16="http://schemas.microsoft.com/office/drawing/2014/main" id="{471C0C9B-1E2D-72C4-B1E9-89345E48483E}"/>
                </a:ext>
              </a:extLst>
            </p:cNvPr>
            <p:cNvSpPr/>
            <p:nvPr/>
          </p:nvSpPr>
          <p:spPr>
            <a:xfrm>
              <a:off x="5979" y="5821"/>
              <a:ext cx="3022" cy="3000"/>
            </a:xfrm>
            <a:prstGeom prst="ellipse">
              <a:avLst/>
            </a:prstGeom>
            <a:solidFill>
              <a:srgbClr val="7928D5">
                <a:alpha val="18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482600" dir="5400000" sx="85000" sy="85000" algn="t" rotWithShape="0">
                <a:prstClr val="black">
                  <a:alpha val="9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22" name="椭圆 421">
              <a:extLst>
                <a:ext uri="{FF2B5EF4-FFF2-40B4-BE49-F238E27FC236}">
                  <a16:creationId xmlns:a16="http://schemas.microsoft.com/office/drawing/2014/main" id="{25B14A36-FC94-4808-06AB-36DA1995E2F7}"/>
                </a:ext>
              </a:extLst>
            </p:cNvPr>
            <p:cNvSpPr/>
            <p:nvPr/>
          </p:nvSpPr>
          <p:spPr>
            <a:xfrm>
              <a:off x="10199" y="5821"/>
              <a:ext cx="3022" cy="3000"/>
            </a:xfrm>
            <a:prstGeom prst="ellipse">
              <a:avLst/>
            </a:prstGeom>
            <a:solidFill>
              <a:srgbClr val="7928D5">
                <a:alpha val="18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482600" dir="5400000" sx="85000" sy="85000" algn="t" rotWithShape="0">
                <a:prstClr val="black">
                  <a:alpha val="9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CABB41A3-1DBF-B2A4-CBD9-B6D040819796}"/>
                </a:ext>
              </a:extLst>
            </p:cNvPr>
            <p:cNvSpPr/>
            <p:nvPr/>
          </p:nvSpPr>
          <p:spPr>
            <a:xfrm>
              <a:off x="8092" y="1763"/>
              <a:ext cx="3022" cy="3000"/>
            </a:xfrm>
            <a:prstGeom prst="ellipse">
              <a:avLst/>
            </a:prstGeom>
            <a:solidFill>
              <a:srgbClr val="7928D5">
                <a:alpha val="18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482600" dir="5400000" sx="85000" sy="85000" algn="t" rotWithShape="0">
                <a:prstClr val="black">
                  <a:alpha val="9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24" name="椭圆 423">
              <a:extLst>
                <a:ext uri="{FF2B5EF4-FFF2-40B4-BE49-F238E27FC236}">
                  <a16:creationId xmlns:a16="http://schemas.microsoft.com/office/drawing/2014/main" id="{60598CA6-DB67-0787-633F-B90B58A8D42A}"/>
                </a:ext>
              </a:extLst>
            </p:cNvPr>
            <p:cNvSpPr/>
            <p:nvPr/>
          </p:nvSpPr>
          <p:spPr>
            <a:xfrm>
              <a:off x="7365" y="3618"/>
              <a:ext cx="4477" cy="4445"/>
            </a:xfrm>
            <a:prstGeom prst="ellipse">
              <a:avLst/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44500" dist="647700" dir="5400000" sx="88000" sy="88000" algn="t" rotWithShape="0">
                <a:prstClr val="black">
                  <a:alpha val="15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25" name="文本框 424">
              <a:extLst>
                <a:ext uri="{FF2B5EF4-FFF2-40B4-BE49-F238E27FC236}">
                  <a16:creationId xmlns:a16="http://schemas.microsoft.com/office/drawing/2014/main" id="{07941C0E-A360-F093-4A96-C345D5CD02E1}"/>
                </a:ext>
              </a:extLst>
            </p:cNvPr>
            <p:cNvSpPr txBox="1"/>
            <p:nvPr/>
          </p:nvSpPr>
          <p:spPr>
            <a:xfrm>
              <a:off x="7598" y="6139"/>
              <a:ext cx="4012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科技赋能线下场景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打造优质民生智服</a:t>
              </a:r>
            </a:p>
          </p:txBody>
        </p:sp>
        <p:sp>
          <p:nvSpPr>
            <p:cNvPr id="426" name="文本框 425">
              <a:extLst>
                <a:ext uri="{FF2B5EF4-FFF2-40B4-BE49-F238E27FC236}">
                  <a16:creationId xmlns:a16="http://schemas.microsoft.com/office/drawing/2014/main" id="{46388E95-23C5-94F4-A344-E7D1F53AD562}"/>
                </a:ext>
              </a:extLst>
            </p:cNvPr>
            <p:cNvSpPr txBox="1"/>
            <p:nvPr/>
          </p:nvSpPr>
          <p:spPr>
            <a:xfrm>
              <a:off x="7598" y="4763"/>
              <a:ext cx="401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数智升级民生服务高效便民利民</a:t>
              </a:r>
            </a:p>
          </p:txBody>
        </p:sp>
        <p:sp>
          <p:nvSpPr>
            <p:cNvPr id="427" name="文本框 426">
              <a:extLst>
                <a:ext uri="{FF2B5EF4-FFF2-40B4-BE49-F238E27FC236}">
                  <a16:creationId xmlns:a16="http://schemas.microsoft.com/office/drawing/2014/main" id="{C6EE4E4A-505E-BDB5-9F78-4791DC0A8CC1}"/>
                </a:ext>
              </a:extLst>
            </p:cNvPr>
            <p:cNvSpPr txBox="1"/>
            <p:nvPr/>
          </p:nvSpPr>
          <p:spPr>
            <a:xfrm>
              <a:off x="6026" y="7718"/>
              <a:ext cx="194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28" name="文本框 427">
              <a:extLst>
                <a:ext uri="{FF2B5EF4-FFF2-40B4-BE49-F238E27FC236}">
                  <a16:creationId xmlns:a16="http://schemas.microsoft.com/office/drawing/2014/main" id="{AD216A1F-09DF-AAF1-D25E-64C6D3152E33}"/>
                </a:ext>
              </a:extLst>
            </p:cNvPr>
            <p:cNvSpPr txBox="1"/>
            <p:nvPr/>
          </p:nvSpPr>
          <p:spPr>
            <a:xfrm>
              <a:off x="6025" y="7287"/>
              <a:ext cx="193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服务焕新</a:t>
              </a:r>
            </a:p>
          </p:txBody>
        </p:sp>
        <p:sp>
          <p:nvSpPr>
            <p:cNvPr id="429" name="文本框 428">
              <a:extLst>
                <a:ext uri="{FF2B5EF4-FFF2-40B4-BE49-F238E27FC236}">
                  <a16:creationId xmlns:a16="http://schemas.microsoft.com/office/drawing/2014/main" id="{ABADBD97-B195-EA54-5DFA-B76F784B0661}"/>
                </a:ext>
              </a:extLst>
            </p:cNvPr>
            <p:cNvSpPr txBox="1"/>
            <p:nvPr/>
          </p:nvSpPr>
          <p:spPr>
            <a:xfrm>
              <a:off x="11314" y="7718"/>
              <a:ext cx="194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30" name="文本框 429">
              <a:extLst>
                <a:ext uri="{FF2B5EF4-FFF2-40B4-BE49-F238E27FC236}">
                  <a16:creationId xmlns:a16="http://schemas.microsoft.com/office/drawing/2014/main" id="{A4D15C4C-E5EA-0166-5C2D-EA39ABE7BB17}"/>
                </a:ext>
              </a:extLst>
            </p:cNvPr>
            <p:cNvSpPr txBox="1"/>
            <p:nvPr/>
          </p:nvSpPr>
          <p:spPr>
            <a:xfrm>
              <a:off x="11313" y="7287"/>
              <a:ext cx="193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场景升级</a:t>
              </a:r>
            </a:p>
          </p:txBody>
        </p: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08CC636B-D672-34BD-2214-DC0AE81BBF8A}"/>
                </a:ext>
              </a:extLst>
            </p:cNvPr>
            <p:cNvSpPr txBox="1"/>
            <p:nvPr/>
          </p:nvSpPr>
          <p:spPr>
            <a:xfrm>
              <a:off x="8630" y="2928"/>
              <a:ext cx="194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2346A1C0-922E-C38E-A6C4-B716EAE9FD94}"/>
                </a:ext>
              </a:extLst>
            </p:cNvPr>
            <p:cNvSpPr txBox="1"/>
            <p:nvPr/>
          </p:nvSpPr>
          <p:spPr>
            <a:xfrm>
              <a:off x="8629" y="2497"/>
              <a:ext cx="193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数智改造</a:t>
              </a:r>
            </a:p>
          </p:txBody>
        </p:sp>
      </p:grpSp>
      <p:grpSp>
        <p:nvGrpSpPr>
          <p:cNvPr id="433" name="组合 432">
            <a:extLst>
              <a:ext uri="{FF2B5EF4-FFF2-40B4-BE49-F238E27FC236}">
                <a16:creationId xmlns:a16="http://schemas.microsoft.com/office/drawing/2014/main" id="{D9592D31-FC71-FFD2-FA75-A417BC9B87D2}"/>
              </a:ext>
            </a:extLst>
          </p:cNvPr>
          <p:cNvGrpSpPr/>
          <p:nvPr/>
        </p:nvGrpSpPr>
        <p:grpSpPr>
          <a:xfrm>
            <a:off x="7510780" y="1053465"/>
            <a:ext cx="4681220" cy="5090795"/>
            <a:chOff x="11828" y="1659"/>
            <a:chExt cx="7372" cy="8017"/>
          </a:xfrm>
        </p:grpSpPr>
        <p:sp>
          <p:nvSpPr>
            <p:cNvPr id="434" name="任意多边形 76">
              <a:extLst>
                <a:ext uri="{FF2B5EF4-FFF2-40B4-BE49-F238E27FC236}">
                  <a16:creationId xmlns:a16="http://schemas.microsoft.com/office/drawing/2014/main" id="{62D274DC-239D-54F6-09CB-576E78AF46BC}"/>
                </a:ext>
              </a:extLst>
            </p:cNvPr>
            <p:cNvSpPr/>
            <p:nvPr/>
          </p:nvSpPr>
          <p:spPr>
            <a:xfrm flipH="1">
              <a:off x="11828" y="1659"/>
              <a:ext cx="7372" cy="19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372" h="1900">
                  <a:moveTo>
                    <a:pt x="0" y="0"/>
                  </a:moveTo>
                  <a:lnTo>
                    <a:pt x="7372" y="0"/>
                  </a:lnTo>
                  <a:cubicBezTo>
                    <a:pt x="6639" y="301"/>
                    <a:pt x="5654" y="1410"/>
                    <a:pt x="5445" y="1900"/>
                  </a:cubicBezTo>
                  <a:lnTo>
                    <a:pt x="0" y="19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35" name="任意多边形 77">
              <a:extLst>
                <a:ext uri="{FF2B5EF4-FFF2-40B4-BE49-F238E27FC236}">
                  <a16:creationId xmlns:a16="http://schemas.microsoft.com/office/drawing/2014/main" id="{974E67BC-2858-046E-E29B-123A4561F4F8}"/>
                </a:ext>
              </a:extLst>
            </p:cNvPr>
            <p:cNvSpPr/>
            <p:nvPr/>
          </p:nvSpPr>
          <p:spPr>
            <a:xfrm flipH="1">
              <a:off x="13828" y="3698"/>
              <a:ext cx="5372" cy="19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72" h="1900">
                  <a:moveTo>
                    <a:pt x="0" y="0"/>
                  </a:moveTo>
                  <a:lnTo>
                    <a:pt x="5372" y="0"/>
                  </a:lnTo>
                  <a:cubicBezTo>
                    <a:pt x="5113" y="382"/>
                    <a:pt x="4845" y="1600"/>
                    <a:pt x="4878" y="1900"/>
                  </a:cubicBezTo>
                  <a:lnTo>
                    <a:pt x="0" y="19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36" name="任意多边形 78">
              <a:extLst>
                <a:ext uri="{FF2B5EF4-FFF2-40B4-BE49-F238E27FC236}">
                  <a16:creationId xmlns:a16="http://schemas.microsoft.com/office/drawing/2014/main" id="{FB1D27FF-67E3-1FB6-9A4F-25AEB1DE0917}"/>
                </a:ext>
              </a:extLst>
            </p:cNvPr>
            <p:cNvSpPr/>
            <p:nvPr/>
          </p:nvSpPr>
          <p:spPr>
            <a:xfrm flipH="1">
              <a:off x="13950" y="5737"/>
              <a:ext cx="5250" cy="19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250" h="1900">
                  <a:moveTo>
                    <a:pt x="0" y="0"/>
                  </a:moveTo>
                  <a:lnTo>
                    <a:pt x="4874" y="0"/>
                  </a:lnTo>
                  <a:lnTo>
                    <a:pt x="4873" y="61"/>
                  </a:lnTo>
                  <a:cubicBezTo>
                    <a:pt x="4844" y="696"/>
                    <a:pt x="5089" y="1562"/>
                    <a:pt x="5250" y="1900"/>
                  </a:cubicBezTo>
                  <a:lnTo>
                    <a:pt x="0" y="19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37" name="任意多边形 79">
              <a:extLst>
                <a:ext uri="{FF2B5EF4-FFF2-40B4-BE49-F238E27FC236}">
                  <a16:creationId xmlns:a16="http://schemas.microsoft.com/office/drawing/2014/main" id="{75C364E6-B5EA-BDE1-4E92-F346387B59D5}"/>
                </a:ext>
              </a:extLst>
            </p:cNvPr>
            <p:cNvSpPr/>
            <p:nvPr/>
          </p:nvSpPr>
          <p:spPr>
            <a:xfrm flipH="1">
              <a:off x="12261" y="7776"/>
              <a:ext cx="6939" cy="19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939" h="1900">
                  <a:moveTo>
                    <a:pt x="0" y="0"/>
                  </a:moveTo>
                  <a:lnTo>
                    <a:pt x="5313" y="0"/>
                  </a:lnTo>
                  <a:cubicBezTo>
                    <a:pt x="5577" y="730"/>
                    <a:pt x="6550" y="1683"/>
                    <a:pt x="6939" y="1900"/>
                  </a:cubicBezTo>
                  <a:lnTo>
                    <a:pt x="0" y="19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C7941645-873F-A7F3-306C-89804A864944}"/>
                </a:ext>
              </a:extLst>
            </p:cNvPr>
            <p:cNvSpPr/>
            <p:nvPr/>
          </p:nvSpPr>
          <p:spPr>
            <a:xfrm>
              <a:off x="13002" y="2617"/>
              <a:ext cx="204" cy="204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39" name="文本框 438">
              <a:extLst>
                <a:ext uri="{FF2B5EF4-FFF2-40B4-BE49-F238E27FC236}">
                  <a16:creationId xmlns:a16="http://schemas.microsoft.com/office/drawing/2014/main" id="{FF72137A-9E02-AD49-BE77-C0C1F7BE315C}"/>
                </a:ext>
              </a:extLst>
            </p:cNvPr>
            <p:cNvSpPr txBox="1"/>
            <p:nvPr/>
          </p:nvSpPr>
          <p:spPr>
            <a:xfrm>
              <a:off x="13407" y="2629"/>
              <a:ext cx="419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民生智改落地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惠及千家万户</a:t>
              </a:r>
            </a:p>
          </p:txBody>
        </p:sp>
        <p:sp>
          <p:nvSpPr>
            <p:cNvPr id="440" name="文本框 439">
              <a:extLst>
                <a:ext uri="{FF2B5EF4-FFF2-40B4-BE49-F238E27FC236}">
                  <a16:creationId xmlns:a16="http://schemas.microsoft.com/office/drawing/2014/main" id="{3A68669D-3A05-DEC2-663E-9DA93E77FECE}"/>
                </a:ext>
              </a:extLst>
            </p:cNvPr>
            <p:cNvSpPr txBox="1"/>
            <p:nvPr/>
          </p:nvSpPr>
          <p:spPr>
            <a:xfrm>
              <a:off x="13407" y="2146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高效便捷</a:t>
              </a:r>
            </a:p>
          </p:txBody>
        </p:sp>
        <p:sp>
          <p:nvSpPr>
            <p:cNvPr id="441" name="椭圆 440">
              <a:extLst>
                <a:ext uri="{FF2B5EF4-FFF2-40B4-BE49-F238E27FC236}">
                  <a16:creationId xmlns:a16="http://schemas.microsoft.com/office/drawing/2014/main" id="{9DADBC6C-A8F5-5442-14FE-78DA919D3C6B}"/>
                </a:ext>
              </a:extLst>
            </p:cNvPr>
            <p:cNvSpPr/>
            <p:nvPr/>
          </p:nvSpPr>
          <p:spPr>
            <a:xfrm>
              <a:off x="13002" y="8777"/>
              <a:ext cx="204" cy="204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42" name="文本框 441">
              <a:extLst>
                <a:ext uri="{FF2B5EF4-FFF2-40B4-BE49-F238E27FC236}">
                  <a16:creationId xmlns:a16="http://schemas.microsoft.com/office/drawing/2014/main" id="{449DDE7D-F2E2-D48B-56A4-0F4E91DD3E0C}"/>
                </a:ext>
              </a:extLst>
            </p:cNvPr>
            <p:cNvSpPr txBox="1"/>
            <p:nvPr/>
          </p:nvSpPr>
          <p:spPr>
            <a:xfrm>
              <a:off x="13407" y="8789"/>
              <a:ext cx="419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民生服务焕新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数智驱动升级</a:t>
              </a:r>
            </a:p>
          </p:txBody>
        </p:sp>
        <p:sp>
          <p:nvSpPr>
            <p:cNvPr id="443" name="文本框 442">
              <a:extLst>
                <a:ext uri="{FF2B5EF4-FFF2-40B4-BE49-F238E27FC236}">
                  <a16:creationId xmlns:a16="http://schemas.microsoft.com/office/drawing/2014/main" id="{A1BC1001-9A12-B7D9-FD58-55DA5C2EC608}"/>
                </a:ext>
              </a:extLst>
            </p:cNvPr>
            <p:cNvSpPr txBox="1"/>
            <p:nvPr/>
          </p:nvSpPr>
          <p:spPr>
            <a:xfrm>
              <a:off x="13407" y="8306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精准触达</a:t>
              </a:r>
            </a:p>
          </p:txBody>
        </p: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98A98B34-CA05-FCA7-4712-971EC0EEE65C}"/>
                </a:ext>
              </a:extLst>
            </p:cNvPr>
            <p:cNvSpPr/>
            <p:nvPr/>
          </p:nvSpPr>
          <p:spPr>
            <a:xfrm>
              <a:off x="14097" y="4627"/>
              <a:ext cx="204" cy="204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45" name="文本框 444">
              <a:extLst>
                <a:ext uri="{FF2B5EF4-FFF2-40B4-BE49-F238E27FC236}">
                  <a16:creationId xmlns:a16="http://schemas.microsoft.com/office/drawing/2014/main" id="{EBACA722-E865-F028-0F83-CAF0128DF9CF}"/>
                </a:ext>
              </a:extLst>
            </p:cNvPr>
            <p:cNvSpPr txBox="1"/>
            <p:nvPr/>
          </p:nvSpPr>
          <p:spPr>
            <a:xfrm>
              <a:off x="14502" y="4639"/>
              <a:ext cx="419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数智融入民生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提升幸福指数</a:t>
              </a:r>
            </a:p>
          </p:txBody>
        </p: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7B1FD92F-E032-A712-FF80-9F0B22D28FD5}"/>
                </a:ext>
              </a:extLst>
            </p:cNvPr>
            <p:cNvSpPr txBox="1"/>
            <p:nvPr/>
          </p:nvSpPr>
          <p:spPr>
            <a:xfrm>
              <a:off x="14502" y="4156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服务暖心</a:t>
              </a:r>
            </a:p>
          </p:txBody>
        </p: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36391164-31D4-A092-D380-480BE90DA623}"/>
                </a:ext>
              </a:extLst>
            </p:cNvPr>
            <p:cNvSpPr/>
            <p:nvPr/>
          </p:nvSpPr>
          <p:spPr>
            <a:xfrm>
              <a:off x="14097" y="6697"/>
              <a:ext cx="204" cy="204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48" name="文本框 447">
              <a:extLst>
                <a:ext uri="{FF2B5EF4-FFF2-40B4-BE49-F238E27FC236}">
                  <a16:creationId xmlns:a16="http://schemas.microsoft.com/office/drawing/2014/main" id="{FEF723B2-EB16-FA0F-DC06-EB88907FC999}"/>
                </a:ext>
              </a:extLst>
            </p:cNvPr>
            <p:cNvSpPr txBox="1"/>
            <p:nvPr/>
          </p:nvSpPr>
          <p:spPr>
            <a:xfrm>
              <a:off x="14502" y="6709"/>
              <a:ext cx="419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智改线下服务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打造惠民样板</a:t>
              </a:r>
            </a:p>
          </p:txBody>
        </p:sp>
        <p:sp>
          <p:nvSpPr>
            <p:cNvPr id="449" name="文本框 448">
              <a:extLst>
                <a:ext uri="{FF2B5EF4-FFF2-40B4-BE49-F238E27FC236}">
                  <a16:creationId xmlns:a16="http://schemas.microsoft.com/office/drawing/2014/main" id="{36BF5EFE-C318-3615-7A7F-B88A97CE6BB4}"/>
                </a:ext>
              </a:extLst>
            </p:cNvPr>
            <p:cNvSpPr txBox="1"/>
            <p:nvPr/>
          </p:nvSpPr>
          <p:spPr>
            <a:xfrm>
              <a:off x="14502" y="6226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科技惠民</a:t>
              </a:r>
            </a:p>
          </p:txBody>
        </p:sp>
      </p:grpSp>
      <p:grpSp>
        <p:nvGrpSpPr>
          <p:cNvPr id="450" name="组合 449">
            <a:extLst>
              <a:ext uri="{FF2B5EF4-FFF2-40B4-BE49-F238E27FC236}">
                <a16:creationId xmlns:a16="http://schemas.microsoft.com/office/drawing/2014/main" id="{C94321D7-14B0-7C1A-B438-6CCB687550E3}"/>
              </a:ext>
            </a:extLst>
          </p:cNvPr>
          <p:cNvGrpSpPr/>
          <p:nvPr/>
        </p:nvGrpSpPr>
        <p:grpSpPr>
          <a:xfrm>
            <a:off x="0" y="1053465"/>
            <a:ext cx="4681220" cy="5090795"/>
            <a:chOff x="0" y="1659"/>
            <a:chExt cx="7372" cy="8017"/>
          </a:xfrm>
        </p:grpSpPr>
        <p:sp>
          <p:nvSpPr>
            <p:cNvPr id="451" name="任意多边形 72">
              <a:extLst>
                <a:ext uri="{FF2B5EF4-FFF2-40B4-BE49-F238E27FC236}">
                  <a16:creationId xmlns:a16="http://schemas.microsoft.com/office/drawing/2014/main" id="{F01E87D8-8AB2-1A54-C46C-DAEB61D15550}"/>
                </a:ext>
              </a:extLst>
            </p:cNvPr>
            <p:cNvSpPr/>
            <p:nvPr/>
          </p:nvSpPr>
          <p:spPr>
            <a:xfrm>
              <a:off x="0" y="1659"/>
              <a:ext cx="7372" cy="19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372" h="1900">
                  <a:moveTo>
                    <a:pt x="0" y="0"/>
                  </a:moveTo>
                  <a:lnTo>
                    <a:pt x="7372" y="0"/>
                  </a:lnTo>
                  <a:cubicBezTo>
                    <a:pt x="6639" y="301"/>
                    <a:pt x="5654" y="1410"/>
                    <a:pt x="5445" y="1900"/>
                  </a:cubicBezTo>
                  <a:lnTo>
                    <a:pt x="0" y="19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52" name="任意多边形 73">
              <a:extLst>
                <a:ext uri="{FF2B5EF4-FFF2-40B4-BE49-F238E27FC236}">
                  <a16:creationId xmlns:a16="http://schemas.microsoft.com/office/drawing/2014/main" id="{7222B11A-67EE-3E0C-621B-4FB8C4DC1CFF}"/>
                </a:ext>
              </a:extLst>
            </p:cNvPr>
            <p:cNvSpPr/>
            <p:nvPr/>
          </p:nvSpPr>
          <p:spPr>
            <a:xfrm>
              <a:off x="0" y="3698"/>
              <a:ext cx="5372" cy="19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72" h="1900">
                  <a:moveTo>
                    <a:pt x="0" y="0"/>
                  </a:moveTo>
                  <a:lnTo>
                    <a:pt x="5372" y="0"/>
                  </a:lnTo>
                  <a:cubicBezTo>
                    <a:pt x="5113" y="382"/>
                    <a:pt x="4845" y="1600"/>
                    <a:pt x="4878" y="1900"/>
                  </a:cubicBezTo>
                  <a:lnTo>
                    <a:pt x="0" y="19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53" name="任意多边形 74">
              <a:extLst>
                <a:ext uri="{FF2B5EF4-FFF2-40B4-BE49-F238E27FC236}">
                  <a16:creationId xmlns:a16="http://schemas.microsoft.com/office/drawing/2014/main" id="{F0C1B17C-9DBF-3071-F658-71970D7364C5}"/>
                </a:ext>
              </a:extLst>
            </p:cNvPr>
            <p:cNvSpPr/>
            <p:nvPr/>
          </p:nvSpPr>
          <p:spPr>
            <a:xfrm>
              <a:off x="0" y="5737"/>
              <a:ext cx="5250" cy="19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250" h="1900">
                  <a:moveTo>
                    <a:pt x="0" y="0"/>
                  </a:moveTo>
                  <a:lnTo>
                    <a:pt x="4874" y="0"/>
                  </a:lnTo>
                  <a:lnTo>
                    <a:pt x="4873" y="61"/>
                  </a:lnTo>
                  <a:cubicBezTo>
                    <a:pt x="4844" y="696"/>
                    <a:pt x="5089" y="1562"/>
                    <a:pt x="5250" y="1900"/>
                  </a:cubicBezTo>
                  <a:lnTo>
                    <a:pt x="0" y="19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54" name="任意多边形 75">
              <a:extLst>
                <a:ext uri="{FF2B5EF4-FFF2-40B4-BE49-F238E27FC236}">
                  <a16:creationId xmlns:a16="http://schemas.microsoft.com/office/drawing/2014/main" id="{3771CC92-4FD9-AB4D-5622-2842B33ACE99}"/>
                </a:ext>
              </a:extLst>
            </p:cNvPr>
            <p:cNvSpPr/>
            <p:nvPr/>
          </p:nvSpPr>
          <p:spPr>
            <a:xfrm>
              <a:off x="0" y="7776"/>
              <a:ext cx="6939" cy="19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939" h="1900">
                  <a:moveTo>
                    <a:pt x="0" y="0"/>
                  </a:moveTo>
                  <a:lnTo>
                    <a:pt x="5313" y="0"/>
                  </a:lnTo>
                  <a:cubicBezTo>
                    <a:pt x="5577" y="730"/>
                    <a:pt x="6550" y="1683"/>
                    <a:pt x="6939" y="1900"/>
                  </a:cubicBezTo>
                  <a:lnTo>
                    <a:pt x="0" y="19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928D5">
                    <a:alpha val="1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ln w="6350" cap="flat" cmpd="sng" algn="ctr">
              <a:gradFill>
                <a:gsLst>
                  <a:gs pos="0">
                    <a:srgbClr val="7928D5">
                      <a:alpha val="0"/>
                    </a:srgbClr>
                  </a:gs>
                  <a:gs pos="100000">
                    <a:srgbClr val="7928D5">
                      <a:alpha val="50000"/>
                    </a:srgbClr>
                  </a:gs>
                </a:gsLst>
                <a:lin ang="780000" scaled="0"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55" name="椭圆 454">
              <a:extLst>
                <a:ext uri="{FF2B5EF4-FFF2-40B4-BE49-F238E27FC236}">
                  <a16:creationId xmlns:a16="http://schemas.microsoft.com/office/drawing/2014/main" id="{108C47E1-5D12-749C-7A6F-70E03B8C79B8}"/>
                </a:ext>
              </a:extLst>
            </p:cNvPr>
            <p:cNvSpPr/>
            <p:nvPr/>
          </p:nvSpPr>
          <p:spPr>
            <a:xfrm>
              <a:off x="5986" y="2617"/>
              <a:ext cx="204" cy="204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BADD7F08-D4AD-2D35-74D5-8345E5E7A1E4}"/>
                </a:ext>
              </a:extLst>
            </p:cNvPr>
            <p:cNvSpPr/>
            <p:nvPr/>
          </p:nvSpPr>
          <p:spPr>
            <a:xfrm>
              <a:off x="5986" y="8777"/>
              <a:ext cx="204" cy="204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57" name="椭圆 456">
              <a:extLst>
                <a:ext uri="{FF2B5EF4-FFF2-40B4-BE49-F238E27FC236}">
                  <a16:creationId xmlns:a16="http://schemas.microsoft.com/office/drawing/2014/main" id="{FD4F4943-7415-FCCE-27A7-516C80CFF712}"/>
                </a:ext>
              </a:extLst>
            </p:cNvPr>
            <p:cNvSpPr/>
            <p:nvPr/>
          </p:nvSpPr>
          <p:spPr>
            <a:xfrm>
              <a:off x="4883" y="4627"/>
              <a:ext cx="204" cy="204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58" name="椭圆 457">
              <a:extLst>
                <a:ext uri="{FF2B5EF4-FFF2-40B4-BE49-F238E27FC236}">
                  <a16:creationId xmlns:a16="http://schemas.microsoft.com/office/drawing/2014/main" id="{37CD02D7-E741-2D76-EF98-15C6D6F0A245}"/>
                </a:ext>
              </a:extLst>
            </p:cNvPr>
            <p:cNvSpPr/>
            <p:nvPr/>
          </p:nvSpPr>
          <p:spPr>
            <a:xfrm>
              <a:off x="4883" y="6697"/>
              <a:ext cx="204" cy="204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59" name="文本框 458">
              <a:extLst>
                <a:ext uri="{FF2B5EF4-FFF2-40B4-BE49-F238E27FC236}">
                  <a16:creationId xmlns:a16="http://schemas.microsoft.com/office/drawing/2014/main" id="{21FCE5B6-9EAE-67BA-1544-BB1000B23CB6}"/>
                </a:ext>
              </a:extLst>
            </p:cNvPr>
            <p:cNvSpPr txBox="1"/>
            <p:nvPr/>
          </p:nvSpPr>
          <p:spPr>
            <a:xfrm>
              <a:off x="1634" y="2629"/>
              <a:ext cx="419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数改民生场景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服务贴心暖心</a:t>
              </a:r>
            </a:p>
          </p:txBody>
        </p:sp>
        <p:sp>
          <p:nvSpPr>
            <p:cNvPr id="460" name="文本框 459">
              <a:extLst>
                <a:ext uri="{FF2B5EF4-FFF2-40B4-BE49-F238E27FC236}">
                  <a16:creationId xmlns:a16="http://schemas.microsoft.com/office/drawing/2014/main" id="{FC4F25A2-6AB9-A728-40E7-02BD410479A8}"/>
                </a:ext>
              </a:extLst>
            </p:cNvPr>
            <p:cNvSpPr txBox="1"/>
            <p:nvPr/>
          </p:nvSpPr>
          <p:spPr>
            <a:xfrm>
              <a:off x="3377" y="2146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便民利民</a:t>
              </a:r>
            </a:p>
          </p:txBody>
        </p:sp>
        <p:sp>
          <p:nvSpPr>
            <p:cNvPr id="461" name="文本框 460">
              <a:extLst>
                <a:ext uri="{FF2B5EF4-FFF2-40B4-BE49-F238E27FC236}">
                  <a16:creationId xmlns:a16="http://schemas.microsoft.com/office/drawing/2014/main" id="{410638FF-341C-3ACF-FCAC-CBC5F623B752}"/>
                </a:ext>
              </a:extLst>
            </p:cNvPr>
            <p:cNvSpPr txBox="1"/>
            <p:nvPr/>
          </p:nvSpPr>
          <p:spPr>
            <a:xfrm>
              <a:off x="1634" y="8789"/>
              <a:ext cx="419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科技点亮民生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服务高效便民</a:t>
              </a:r>
            </a:p>
          </p:txBody>
        </p:sp>
        <p:sp>
          <p:nvSpPr>
            <p:cNvPr id="462" name="文本框 461">
              <a:extLst>
                <a:ext uri="{FF2B5EF4-FFF2-40B4-BE49-F238E27FC236}">
                  <a16:creationId xmlns:a16="http://schemas.microsoft.com/office/drawing/2014/main" id="{08A3FB25-D3EF-C3D5-43A9-C873C5636EA7}"/>
                </a:ext>
              </a:extLst>
            </p:cNvPr>
            <p:cNvSpPr txBox="1"/>
            <p:nvPr/>
          </p:nvSpPr>
          <p:spPr>
            <a:xfrm>
              <a:off x="3377" y="8306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体验升级</a:t>
              </a:r>
            </a:p>
          </p:txBody>
        </p:sp>
        <p:sp>
          <p:nvSpPr>
            <p:cNvPr id="463" name="文本框 462">
              <a:extLst>
                <a:ext uri="{FF2B5EF4-FFF2-40B4-BE49-F238E27FC236}">
                  <a16:creationId xmlns:a16="http://schemas.microsoft.com/office/drawing/2014/main" id="{892912C8-B93F-8A7E-50EE-8D1E6594DC27}"/>
                </a:ext>
              </a:extLst>
            </p:cNvPr>
            <p:cNvSpPr txBox="1"/>
            <p:nvPr/>
          </p:nvSpPr>
          <p:spPr>
            <a:xfrm>
              <a:off x="434" y="4639"/>
              <a:ext cx="419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智服赋能生活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百姓乐享便捷</a:t>
              </a:r>
            </a:p>
          </p:txBody>
        </p:sp>
        <p:sp>
          <p:nvSpPr>
            <p:cNvPr id="464" name="文本框 463">
              <a:extLst>
                <a:ext uri="{FF2B5EF4-FFF2-40B4-BE49-F238E27FC236}">
                  <a16:creationId xmlns:a16="http://schemas.microsoft.com/office/drawing/2014/main" id="{979940EF-2859-E69C-AB0E-704E2F904CE5}"/>
                </a:ext>
              </a:extLst>
            </p:cNvPr>
            <p:cNvSpPr txBox="1"/>
            <p:nvPr/>
          </p:nvSpPr>
          <p:spPr>
            <a:xfrm>
              <a:off x="2177" y="4156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提质增效</a:t>
              </a:r>
            </a:p>
          </p:txBody>
        </p:sp>
        <p:sp>
          <p:nvSpPr>
            <p:cNvPr id="465" name="文本框 464">
              <a:extLst>
                <a:ext uri="{FF2B5EF4-FFF2-40B4-BE49-F238E27FC236}">
                  <a16:creationId xmlns:a16="http://schemas.microsoft.com/office/drawing/2014/main" id="{FC90E1B9-D525-02B1-639A-9BD87A3001D4}"/>
                </a:ext>
              </a:extLst>
            </p:cNvPr>
            <p:cNvSpPr txBox="1"/>
            <p:nvPr/>
          </p:nvSpPr>
          <p:spPr>
            <a:xfrm>
              <a:off x="434" y="6709"/>
              <a:ext cx="419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线下数智升级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民生服务提质</a:t>
              </a:r>
            </a:p>
          </p:txBody>
        </p:sp>
        <p:sp>
          <p:nvSpPr>
            <p:cNvPr id="466" name="文本框 465">
              <a:extLst>
                <a:ext uri="{FF2B5EF4-FFF2-40B4-BE49-F238E27FC236}">
                  <a16:creationId xmlns:a16="http://schemas.microsoft.com/office/drawing/2014/main" id="{30929D26-7C71-FB35-0698-0B6B9F3B8AA5}"/>
                </a:ext>
              </a:extLst>
            </p:cNvPr>
            <p:cNvSpPr txBox="1"/>
            <p:nvPr/>
          </p:nvSpPr>
          <p:spPr>
            <a:xfrm>
              <a:off x="2177" y="6226"/>
              <a:ext cx="24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智慧普惠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897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D7AB-FD7E-4126-87E9-2371C0D9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椭圆 448">
            <a:extLst>
              <a:ext uri="{FF2B5EF4-FFF2-40B4-BE49-F238E27FC236}">
                <a16:creationId xmlns:a16="http://schemas.microsoft.com/office/drawing/2014/main" id="{A1255C0C-E853-FE1E-3ACD-0D849054CE7F}"/>
              </a:ext>
            </a:extLst>
          </p:cNvPr>
          <p:cNvSpPr/>
          <p:nvPr/>
        </p:nvSpPr>
        <p:spPr>
          <a:xfrm>
            <a:off x="2357120" y="0"/>
            <a:ext cx="7458710" cy="7458710"/>
          </a:xfrm>
          <a:prstGeom prst="ellipse">
            <a:avLst/>
          </a:prstGeom>
          <a:solidFill>
            <a:srgbClr val="FFFFFF">
              <a:alpha val="62000"/>
            </a:srgbClr>
          </a:solidFill>
          <a:ln w="6350" cap="flat" cmpd="sng" algn="ctr">
            <a:gradFill>
              <a:gsLst>
                <a:gs pos="45000">
                  <a:srgbClr val="7928D5">
                    <a:alpha val="34000"/>
                  </a:srgbClr>
                </a:gs>
                <a:gs pos="100000">
                  <a:srgbClr val="7928D5">
                    <a:alpha val="0"/>
                  </a:srgbClr>
                </a:gs>
              </a:gsLst>
              <a:lin ang="16380000" scaled="1"/>
            </a:gra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00C07EC7-F798-786A-9F2E-EDC75A3E3AC4}"/>
              </a:ext>
            </a:extLst>
          </p:cNvPr>
          <p:cNvSpPr txBox="1"/>
          <p:nvPr/>
        </p:nvSpPr>
        <p:spPr>
          <a:xfrm>
            <a:off x="8194084" y="2269774"/>
            <a:ext cx="1485592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900" dirty="0">
                <a:solidFill>
                  <a:srgbClr val="000000">
                    <a:alpha val="44000"/>
                  </a:srgb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 Light" panose="020B0300000000000000" charset="-122"/>
                <a:sym typeface="+mn-ea"/>
              </a:rPr>
              <a:t>关键文本信息替换</a:t>
            </a:r>
          </a:p>
        </p:txBody>
      </p:sp>
      <p:sp>
        <p:nvSpPr>
          <p:cNvPr id="451" name="文本框 450">
            <a:extLst>
              <a:ext uri="{FF2B5EF4-FFF2-40B4-BE49-F238E27FC236}">
                <a16:creationId xmlns:a16="http://schemas.microsoft.com/office/drawing/2014/main" id="{601F5557-06A4-66CB-2FBA-EB61B9C5F49C}"/>
              </a:ext>
            </a:extLst>
          </p:cNvPr>
          <p:cNvSpPr txBox="1"/>
          <p:nvPr/>
        </p:nvSpPr>
        <p:spPr>
          <a:xfrm>
            <a:off x="8194084" y="5317774"/>
            <a:ext cx="1485592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900" dirty="0">
                <a:solidFill>
                  <a:srgbClr val="000000">
                    <a:alpha val="44000"/>
                  </a:srgb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 Light" panose="020B0300000000000000" charset="-122"/>
                <a:sym typeface="+mn-ea"/>
              </a:rPr>
              <a:t>关键文本信息替换</a:t>
            </a:r>
          </a:p>
        </p:txBody>
      </p:sp>
      <p:grpSp>
        <p:nvGrpSpPr>
          <p:cNvPr id="452" name="组合 451">
            <a:extLst>
              <a:ext uri="{FF2B5EF4-FFF2-40B4-BE49-F238E27FC236}">
                <a16:creationId xmlns:a16="http://schemas.microsoft.com/office/drawing/2014/main" id="{35E4DE8A-606D-D211-2AB4-166268F195C4}"/>
              </a:ext>
            </a:extLst>
          </p:cNvPr>
          <p:cNvGrpSpPr/>
          <p:nvPr/>
        </p:nvGrpSpPr>
        <p:grpSpPr>
          <a:xfrm>
            <a:off x="2080260" y="1279525"/>
            <a:ext cx="8010525" cy="4899660"/>
            <a:chOff x="3276" y="2015"/>
            <a:chExt cx="12615" cy="7716"/>
          </a:xfrm>
        </p:grpSpPr>
        <p:grpSp>
          <p:nvGrpSpPr>
            <p:cNvPr id="453" name="组合 452">
              <a:extLst>
                <a:ext uri="{FF2B5EF4-FFF2-40B4-BE49-F238E27FC236}">
                  <a16:creationId xmlns:a16="http://schemas.microsoft.com/office/drawing/2014/main" id="{F9F61CD1-8A0A-EE29-172D-4A3A13FC709A}"/>
                </a:ext>
              </a:extLst>
            </p:cNvPr>
            <p:cNvGrpSpPr/>
            <p:nvPr/>
          </p:nvGrpSpPr>
          <p:grpSpPr>
            <a:xfrm>
              <a:off x="3953" y="2015"/>
              <a:ext cx="11939" cy="7716"/>
              <a:chOff x="3953" y="2015"/>
              <a:chExt cx="11939" cy="7716"/>
            </a:xfrm>
          </p:grpSpPr>
          <p:sp>
            <p:nvSpPr>
              <p:cNvPr id="455" name="椭圆 454">
                <a:extLst>
                  <a:ext uri="{FF2B5EF4-FFF2-40B4-BE49-F238E27FC236}">
                    <a16:creationId xmlns:a16="http://schemas.microsoft.com/office/drawing/2014/main" id="{68649E80-5290-0214-138C-B72CEDEDDCA2}"/>
                  </a:ext>
                </a:extLst>
              </p:cNvPr>
              <p:cNvSpPr/>
              <p:nvPr/>
            </p:nvSpPr>
            <p:spPr>
              <a:xfrm>
                <a:off x="5738" y="2015"/>
                <a:ext cx="7716" cy="7716"/>
              </a:xfrm>
              <a:prstGeom prst="ellipse">
                <a:avLst/>
              </a:prstGeom>
              <a:solidFill>
                <a:srgbClr val="7928D5">
                  <a:alpha val="2000"/>
                </a:srgbClr>
              </a:solidFill>
              <a:ln w="15875" cap="flat" cmpd="sng" algn="ctr">
                <a:gradFill>
                  <a:gsLst>
                    <a:gs pos="45000">
                      <a:srgbClr val="7928D5">
                        <a:alpha val="88000"/>
                      </a:srgbClr>
                    </a:gs>
                    <a:gs pos="100000">
                      <a:srgbClr val="7928D5">
                        <a:alpha val="0"/>
                      </a:srgbClr>
                    </a:gs>
                  </a:gsLst>
                  <a:lin ang="16380000" scaled="1"/>
                </a:gra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grpSp>
            <p:nvGrpSpPr>
              <p:cNvPr id="456" name="组合 455">
                <a:extLst>
                  <a:ext uri="{FF2B5EF4-FFF2-40B4-BE49-F238E27FC236}">
                    <a16:creationId xmlns:a16="http://schemas.microsoft.com/office/drawing/2014/main" id="{6AC71893-C7A7-4F06-DF61-51320B0F4F0E}"/>
                  </a:ext>
                </a:extLst>
              </p:cNvPr>
              <p:cNvGrpSpPr/>
              <p:nvPr/>
            </p:nvGrpSpPr>
            <p:grpSpPr>
              <a:xfrm>
                <a:off x="12568" y="3222"/>
                <a:ext cx="3324" cy="5186"/>
                <a:chOff x="12568" y="3222"/>
                <a:chExt cx="3324" cy="5186"/>
              </a:xfrm>
            </p:grpSpPr>
            <p:sp>
              <p:nvSpPr>
                <p:cNvPr id="466" name="椭圆 465">
                  <a:extLst>
                    <a:ext uri="{FF2B5EF4-FFF2-40B4-BE49-F238E27FC236}">
                      <a16:creationId xmlns:a16="http://schemas.microsoft.com/office/drawing/2014/main" id="{C2352C42-9A22-66EB-0A85-4A390661CECA}"/>
                    </a:ext>
                  </a:extLst>
                </p:cNvPr>
                <p:cNvSpPr/>
                <p:nvPr/>
              </p:nvSpPr>
              <p:spPr>
                <a:xfrm>
                  <a:off x="12568" y="3320"/>
                  <a:ext cx="254" cy="254"/>
                </a:xfrm>
                <a:prstGeom prst="ellipse">
                  <a:avLst/>
                </a:prstGeom>
                <a:solidFill>
                  <a:srgbClr val="FFFFFF"/>
                </a:solidFill>
                <a:ln w="15875" cap="flat" cmpd="sng" algn="ctr">
                  <a:solidFill>
                    <a:srgbClr val="7928D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  <p:sp>
              <p:nvSpPr>
                <p:cNvPr id="467" name="椭圆 466">
                  <a:extLst>
                    <a:ext uri="{FF2B5EF4-FFF2-40B4-BE49-F238E27FC236}">
                      <a16:creationId xmlns:a16="http://schemas.microsoft.com/office/drawing/2014/main" id="{990E5F2A-0529-C2DD-2AEC-62798BB4F4CE}"/>
                    </a:ext>
                  </a:extLst>
                </p:cNvPr>
                <p:cNvSpPr/>
                <p:nvPr/>
              </p:nvSpPr>
              <p:spPr>
                <a:xfrm>
                  <a:off x="12569" y="8120"/>
                  <a:ext cx="254" cy="254"/>
                </a:xfrm>
                <a:prstGeom prst="ellipse">
                  <a:avLst/>
                </a:prstGeom>
                <a:solidFill>
                  <a:srgbClr val="FFFFFF"/>
                </a:solidFill>
                <a:ln w="15875" cap="flat" cmpd="sng" algn="ctr">
                  <a:solidFill>
                    <a:srgbClr val="7928D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  <p:sp>
              <p:nvSpPr>
                <p:cNvPr id="468" name="文本框 467">
                  <a:extLst>
                    <a:ext uri="{FF2B5EF4-FFF2-40B4-BE49-F238E27FC236}">
                      <a16:creationId xmlns:a16="http://schemas.microsoft.com/office/drawing/2014/main" id="{7B216628-2751-A2F3-D8E4-CAA42A82C6F9}"/>
                    </a:ext>
                  </a:extLst>
                </p:cNvPr>
                <p:cNvSpPr txBox="1"/>
                <p:nvPr/>
              </p:nvSpPr>
              <p:spPr>
                <a:xfrm>
                  <a:off x="12904" y="3222"/>
                  <a:ext cx="166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</a:t>
                  </a:r>
                </a:p>
              </p:txBody>
            </p:sp>
            <p:sp>
              <p:nvSpPr>
                <p:cNvPr id="469" name="文本框 468">
                  <a:extLst>
                    <a:ext uri="{FF2B5EF4-FFF2-40B4-BE49-F238E27FC236}">
                      <a16:creationId xmlns:a16="http://schemas.microsoft.com/office/drawing/2014/main" id="{D9F43890-F587-4F99-BA8F-66D416024504}"/>
                    </a:ext>
                  </a:extLst>
                </p:cNvPr>
                <p:cNvSpPr txBox="1"/>
                <p:nvPr/>
              </p:nvSpPr>
              <p:spPr>
                <a:xfrm>
                  <a:off x="12904" y="8022"/>
                  <a:ext cx="166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</a:t>
                  </a:r>
                </a:p>
              </p:txBody>
            </p:sp>
            <p:sp>
              <p:nvSpPr>
                <p:cNvPr id="470" name="椭圆 469">
                  <a:extLst>
                    <a:ext uri="{FF2B5EF4-FFF2-40B4-BE49-F238E27FC236}">
                      <a16:creationId xmlns:a16="http://schemas.microsoft.com/office/drawing/2014/main" id="{C0229EF3-0795-9BBC-8A08-8CEAED26B943}"/>
                    </a:ext>
                  </a:extLst>
                </p:cNvPr>
                <p:cNvSpPr/>
                <p:nvPr/>
              </p:nvSpPr>
              <p:spPr>
                <a:xfrm>
                  <a:off x="13298" y="5720"/>
                  <a:ext cx="254" cy="254"/>
                </a:xfrm>
                <a:prstGeom prst="ellipse">
                  <a:avLst/>
                </a:prstGeom>
                <a:solidFill>
                  <a:srgbClr val="FFFFFF"/>
                </a:solidFill>
                <a:ln w="15875" cap="flat" cmpd="sng" algn="ctr">
                  <a:solidFill>
                    <a:srgbClr val="7928D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  <p:sp>
              <p:nvSpPr>
                <p:cNvPr id="471" name="文本框 470">
                  <a:extLst>
                    <a:ext uri="{FF2B5EF4-FFF2-40B4-BE49-F238E27FC236}">
                      <a16:creationId xmlns:a16="http://schemas.microsoft.com/office/drawing/2014/main" id="{1375F1ED-73D6-4CCA-F032-61B2005BD49E}"/>
                    </a:ext>
                  </a:extLst>
                </p:cNvPr>
                <p:cNvSpPr txBox="1"/>
                <p:nvPr/>
              </p:nvSpPr>
              <p:spPr>
                <a:xfrm>
                  <a:off x="13552" y="5622"/>
                  <a:ext cx="166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</a:t>
                  </a:r>
                </a:p>
              </p:txBody>
            </p:sp>
            <p:sp>
              <p:nvSpPr>
                <p:cNvPr id="472" name="文本框 471">
                  <a:extLst>
                    <a:ext uri="{FF2B5EF4-FFF2-40B4-BE49-F238E27FC236}">
                      <a16:creationId xmlns:a16="http://schemas.microsoft.com/office/drawing/2014/main" id="{436F3D02-3278-84B6-C06D-1FE9E5E57658}"/>
                    </a:ext>
                  </a:extLst>
                </p:cNvPr>
                <p:cNvSpPr txBox="1"/>
                <p:nvPr/>
              </p:nvSpPr>
              <p:spPr>
                <a:xfrm>
                  <a:off x="13552" y="5974"/>
                  <a:ext cx="2340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alpha val="44000"/>
                        </a:srgbClr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关键文本信息替换</a:t>
                  </a:r>
                </a:p>
              </p:txBody>
            </p:sp>
          </p:grpSp>
          <p:grpSp>
            <p:nvGrpSpPr>
              <p:cNvPr id="457" name="组合 456">
                <a:extLst>
                  <a:ext uri="{FF2B5EF4-FFF2-40B4-BE49-F238E27FC236}">
                    <a16:creationId xmlns:a16="http://schemas.microsoft.com/office/drawing/2014/main" id="{219FD74B-6898-CDCE-4457-B6C684DCB20B}"/>
                  </a:ext>
                </a:extLst>
              </p:cNvPr>
              <p:cNvGrpSpPr/>
              <p:nvPr/>
            </p:nvGrpSpPr>
            <p:grpSpPr>
              <a:xfrm>
                <a:off x="3953" y="3222"/>
                <a:ext cx="2747" cy="5514"/>
                <a:chOff x="3953" y="3222"/>
                <a:chExt cx="2747" cy="5514"/>
              </a:xfrm>
            </p:grpSpPr>
            <p:sp>
              <p:nvSpPr>
                <p:cNvPr id="458" name="椭圆 457">
                  <a:extLst>
                    <a:ext uri="{FF2B5EF4-FFF2-40B4-BE49-F238E27FC236}">
                      <a16:creationId xmlns:a16="http://schemas.microsoft.com/office/drawing/2014/main" id="{319658F9-688A-061C-40C3-78509772A91C}"/>
                    </a:ext>
                  </a:extLst>
                </p:cNvPr>
                <p:cNvSpPr/>
                <p:nvPr/>
              </p:nvSpPr>
              <p:spPr>
                <a:xfrm>
                  <a:off x="6445" y="3320"/>
                  <a:ext cx="254" cy="254"/>
                </a:xfrm>
                <a:prstGeom prst="ellipse">
                  <a:avLst/>
                </a:prstGeom>
                <a:solidFill>
                  <a:srgbClr val="FFFFFF"/>
                </a:solidFill>
                <a:ln w="15875" cap="flat" cmpd="sng" algn="ctr">
                  <a:solidFill>
                    <a:srgbClr val="7928D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  <p:sp>
              <p:nvSpPr>
                <p:cNvPr id="459" name="文本框 458">
                  <a:extLst>
                    <a:ext uri="{FF2B5EF4-FFF2-40B4-BE49-F238E27FC236}">
                      <a16:creationId xmlns:a16="http://schemas.microsoft.com/office/drawing/2014/main" id="{3568BCCB-54BE-5F87-717C-9CCDFB8BDF20}"/>
                    </a:ext>
                  </a:extLst>
                </p:cNvPr>
                <p:cNvSpPr txBox="1"/>
                <p:nvPr/>
              </p:nvSpPr>
              <p:spPr>
                <a:xfrm>
                  <a:off x="4707" y="3222"/>
                  <a:ext cx="166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</a:t>
                  </a:r>
                </a:p>
              </p:txBody>
            </p:sp>
            <p:sp>
              <p:nvSpPr>
                <p:cNvPr id="460" name="文本框 459">
                  <a:extLst>
                    <a:ext uri="{FF2B5EF4-FFF2-40B4-BE49-F238E27FC236}">
                      <a16:creationId xmlns:a16="http://schemas.microsoft.com/office/drawing/2014/main" id="{7CA23BF5-5A8C-68B4-AB4B-643C6B9DB129}"/>
                    </a:ext>
                  </a:extLst>
                </p:cNvPr>
                <p:cNvSpPr txBox="1"/>
                <p:nvPr/>
              </p:nvSpPr>
              <p:spPr>
                <a:xfrm>
                  <a:off x="4031" y="3574"/>
                  <a:ext cx="2340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alpha val="44000"/>
                        </a:srgbClr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关键文本信息替换</a:t>
                  </a:r>
                </a:p>
              </p:txBody>
            </p:sp>
            <p:sp>
              <p:nvSpPr>
                <p:cNvPr id="461" name="椭圆 460">
                  <a:extLst>
                    <a:ext uri="{FF2B5EF4-FFF2-40B4-BE49-F238E27FC236}">
                      <a16:creationId xmlns:a16="http://schemas.microsoft.com/office/drawing/2014/main" id="{8E3AA133-58BC-082E-168A-AC4CC5DE8016}"/>
                    </a:ext>
                  </a:extLst>
                </p:cNvPr>
                <p:cNvSpPr/>
                <p:nvPr/>
              </p:nvSpPr>
              <p:spPr>
                <a:xfrm>
                  <a:off x="6446" y="8120"/>
                  <a:ext cx="254" cy="254"/>
                </a:xfrm>
                <a:prstGeom prst="ellipse">
                  <a:avLst/>
                </a:prstGeom>
                <a:solidFill>
                  <a:srgbClr val="FFFFFF"/>
                </a:solidFill>
                <a:ln w="15875" cap="flat" cmpd="sng" algn="ctr">
                  <a:solidFill>
                    <a:srgbClr val="7928D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  <p:sp>
              <p:nvSpPr>
                <p:cNvPr id="462" name="文本框 461">
                  <a:extLst>
                    <a:ext uri="{FF2B5EF4-FFF2-40B4-BE49-F238E27FC236}">
                      <a16:creationId xmlns:a16="http://schemas.microsoft.com/office/drawing/2014/main" id="{6EF5AF72-5BFE-2F2F-DCED-79AE42593DBE}"/>
                    </a:ext>
                  </a:extLst>
                </p:cNvPr>
                <p:cNvSpPr txBox="1"/>
                <p:nvPr/>
              </p:nvSpPr>
              <p:spPr>
                <a:xfrm>
                  <a:off x="4708" y="8022"/>
                  <a:ext cx="166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</a:t>
                  </a:r>
                </a:p>
              </p:txBody>
            </p:sp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18EA2505-3947-8246-1123-477FC6B23C2F}"/>
                    </a:ext>
                  </a:extLst>
                </p:cNvPr>
                <p:cNvSpPr txBox="1"/>
                <p:nvPr/>
              </p:nvSpPr>
              <p:spPr>
                <a:xfrm>
                  <a:off x="4032" y="8374"/>
                  <a:ext cx="2340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alpha val="44000"/>
                        </a:srgbClr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关键文本信息替换</a:t>
                  </a:r>
                </a:p>
              </p:txBody>
            </p:sp>
            <p:sp>
              <p:nvSpPr>
                <p:cNvPr id="464" name="椭圆 463">
                  <a:extLst>
                    <a:ext uri="{FF2B5EF4-FFF2-40B4-BE49-F238E27FC236}">
                      <a16:creationId xmlns:a16="http://schemas.microsoft.com/office/drawing/2014/main" id="{A38112B2-79B6-8A56-0B26-A4CFB9A3439C}"/>
                    </a:ext>
                  </a:extLst>
                </p:cNvPr>
                <p:cNvSpPr/>
                <p:nvPr/>
              </p:nvSpPr>
              <p:spPr>
                <a:xfrm>
                  <a:off x="5647" y="5720"/>
                  <a:ext cx="254" cy="254"/>
                </a:xfrm>
                <a:prstGeom prst="ellipse">
                  <a:avLst/>
                </a:prstGeom>
                <a:solidFill>
                  <a:srgbClr val="FFFFFF"/>
                </a:solidFill>
                <a:ln w="15875" cap="flat" cmpd="sng" algn="ctr">
                  <a:solidFill>
                    <a:srgbClr val="7928D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A54ED93B-FB48-3D03-EDD3-0393E515A364}"/>
                    </a:ext>
                  </a:extLst>
                </p:cNvPr>
                <p:cNvSpPr txBox="1"/>
                <p:nvPr/>
              </p:nvSpPr>
              <p:spPr>
                <a:xfrm>
                  <a:off x="3953" y="5622"/>
                  <a:ext cx="166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" panose="020B0500000000000000" pitchFamily="34" charset="-122"/>
                      <a:ea typeface="思源黑体 CN" panose="020B0500000000000000" pitchFamily="34" charset="-122"/>
                      <a:cs typeface="思源黑体 CN Light" panose="020B0300000000000000" charset="-122"/>
                      <a:sym typeface="+mn-ea"/>
                    </a:rPr>
                    <a:t>关键文本</a:t>
                  </a:r>
                </a:p>
              </p:txBody>
            </p:sp>
          </p:grpSp>
        </p:grpSp>
        <p:sp>
          <p:nvSpPr>
            <p:cNvPr id="454" name="文本框 453">
              <a:extLst>
                <a:ext uri="{FF2B5EF4-FFF2-40B4-BE49-F238E27FC236}">
                  <a16:creationId xmlns:a16="http://schemas.microsoft.com/office/drawing/2014/main" id="{EDD2AA4A-6C34-0855-B64C-5BF06A93D8B0}"/>
                </a:ext>
              </a:extLst>
            </p:cNvPr>
            <p:cNvSpPr txBox="1"/>
            <p:nvPr/>
          </p:nvSpPr>
          <p:spPr>
            <a:xfrm>
              <a:off x="3276" y="5974"/>
              <a:ext cx="234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</p:grp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3D5C915C-152F-A111-725B-1257AF99A342}"/>
              </a:ext>
            </a:extLst>
          </p:cNvPr>
          <p:cNvGrpSpPr/>
          <p:nvPr/>
        </p:nvGrpSpPr>
        <p:grpSpPr>
          <a:xfrm>
            <a:off x="9815830" y="2077085"/>
            <a:ext cx="1880870" cy="3916680"/>
            <a:chOff x="15458" y="3271"/>
            <a:chExt cx="2962" cy="6168"/>
          </a:xfrm>
        </p:grpSpPr>
        <p:sp>
          <p:nvSpPr>
            <p:cNvPr id="474" name="矩形: 圆角 131">
              <a:extLst>
                <a:ext uri="{FF2B5EF4-FFF2-40B4-BE49-F238E27FC236}">
                  <a16:creationId xmlns:a16="http://schemas.microsoft.com/office/drawing/2014/main" id="{86A8F9F8-356C-228F-5CD1-358771ABF635}"/>
                </a:ext>
              </a:extLst>
            </p:cNvPr>
            <p:cNvSpPr/>
            <p:nvPr/>
          </p:nvSpPr>
          <p:spPr>
            <a:xfrm flipV="1">
              <a:off x="16389" y="3271"/>
              <a:ext cx="1952" cy="458"/>
            </a:xfrm>
            <a:prstGeom prst="roundRect">
              <a:avLst>
                <a:gd name="adj" fmla="val 50000"/>
              </a:avLst>
            </a:prstGeom>
            <a:solidFill>
              <a:srgbClr val="21123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41300" dist="101600" dir="5400000" sx="86000" sy="86000" algn="t" rotWithShape="0">
                <a:prstClr val="black">
                  <a:alpha val="3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75" name="矩形: 圆角 131">
              <a:extLst>
                <a:ext uri="{FF2B5EF4-FFF2-40B4-BE49-F238E27FC236}">
                  <a16:creationId xmlns:a16="http://schemas.microsoft.com/office/drawing/2014/main" id="{E6EBA1B8-C57F-4FA4-B368-66A51F0A01F0}"/>
                </a:ext>
              </a:extLst>
            </p:cNvPr>
            <p:cNvSpPr/>
            <p:nvPr/>
          </p:nvSpPr>
          <p:spPr>
            <a:xfrm flipV="1">
              <a:off x="16389" y="5590"/>
              <a:ext cx="1952" cy="458"/>
            </a:xfrm>
            <a:prstGeom prst="roundRect">
              <a:avLst>
                <a:gd name="adj" fmla="val 50000"/>
              </a:avLst>
            </a:prstGeom>
            <a:solidFill>
              <a:srgbClr val="21123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41300" dist="101600" dir="5400000" sx="86000" sy="86000" algn="t" rotWithShape="0">
                <a:prstClr val="black">
                  <a:alpha val="3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76" name="矩形: 圆角 131">
              <a:extLst>
                <a:ext uri="{FF2B5EF4-FFF2-40B4-BE49-F238E27FC236}">
                  <a16:creationId xmlns:a16="http://schemas.microsoft.com/office/drawing/2014/main" id="{BDAE07CD-706D-3A4E-66B0-F94BB28D8E61}"/>
                </a:ext>
              </a:extLst>
            </p:cNvPr>
            <p:cNvSpPr/>
            <p:nvPr/>
          </p:nvSpPr>
          <p:spPr>
            <a:xfrm flipV="1">
              <a:off x="16389" y="7909"/>
              <a:ext cx="1952" cy="458"/>
            </a:xfrm>
            <a:prstGeom prst="roundRect">
              <a:avLst>
                <a:gd name="adj" fmla="val 50000"/>
              </a:avLst>
            </a:prstGeom>
            <a:solidFill>
              <a:srgbClr val="21123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41300" dist="101600" dir="5400000" sx="86000" sy="86000" algn="t" rotWithShape="0">
                <a:prstClr val="black">
                  <a:alpha val="3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77" name="文本框 476">
              <a:extLst>
                <a:ext uri="{FF2B5EF4-FFF2-40B4-BE49-F238E27FC236}">
                  <a16:creationId xmlns:a16="http://schemas.microsoft.com/office/drawing/2014/main" id="{54F63EB9-1E58-FB80-8C41-EE4BBEF0FDAC}"/>
                </a:ext>
              </a:extLst>
            </p:cNvPr>
            <p:cNvSpPr txBox="1"/>
            <p:nvPr/>
          </p:nvSpPr>
          <p:spPr>
            <a:xfrm>
              <a:off x="15458" y="3846"/>
              <a:ext cx="2963" cy="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组网医疗智能硬件终端，设备协同采集数据，为临床诊断提供全面精准支撑。</a:t>
              </a:r>
            </a:p>
          </p:txBody>
        </p:sp>
        <p:sp>
          <p:nvSpPr>
            <p:cNvPr id="478" name="文本框 477">
              <a:extLst>
                <a:ext uri="{FF2B5EF4-FFF2-40B4-BE49-F238E27FC236}">
                  <a16:creationId xmlns:a16="http://schemas.microsoft.com/office/drawing/2014/main" id="{6C307539-2E06-2374-D1E6-A9374CC51F09}"/>
                </a:ext>
              </a:extLst>
            </p:cNvPr>
            <p:cNvSpPr txBox="1"/>
            <p:nvPr/>
          </p:nvSpPr>
          <p:spPr>
            <a:xfrm>
              <a:off x="15458" y="6193"/>
              <a:ext cx="2963" cy="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串联交通智能硬件设施，协同监测路况信息，提升城市交通调度管理效率。</a:t>
              </a:r>
            </a:p>
          </p:txBody>
        </p:sp>
        <p:sp>
          <p:nvSpPr>
            <p:cNvPr id="479" name="文本框 478">
              <a:extLst>
                <a:ext uri="{FF2B5EF4-FFF2-40B4-BE49-F238E27FC236}">
                  <a16:creationId xmlns:a16="http://schemas.microsoft.com/office/drawing/2014/main" id="{5DABFE3E-F46E-CAF5-8A2D-ECB5BD356A6D}"/>
                </a:ext>
              </a:extLst>
            </p:cNvPr>
            <p:cNvSpPr txBox="1"/>
            <p:nvPr/>
          </p:nvSpPr>
          <p:spPr>
            <a:xfrm>
              <a:off x="15458" y="8497"/>
              <a:ext cx="2963" cy="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整合办公智能硬件设备，构建协同办公系统，降低沟通成本提升工作效率。</a:t>
              </a:r>
            </a:p>
          </p:txBody>
        </p:sp>
        <p:sp>
          <p:nvSpPr>
            <p:cNvPr id="480" name="文本框 479">
              <a:extLst>
                <a:ext uri="{FF2B5EF4-FFF2-40B4-BE49-F238E27FC236}">
                  <a16:creationId xmlns:a16="http://schemas.microsoft.com/office/drawing/2014/main" id="{64442BA5-D2BF-EC4A-401F-8F8E7E2C301C}"/>
                </a:ext>
              </a:extLst>
            </p:cNvPr>
            <p:cNvSpPr txBox="1"/>
            <p:nvPr/>
          </p:nvSpPr>
          <p:spPr>
            <a:xfrm>
              <a:off x="16427" y="3282"/>
              <a:ext cx="189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效能跃升</a:t>
              </a:r>
            </a:p>
          </p:txBody>
        </p:sp>
        <p:sp>
          <p:nvSpPr>
            <p:cNvPr id="481" name="文本框 480">
              <a:extLst>
                <a:ext uri="{FF2B5EF4-FFF2-40B4-BE49-F238E27FC236}">
                  <a16:creationId xmlns:a16="http://schemas.microsoft.com/office/drawing/2014/main" id="{B8746EF5-E70A-EADD-8F09-AEA96719B32D}"/>
                </a:ext>
              </a:extLst>
            </p:cNvPr>
            <p:cNvSpPr txBox="1"/>
            <p:nvPr/>
          </p:nvSpPr>
          <p:spPr>
            <a:xfrm>
              <a:off x="16427" y="5602"/>
              <a:ext cx="189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数据互通</a:t>
              </a:r>
            </a:p>
          </p:txBody>
        </p:sp>
        <p:sp>
          <p:nvSpPr>
            <p:cNvPr id="482" name="文本框 481">
              <a:extLst>
                <a:ext uri="{FF2B5EF4-FFF2-40B4-BE49-F238E27FC236}">
                  <a16:creationId xmlns:a16="http://schemas.microsoft.com/office/drawing/2014/main" id="{1838934A-5F31-E033-3E21-987C60BFCFBB}"/>
                </a:ext>
              </a:extLst>
            </p:cNvPr>
            <p:cNvSpPr txBox="1"/>
            <p:nvPr/>
          </p:nvSpPr>
          <p:spPr>
            <a:xfrm>
              <a:off x="16427" y="7921"/>
              <a:ext cx="189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业务提效</a:t>
              </a:r>
            </a:p>
          </p:txBody>
        </p:sp>
      </p:grpSp>
      <p:grpSp>
        <p:nvGrpSpPr>
          <p:cNvPr id="483" name="组合 482">
            <a:extLst>
              <a:ext uri="{FF2B5EF4-FFF2-40B4-BE49-F238E27FC236}">
                <a16:creationId xmlns:a16="http://schemas.microsoft.com/office/drawing/2014/main" id="{C77F353E-D6E0-9D8B-CEFF-AE0FBD09921E}"/>
              </a:ext>
            </a:extLst>
          </p:cNvPr>
          <p:cNvGrpSpPr/>
          <p:nvPr/>
        </p:nvGrpSpPr>
        <p:grpSpPr>
          <a:xfrm>
            <a:off x="474980" y="2077085"/>
            <a:ext cx="1880870" cy="3916680"/>
            <a:chOff x="748" y="3271"/>
            <a:chExt cx="2962" cy="6168"/>
          </a:xfrm>
        </p:grpSpPr>
        <p:sp>
          <p:nvSpPr>
            <p:cNvPr id="484" name="矩形: 圆角 131">
              <a:extLst>
                <a:ext uri="{FF2B5EF4-FFF2-40B4-BE49-F238E27FC236}">
                  <a16:creationId xmlns:a16="http://schemas.microsoft.com/office/drawing/2014/main" id="{DF1BAA14-FC9A-7508-15DB-6936E402B3DF}"/>
                </a:ext>
              </a:extLst>
            </p:cNvPr>
            <p:cNvSpPr/>
            <p:nvPr/>
          </p:nvSpPr>
          <p:spPr>
            <a:xfrm flipV="1">
              <a:off x="851" y="3271"/>
              <a:ext cx="1952" cy="458"/>
            </a:xfrm>
            <a:prstGeom prst="roundRect">
              <a:avLst>
                <a:gd name="adj" fmla="val 50000"/>
              </a:avLst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41300" dist="101600" dir="5400000" sx="86000" sy="86000" algn="t" rotWithShape="0">
                <a:prstClr val="black">
                  <a:alpha val="3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85" name="矩形: 圆角 131">
              <a:extLst>
                <a:ext uri="{FF2B5EF4-FFF2-40B4-BE49-F238E27FC236}">
                  <a16:creationId xmlns:a16="http://schemas.microsoft.com/office/drawing/2014/main" id="{F6AF82D8-FE0A-C2E5-0B66-DCEA3A81263F}"/>
                </a:ext>
              </a:extLst>
            </p:cNvPr>
            <p:cNvSpPr/>
            <p:nvPr/>
          </p:nvSpPr>
          <p:spPr>
            <a:xfrm flipV="1">
              <a:off x="851" y="5590"/>
              <a:ext cx="1952" cy="458"/>
            </a:xfrm>
            <a:prstGeom prst="roundRect">
              <a:avLst>
                <a:gd name="adj" fmla="val 50000"/>
              </a:avLst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41300" dist="101600" dir="5400000" sx="86000" sy="86000" algn="t" rotWithShape="0">
                <a:prstClr val="black">
                  <a:alpha val="3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86" name="矩形: 圆角 131">
              <a:extLst>
                <a:ext uri="{FF2B5EF4-FFF2-40B4-BE49-F238E27FC236}">
                  <a16:creationId xmlns:a16="http://schemas.microsoft.com/office/drawing/2014/main" id="{65C40D0E-0175-BAC4-70C6-EB912CAEBB7C}"/>
                </a:ext>
              </a:extLst>
            </p:cNvPr>
            <p:cNvSpPr/>
            <p:nvPr/>
          </p:nvSpPr>
          <p:spPr>
            <a:xfrm flipV="1">
              <a:off x="851" y="7909"/>
              <a:ext cx="1952" cy="458"/>
            </a:xfrm>
            <a:prstGeom prst="roundRect">
              <a:avLst>
                <a:gd name="adj" fmla="val 50000"/>
              </a:avLst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41300" dist="101600" dir="5400000" sx="86000" sy="86000" algn="t" rotWithShape="0">
                <a:prstClr val="black">
                  <a:alpha val="3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87" name="文本框 486">
              <a:extLst>
                <a:ext uri="{FF2B5EF4-FFF2-40B4-BE49-F238E27FC236}">
                  <a16:creationId xmlns:a16="http://schemas.microsoft.com/office/drawing/2014/main" id="{05176AF1-B29F-114F-9375-5450DBA77CC2}"/>
                </a:ext>
              </a:extLst>
            </p:cNvPr>
            <p:cNvSpPr txBox="1"/>
            <p:nvPr/>
          </p:nvSpPr>
          <p:spPr>
            <a:xfrm>
              <a:off x="748" y="3846"/>
              <a:ext cx="2963" cy="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打通智能硬件通信壁垒，实现多设备协同联动，赋能工业产线自动化升级。</a:t>
              </a:r>
            </a:p>
          </p:txBody>
        </p:sp>
        <p:sp>
          <p:nvSpPr>
            <p:cNvPr id="488" name="文本框 487">
              <a:extLst>
                <a:ext uri="{FF2B5EF4-FFF2-40B4-BE49-F238E27FC236}">
                  <a16:creationId xmlns:a16="http://schemas.microsoft.com/office/drawing/2014/main" id="{2EFC6C2A-7658-D49B-553E-53A78434155F}"/>
                </a:ext>
              </a:extLst>
            </p:cNvPr>
            <p:cNvSpPr txBox="1"/>
            <p:nvPr/>
          </p:nvSpPr>
          <p:spPr>
            <a:xfrm>
              <a:off x="748" y="6193"/>
              <a:ext cx="2963" cy="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整合家居智能硬件资源，构建全屋协同体系，打造便捷舒适智慧生活场景。</a:t>
              </a:r>
            </a:p>
          </p:txBody>
        </p:sp>
        <p:sp>
          <p:nvSpPr>
            <p:cNvPr id="489" name="文本框 488">
              <a:extLst>
                <a:ext uri="{FF2B5EF4-FFF2-40B4-BE49-F238E27FC236}">
                  <a16:creationId xmlns:a16="http://schemas.microsoft.com/office/drawing/2014/main" id="{320A8761-80D7-6A2B-92C8-90FCF626473F}"/>
                </a:ext>
              </a:extLst>
            </p:cNvPr>
            <p:cNvSpPr txBox="1"/>
            <p:nvPr/>
          </p:nvSpPr>
          <p:spPr>
            <a:xfrm>
              <a:off x="748" y="8497"/>
              <a:ext cx="2963" cy="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联动零售智能硬件设备，实现数据实时互通，助力门店精准营销与运营提效。</a:t>
              </a:r>
            </a:p>
          </p:txBody>
        </p:sp>
        <p:sp>
          <p:nvSpPr>
            <p:cNvPr id="490" name="文本框 489">
              <a:extLst>
                <a:ext uri="{FF2B5EF4-FFF2-40B4-BE49-F238E27FC236}">
                  <a16:creationId xmlns:a16="http://schemas.microsoft.com/office/drawing/2014/main" id="{516563A4-7C5D-3B60-3E31-916451DA61D5}"/>
                </a:ext>
              </a:extLst>
            </p:cNvPr>
            <p:cNvSpPr txBox="1"/>
            <p:nvPr/>
          </p:nvSpPr>
          <p:spPr>
            <a:xfrm>
              <a:off x="874" y="3282"/>
              <a:ext cx="189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硬件智联</a:t>
              </a:r>
            </a:p>
          </p:txBody>
        </p:sp>
        <p:sp>
          <p:nvSpPr>
            <p:cNvPr id="491" name="文本框 490">
              <a:extLst>
                <a:ext uri="{FF2B5EF4-FFF2-40B4-BE49-F238E27FC236}">
                  <a16:creationId xmlns:a16="http://schemas.microsoft.com/office/drawing/2014/main" id="{19DB0E38-6524-D149-A250-533F5BF222F5}"/>
                </a:ext>
              </a:extLst>
            </p:cNvPr>
            <p:cNvSpPr txBox="1"/>
            <p:nvPr/>
          </p:nvSpPr>
          <p:spPr>
            <a:xfrm>
              <a:off x="874" y="5602"/>
              <a:ext cx="189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协同联动</a:t>
              </a:r>
            </a:p>
          </p:txBody>
        </p:sp>
        <p:sp>
          <p:nvSpPr>
            <p:cNvPr id="492" name="文本框 491">
              <a:extLst>
                <a:ext uri="{FF2B5EF4-FFF2-40B4-BE49-F238E27FC236}">
                  <a16:creationId xmlns:a16="http://schemas.microsoft.com/office/drawing/2014/main" id="{E1F32287-E2DE-5066-8CD4-B9A94DB92C58}"/>
                </a:ext>
              </a:extLst>
            </p:cNvPr>
            <p:cNvSpPr txBox="1"/>
            <p:nvPr/>
          </p:nvSpPr>
          <p:spPr>
            <a:xfrm>
              <a:off x="874" y="7921"/>
              <a:ext cx="189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场景赋能</a:t>
              </a:r>
            </a:p>
          </p:txBody>
        </p:sp>
      </p:grpSp>
      <p:grpSp>
        <p:nvGrpSpPr>
          <p:cNvPr id="493" name="组合 492">
            <a:extLst>
              <a:ext uri="{FF2B5EF4-FFF2-40B4-BE49-F238E27FC236}">
                <a16:creationId xmlns:a16="http://schemas.microsoft.com/office/drawing/2014/main" id="{28FBD3F0-CCB9-0615-28AC-2BA3681F9CDA}"/>
              </a:ext>
            </a:extLst>
          </p:cNvPr>
          <p:cNvGrpSpPr/>
          <p:nvPr/>
        </p:nvGrpSpPr>
        <p:grpSpPr>
          <a:xfrm>
            <a:off x="4646930" y="2499360"/>
            <a:ext cx="2937510" cy="2459990"/>
            <a:chOff x="7318" y="3936"/>
            <a:chExt cx="4626" cy="3874"/>
          </a:xfrm>
        </p:grpSpPr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BA89A5FB-66D1-3B70-34B9-54641C4AD6C8}"/>
                </a:ext>
              </a:extLst>
            </p:cNvPr>
            <p:cNvSpPr/>
            <p:nvPr/>
          </p:nvSpPr>
          <p:spPr>
            <a:xfrm>
              <a:off x="7659" y="3936"/>
              <a:ext cx="3874" cy="3874"/>
            </a:xfrm>
            <a:prstGeom prst="ellipse">
              <a:avLst/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09600" dist="520700" dir="5400000" sx="83000" sy="83000" algn="t" rotWithShape="0">
                <a:srgbClr val="211235">
                  <a:alpha val="31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495" name="文本框 494">
              <a:extLst>
                <a:ext uri="{FF2B5EF4-FFF2-40B4-BE49-F238E27FC236}">
                  <a16:creationId xmlns:a16="http://schemas.microsoft.com/office/drawing/2014/main" id="{E2AD6BC3-AAF1-E8E9-B1C5-FD457E0E9CE6}"/>
                </a:ext>
              </a:extLst>
            </p:cNvPr>
            <p:cNvSpPr txBox="1"/>
            <p:nvPr/>
          </p:nvSpPr>
          <p:spPr>
            <a:xfrm>
              <a:off x="7830" y="6193"/>
              <a:ext cx="3602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智联硬件组网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协同赋能业务</a:t>
              </a:r>
            </a:p>
          </p:txBody>
        </p:sp>
        <p:sp>
          <p:nvSpPr>
            <p:cNvPr id="496" name="文本框 495">
              <a:extLst>
                <a:ext uri="{FF2B5EF4-FFF2-40B4-BE49-F238E27FC236}">
                  <a16:creationId xmlns:a16="http://schemas.microsoft.com/office/drawing/2014/main" id="{CB361534-0C7F-7A62-4C7B-E26ECD97AE79}"/>
                </a:ext>
              </a:extLst>
            </p:cNvPr>
            <p:cNvSpPr txBox="1"/>
            <p:nvPr/>
          </p:nvSpPr>
          <p:spPr>
            <a:xfrm>
              <a:off x="7318" y="5080"/>
              <a:ext cx="4626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智能硬件全域协同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赋能场景高效运转</a:t>
              </a:r>
            </a:p>
          </p:txBody>
        </p:sp>
      </p:grpSp>
      <p:sp>
        <p:nvSpPr>
          <p:cNvPr id="351" name="文本框 350">
            <a:extLst>
              <a:ext uri="{FF2B5EF4-FFF2-40B4-BE49-F238E27FC236}">
                <a16:creationId xmlns:a16="http://schemas.microsoft.com/office/drawing/2014/main" id="{19BAEBE1-E0B0-DD03-BA84-47DEC1B8B202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智联硬件 协同赋能 </a:t>
            </a:r>
            <a:endParaRPr lang="ja-JP" altLang="en-US" sz="30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446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CE7C-C265-3A59-F51A-6A3B0644F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 350">
            <a:extLst>
              <a:ext uri="{FF2B5EF4-FFF2-40B4-BE49-F238E27FC236}">
                <a16:creationId xmlns:a16="http://schemas.microsoft.com/office/drawing/2014/main" id="{39A4E3DF-DF28-1A24-6423-C5065BC59566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ja-JP" altLang="en-US" sz="3000" dirty="0">
                <a:sym typeface="+mn-ea"/>
              </a:rPr>
              <a:t>日志溯源・全链行为可视化审</a:t>
            </a:r>
          </a:p>
        </p:txBody>
      </p:sp>
      <p:grpSp>
        <p:nvGrpSpPr>
          <p:cNvPr id="329" name="组合 328">
            <a:extLst>
              <a:ext uri="{FF2B5EF4-FFF2-40B4-BE49-F238E27FC236}">
                <a16:creationId xmlns:a16="http://schemas.microsoft.com/office/drawing/2014/main" id="{4C314DDE-05D1-2566-3E9D-67149530ACB3}"/>
              </a:ext>
            </a:extLst>
          </p:cNvPr>
          <p:cNvGrpSpPr/>
          <p:nvPr/>
        </p:nvGrpSpPr>
        <p:grpSpPr>
          <a:xfrm>
            <a:off x="577850" y="4916170"/>
            <a:ext cx="2742565" cy="1948180"/>
            <a:chOff x="910" y="7742"/>
            <a:chExt cx="4319" cy="3068"/>
          </a:xfrm>
        </p:grpSpPr>
        <p:sp>
          <p:nvSpPr>
            <p:cNvPr id="330" name="矩形: 圆角 131">
              <a:extLst>
                <a:ext uri="{FF2B5EF4-FFF2-40B4-BE49-F238E27FC236}">
                  <a16:creationId xmlns:a16="http://schemas.microsoft.com/office/drawing/2014/main" id="{33C21EDF-D072-C2F9-7815-7F352498E70D}"/>
                </a:ext>
              </a:extLst>
            </p:cNvPr>
            <p:cNvSpPr/>
            <p:nvPr/>
          </p:nvSpPr>
          <p:spPr>
            <a:xfrm>
              <a:off x="910" y="7742"/>
              <a:ext cx="4239" cy="306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en-ID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CAB5D4DF-F064-9B86-7453-216D84310B75}"/>
                </a:ext>
              </a:extLst>
            </p:cNvPr>
            <p:cNvSpPr txBox="1"/>
            <p:nvPr/>
          </p:nvSpPr>
          <p:spPr>
            <a:xfrm>
              <a:off x="919" y="8703"/>
              <a:ext cx="396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zh-CN" altLang="en-US" sz="1000" dirty="0">
                  <a:solidFill>
                    <a:srgbClr val="000000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汇聚多节点日志数据，关联分析全链行为，实现安全事件可视化追踪与快速定位。</a:t>
              </a:r>
            </a:p>
          </p:txBody>
        </p:sp>
        <p:sp>
          <p:nvSpPr>
            <p:cNvPr id="332" name="文本框 331">
              <a:extLst>
                <a:ext uri="{FF2B5EF4-FFF2-40B4-BE49-F238E27FC236}">
                  <a16:creationId xmlns:a16="http://schemas.microsoft.com/office/drawing/2014/main" id="{294029A2-018C-1ED2-3AA9-3EE4E7E71C34}"/>
                </a:ext>
              </a:extLst>
            </p:cNvPr>
            <p:cNvSpPr txBox="1"/>
            <p:nvPr/>
          </p:nvSpPr>
          <p:spPr>
            <a:xfrm>
              <a:off x="919" y="8220"/>
              <a:ext cx="43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行为留痕</a:t>
              </a:r>
              <a:r>
                <a:rPr lang="en-US" altLang="zh-CN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zh-CN" altLang="en-US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异常秒级定位</a:t>
              </a:r>
            </a:p>
          </p:txBody>
        </p:sp>
      </p:grpSp>
      <p:grpSp>
        <p:nvGrpSpPr>
          <p:cNvPr id="333" name="组合 332">
            <a:extLst>
              <a:ext uri="{FF2B5EF4-FFF2-40B4-BE49-F238E27FC236}">
                <a16:creationId xmlns:a16="http://schemas.microsoft.com/office/drawing/2014/main" id="{3ACDE7D6-CEF4-B921-0BBB-E0D7CC181502}"/>
              </a:ext>
            </a:extLst>
          </p:cNvPr>
          <p:cNvGrpSpPr/>
          <p:nvPr/>
        </p:nvGrpSpPr>
        <p:grpSpPr>
          <a:xfrm>
            <a:off x="3361690" y="4916170"/>
            <a:ext cx="2748280" cy="1948180"/>
            <a:chOff x="5294" y="7742"/>
            <a:chExt cx="4328" cy="3068"/>
          </a:xfrm>
        </p:grpSpPr>
        <p:sp>
          <p:nvSpPr>
            <p:cNvPr id="334" name="矩形: 圆角 131">
              <a:extLst>
                <a:ext uri="{FF2B5EF4-FFF2-40B4-BE49-F238E27FC236}">
                  <a16:creationId xmlns:a16="http://schemas.microsoft.com/office/drawing/2014/main" id="{269BDC32-3BBE-298E-2B63-3D17C6352B61}"/>
                </a:ext>
              </a:extLst>
            </p:cNvPr>
            <p:cNvSpPr/>
            <p:nvPr/>
          </p:nvSpPr>
          <p:spPr>
            <a:xfrm>
              <a:off x="5294" y="7742"/>
              <a:ext cx="4239" cy="306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en-ID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50" name="文本框 349">
              <a:extLst>
                <a:ext uri="{FF2B5EF4-FFF2-40B4-BE49-F238E27FC236}">
                  <a16:creationId xmlns:a16="http://schemas.microsoft.com/office/drawing/2014/main" id="{2D9D5C77-46A1-0D58-DE4C-3D7ADB39FADE}"/>
                </a:ext>
              </a:extLst>
            </p:cNvPr>
            <p:cNvSpPr txBox="1"/>
            <p:nvPr/>
          </p:nvSpPr>
          <p:spPr>
            <a:xfrm>
              <a:off x="5312" y="8703"/>
              <a:ext cx="396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zh-CN" altLang="en-US" sz="1000" dirty="0">
                  <a:solidFill>
                    <a:srgbClr val="000000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搭建日志审计平台，对终端、网络、算力行为留痕，确保风险溯源有迹可循。</a:t>
              </a:r>
            </a:p>
          </p:txBody>
        </p: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E3C25905-B1C3-7A5B-5D07-0847E9B1A28E}"/>
                </a:ext>
              </a:extLst>
            </p:cNvPr>
            <p:cNvSpPr txBox="1"/>
            <p:nvPr/>
          </p:nvSpPr>
          <p:spPr>
            <a:xfrm>
              <a:off x="5312" y="8220"/>
              <a:ext cx="43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全链审计</a:t>
              </a:r>
              <a:r>
                <a:rPr lang="en-US" altLang="zh-CN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zh-CN" altLang="en-US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风险有据可查</a:t>
              </a:r>
            </a:p>
          </p:txBody>
        </p:sp>
      </p:grpSp>
      <p:grpSp>
        <p:nvGrpSpPr>
          <p:cNvPr id="353" name="组合 352">
            <a:extLst>
              <a:ext uri="{FF2B5EF4-FFF2-40B4-BE49-F238E27FC236}">
                <a16:creationId xmlns:a16="http://schemas.microsoft.com/office/drawing/2014/main" id="{07E46821-6174-A367-A8FB-AB2C04382AF4}"/>
              </a:ext>
            </a:extLst>
          </p:cNvPr>
          <p:cNvGrpSpPr/>
          <p:nvPr/>
        </p:nvGrpSpPr>
        <p:grpSpPr>
          <a:xfrm>
            <a:off x="6156960" y="4916170"/>
            <a:ext cx="2742565" cy="1948180"/>
            <a:chOff x="9696" y="7742"/>
            <a:chExt cx="4319" cy="3068"/>
          </a:xfrm>
        </p:grpSpPr>
        <p:sp>
          <p:nvSpPr>
            <p:cNvPr id="354" name="矩形: 圆角 131">
              <a:extLst>
                <a:ext uri="{FF2B5EF4-FFF2-40B4-BE49-F238E27FC236}">
                  <a16:creationId xmlns:a16="http://schemas.microsoft.com/office/drawing/2014/main" id="{74BFA132-FB29-1392-185C-F22A6B030435}"/>
                </a:ext>
              </a:extLst>
            </p:cNvPr>
            <p:cNvSpPr/>
            <p:nvPr/>
          </p:nvSpPr>
          <p:spPr>
            <a:xfrm>
              <a:off x="9696" y="7742"/>
              <a:ext cx="4239" cy="306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en-ID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55" name="文本框 354">
              <a:extLst>
                <a:ext uri="{FF2B5EF4-FFF2-40B4-BE49-F238E27FC236}">
                  <a16:creationId xmlns:a16="http://schemas.microsoft.com/office/drawing/2014/main" id="{644D835F-31B3-F565-20EE-452680FC9548}"/>
                </a:ext>
              </a:extLst>
            </p:cNvPr>
            <p:cNvSpPr txBox="1"/>
            <p:nvPr/>
          </p:nvSpPr>
          <p:spPr>
            <a:xfrm>
              <a:off x="9705" y="8703"/>
              <a:ext cx="396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zh-CN" altLang="en-US" sz="1000" dirty="0">
                  <a:solidFill>
                    <a:srgbClr val="000000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可视化呈现全链行为链路，实时监控日志异动，精准锁定违规操作与攻击路径。</a:t>
              </a:r>
            </a:p>
          </p:txBody>
        </p:sp>
        <p:sp>
          <p:nvSpPr>
            <p:cNvPr id="356" name="文本框 355">
              <a:extLst>
                <a:ext uri="{FF2B5EF4-FFF2-40B4-BE49-F238E27FC236}">
                  <a16:creationId xmlns:a16="http://schemas.microsoft.com/office/drawing/2014/main" id="{4AF7C34A-C985-75C9-86CC-28B3D2E9C62D}"/>
                </a:ext>
              </a:extLst>
            </p:cNvPr>
            <p:cNvSpPr txBox="1"/>
            <p:nvPr/>
          </p:nvSpPr>
          <p:spPr>
            <a:xfrm>
              <a:off x="9705" y="8220"/>
              <a:ext cx="43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日志追踪</a:t>
              </a:r>
              <a:r>
                <a:rPr lang="en-US" altLang="zh-CN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zh-CN" altLang="en-US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安全行为可溯</a:t>
              </a:r>
            </a:p>
          </p:txBody>
        </p:sp>
      </p:grpSp>
      <p:grpSp>
        <p:nvGrpSpPr>
          <p:cNvPr id="357" name="组合 356">
            <a:extLst>
              <a:ext uri="{FF2B5EF4-FFF2-40B4-BE49-F238E27FC236}">
                <a16:creationId xmlns:a16="http://schemas.microsoft.com/office/drawing/2014/main" id="{ECE7B0FB-573A-937A-C8F1-9774B3329A1F}"/>
              </a:ext>
            </a:extLst>
          </p:cNvPr>
          <p:cNvGrpSpPr/>
          <p:nvPr/>
        </p:nvGrpSpPr>
        <p:grpSpPr>
          <a:xfrm>
            <a:off x="8940800" y="4916170"/>
            <a:ext cx="2748280" cy="1948180"/>
            <a:chOff x="14080" y="7742"/>
            <a:chExt cx="4328" cy="3068"/>
          </a:xfrm>
        </p:grpSpPr>
        <p:sp>
          <p:nvSpPr>
            <p:cNvPr id="358" name="矩形: 圆角 131">
              <a:extLst>
                <a:ext uri="{FF2B5EF4-FFF2-40B4-BE49-F238E27FC236}">
                  <a16:creationId xmlns:a16="http://schemas.microsoft.com/office/drawing/2014/main" id="{4222EFA4-BED4-8806-ACF2-75AC57B4B959}"/>
                </a:ext>
              </a:extLst>
            </p:cNvPr>
            <p:cNvSpPr/>
            <p:nvPr/>
          </p:nvSpPr>
          <p:spPr>
            <a:xfrm>
              <a:off x="14080" y="7742"/>
              <a:ext cx="4239" cy="306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en-ID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59" name="文本框 358">
              <a:extLst>
                <a:ext uri="{FF2B5EF4-FFF2-40B4-BE49-F238E27FC236}">
                  <a16:creationId xmlns:a16="http://schemas.microsoft.com/office/drawing/2014/main" id="{1677D70D-8207-BE56-D746-18278E4CCBC9}"/>
                </a:ext>
              </a:extLst>
            </p:cNvPr>
            <p:cNvSpPr txBox="1"/>
            <p:nvPr/>
          </p:nvSpPr>
          <p:spPr>
            <a:xfrm>
              <a:off x="14098" y="8703"/>
              <a:ext cx="396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zh-CN" altLang="en-US" sz="1000" dirty="0">
                  <a:solidFill>
                    <a:srgbClr val="000000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整合跨域日志信息，建立审计分析模型，为安全事件处置提供完整溯源依据。</a:t>
              </a:r>
            </a:p>
          </p:txBody>
        </p:sp>
        <p:sp>
          <p:nvSpPr>
            <p:cNvPr id="360" name="文本框 359">
              <a:extLst>
                <a:ext uri="{FF2B5EF4-FFF2-40B4-BE49-F238E27FC236}">
                  <a16:creationId xmlns:a16="http://schemas.microsoft.com/office/drawing/2014/main" id="{315C1CF2-3B7F-A4BC-A2B0-E43395919D99}"/>
                </a:ext>
              </a:extLst>
            </p:cNvPr>
            <p:cNvSpPr txBox="1"/>
            <p:nvPr/>
          </p:nvSpPr>
          <p:spPr>
            <a:xfrm>
              <a:off x="14098" y="8220"/>
              <a:ext cx="43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可视审计</a:t>
              </a:r>
              <a:r>
                <a:rPr lang="en-US" altLang="zh-CN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zh-CN" altLang="en-US" sz="14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威胁全程溯源</a:t>
              </a:r>
            </a:p>
          </p:txBody>
        </p: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id="{D4517441-27E7-ADAD-0DED-8876E76A6692}"/>
              </a:ext>
            </a:extLst>
          </p:cNvPr>
          <p:cNvGrpSpPr/>
          <p:nvPr/>
        </p:nvGrpSpPr>
        <p:grpSpPr>
          <a:xfrm>
            <a:off x="584200" y="1500505"/>
            <a:ext cx="11047730" cy="662305"/>
            <a:chOff x="920" y="2363"/>
            <a:chExt cx="17398" cy="1043"/>
          </a:xfrm>
        </p:grpSpPr>
        <p:sp>
          <p:nvSpPr>
            <p:cNvPr id="362" name="文本框 361">
              <a:extLst>
                <a:ext uri="{FF2B5EF4-FFF2-40B4-BE49-F238E27FC236}">
                  <a16:creationId xmlns:a16="http://schemas.microsoft.com/office/drawing/2014/main" id="{F2787861-2B6B-5EF6-C29F-DC411AF0381C}"/>
                </a:ext>
              </a:extLst>
            </p:cNvPr>
            <p:cNvSpPr txBox="1"/>
            <p:nvPr/>
          </p:nvSpPr>
          <p:spPr>
            <a:xfrm>
              <a:off x="6717" y="2363"/>
              <a:ext cx="576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zh-CN" altLang="en-US" sz="16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日志溯源</a:t>
              </a:r>
              <a:r>
                <a:rPr lang="en-US" altLang="zh-CN" sz="16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</a:t>
              </a:r>
              <a:r>
                <a:rPr lang="zh-CN" altLang="en-US" sz="16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全链可视审计</a:t>
              </a:r>
            </a:p>
          </p:txBody>
        </p:sp>
        <p:sp>
          <p:nvSpPr>
            <p:cNvPr id="363" name="文本框 362">
              <a:extLst>
                <a:ext uri="{FF2B5EF4-FFF2-40B4-BE49-F238E27FC236}">
                  <a16:creationId xmlns:a16="http://schemas.microsoft.com/office/drawing/2014/main" id="{B5544A4E-8FAF-42F5-2465-989142529738}"/>
                </a:ext>
              </a:extLst>
            </p:cNvPr>
            <p:cNvSpPr txBox="1"/>
            <p:nvPr/>
          </p:nvSpPr>
          <p:spPr>
            <a:xfrm>
              <a:off x="920" y="2972"/>
              <a:ext cx="173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>
                <a:defRPr/>
              </a:pPr>
              <a:r>
                <a:rPr lang="zh-CN" altLang="en-US" sz="12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整合终端、边缘、核心算力节点的全链路日志数据，搭建可视化审计分析平台，实现行为轨迹全程留痕，责任界定与整改优化提供完整数据支撑。</a:t>
              </a:r>
            </a:p>
          </p:txBody>
        </p:sp>
      </p:grpSp>
      <p:sp>
        <p:nvSpPr>
          <p:cNvPr id="364" name="矩形: 圆角 131">
            <a:extLst>
              <a:ext uri="{FF2B5EF4-FFF2-40B4-BE49-F238E27FC236}">
                <a16:creationId xmlns:a16="http://schemas.microsoft.com/office/drawing/2014/main" id="{9A0AE05E-F5E4-319E-158B-494CAAFFA84B}"/>
              </a:ext>
            </a:extLst>
          </p:cNvPr>
          <p:cNvSpPr/>
          <p:nvPr/>
        </p:nvSpPr>
        <p:spPr>
          <a:xfrm>
            <a:off x="577850" y="2240915"/>
            <a:ext cx="2692400" cy="2689225"/>
          </a:xfrm>
          <a:prstGeom prst="rect">
            <a:avLst/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241300" dist="368300" dir="5400000" sx="90000" sy="90000" algn="t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365" name="矩形: 圆角 131">
            <a:extLst>
              <a:ext uri="{FF2B5EF4-FFF2-40B4-BE49-F238E27FC236}">
                <a16:creationId xmlns:a16="http://schemas.microsoft.com/office/drawing/2014/main" id="{2E9EE77A-70A0-F37B-0F12-5CEB87F6F221}"/>
              </a:ext>
            </a:extLst>
          </p:cNvPr>
          <p:cNvSpPr/>
          <p:nvPr/>
        </p:nvSpPr>
        <p:spPr>
          <a:xfrm>
            <a:off x="3367405" y="2240915"/>
            <a:ext cx="2692400" cy="2689225"/>
          </a:xfrm>
          <a:prstGeom prst="rect">
            <a:avLst/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241300" dist="368300" dir="5400000" sx="90000" sy="90000" algn="t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366" name="矩形: 圆角 131">
            <a:extLst>
              <a:ext uri="{FF2B5EF4-FFF2-40B4-BE49-F238E27FC236}">
                <a16:creationId xmlns:a16="http://schemas.microsoft.com/office/drawing/2014/main" id="{37F4E372-2DB8-1944-B486-A733502DAFFF}"/>
              </a:ext>
            </a:extLst>
          </p:cNvPr>
          <p:cNvSpPr/>
          <p:nvPr/>
        </p:nvSpPr>
        <p:spPr>
          <a:xfrm>
            <a:off x="6156960" y="2240915"/>
            <a:ext cx="2692400" cy="2689225"/>
          </a:xfrm>
          <a:prstGeom prst="rect">
            <a:avLst/>
          </a:prstGeom>
          <a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241300" dist="368300" dir="5400000" sx="90000" sy="90000" algn="t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367" name="矩形: 圆角 131">
            <a:extLst>
              <a:ext uri="{FF2B5EF4-FFF2-40B4-BE49-F238E27FC236}">
                <a16:creationId xmlns:a16="http://schemas.microsoft.com/office/drawing/2014/main" id="{2266E201-794E-8075-DB3F-3026C6EF0F30}"/>
              </a:ext>
            </a:extLst>
          </p:cNvPr>
          <p:cNvSpPr/>
          <p:nvPr/>
        </p:nvSpPr>
        <p:spPr>
          <a:xfrm>
            <a:off x="8946515" y="2240915"/>
            <a:ext cx="2692400" cy="2689225"/>
          </a:xfrm>
          <a:prstGeom prst="rect">
            <a:avLst/>
          </a:prstGeom>
          <a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241300" dist="368300" dir="5400000" sx="90000" sy="90000" algn="t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grpSp>
        <p:nvGrpSpPr>
          <p:cNvPr id="368" name="组合 367">
            <a:extLst>
              <a:ext uri="{FF2B5EF4-FFF2-40B4-BE49-F238E27FC236}">
                <a16:creationId xmlns:a16="http://schemas.microsoft.com/office/drawing/2014/main" id="{AB8F0152-3A4C-64C4-679C-2187AD2986E6}"/>
              </a:ext>
            </a:extLst>
          </p:cNvPr>
          <p:cNvGrpSpPr/>
          <p:nvPr/>
        </p:nvGrpSpPr>
        <p:grpSpPr>
          <a:xfrm>
            <a:off x="577850" y="2239010"/>
            <a:ext cx="2692400" cy="2692400"/>
            <a:chOff x="910" y="3528"/>
            <a:chExt cx="4240" cy="4240"/>
          </a:xfrm>
        </p:grpSpPr>
        <p:sp>
          <p:nvSpPr>
            <p:cNvPr id="369" name="矩形: 圆角 131">
              <a:extLst>
                <a:ext uri="{FF2B5EF4-FFF2-40B4-BE49-F238E27FC236}">
                  <a16:creationId xmlns:a16="http://schemas.microsoft.com/office/drawing/2014/main" id="{B334804E-E585-890B-5AD7-7559C23EA49B}"/>
                </a:ext>
              </a:extLst>
            </p:cNvPr>
            <p:cNvSpPr/>
            <p:nvPr/>
          </p:nvSpPr>
          <p:spPr>
            <a:xfrm flipV="1">
              <a:off x="910" y="3528"/>
              <a:ext cx="4240" cy="4241"/>
            </a:xfrm>
            <a:prstGeom prst="rect">
              <a:avLst/>
            </a:prstGeom>
            <a:gradFill>
              <a:gsLst>
                <a:gs pos="29000">
                  <a:srgbClr val="7928D5">
                    <a:alpha val="0"/>
                  </a:srgbClr>
                </a:gs>
                <a:gs pos="100000">
                  <a:srgbClr val="7928D5"/>
                </a:gs>
              </a:gsLst>
              <a:lin ang="642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70" name="文本框 369">
              <a:extLst>
                <a:ext uri="{FF2B5EF4-FFF2-40B4-BE49-F238E27FC236}">
                  <a16:creationId xmlns:a16="http://schemas.microsoft.com/office/drawing/2014/main" id="{ADE7A08E-C5B8-70BE-747F-50D557D7CE2F}"/>
                </a:ext>
              </a:extLst>
            </p:cNvPr>
            <p:cNvSpPr txBox="1"/>
            <p:nvPr/>
          </p:nvSpPr>
          <p:spPr>
            <a:xfrm>
              <a:off x="1168" y="3903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371" name="文本框 370">
              <a:extLst>
                <a:ext uri="{FF2B5EF4-FFF2-40B4-BE49-F238E27FC236}">
                  <a16:creationId xmlns:a16="http://schemas.microsoft.com/office/drawing/2014/main" id="{D7903894-A89D-579D-D152-A16F02BDE71C}"/>
                </a:ext>
              </a:extLst>
            </p:cNvPr>
            <p:cNvSpPr txBox="1"/>
            <p:nvPr/>
          </p:nvSpPr>
          <p:spPr>
            <a:xfrm>
              <a:off x="1141" y="4297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  <p:grpSp>
        <p:nvGrpSpPr>
          <p:cNvPr id="372" name="组合 371">
            <a:extLst>
              <a:ext uri="{FF2B5EF4-FFF2-40B4-BE49-F238E27FC236}">
                <a16:creationId xmlns:a16="http://schemas.microsoft.com/office/drawing/2014/main" id="{AD42881E-49B5-58D2-AD48-245D2D3E9846}"/>
              </a:ext>
            </a:extLst>
          </p:cNvPr>
          <p:cNvGrpSpPr/>
          <p:nvPr/>
        </p:nvGrpSpPr>
        <p:grpSpPr>
          <a:xfrm>
            <a:off x="3367405" y="2239010"/>
            <a:ext cx="2692400" cy="2692400"/>
            <a:chOff x="5303" y="3528"/>
            <a:chExt cx="4240" cy="4240"/>
          </a:xfrm>
        </p:grpSpPr>
        <p:sp>
          <p:nvSpPr>
            <p:cNvPr id="373" name="矩形: 圆角 131">
              <a:extLst>
                <a:ext uri="{FF2B5EF4-FFF2-40B4-BE49-F238E27FC236}">
                  <a16:creationId xmlns:a16="http://schemas.microsoft.com/office/drawing/2014/main" id="{41065C59-C48A-E647-A743-8DB166B5E205}"/>
                </a:ext>
              </a:extLst>
            </p:cNvPr>
            <p:cNvSpPr/>
            <p:nvPr/>
          </p:nvSpPr>
          <p:spPr>
            <a:xfrm flipV="1">
              <a:off x="5303" y="3528"/>
              <a:ext cx="4240" cy="4241"/>
            </a:xfrm>
            <a:prstGeom prst="rect">
              <a:avLst/>
            </a:prstGeom>
            <a:gradFill>
              <a:gsLst>
                <a:gs pos="29000">
                  <a:srgbClr val="7928D5">
                    <a:alpha val="0"/>
                  </a:srgbClr>
                </a:gs>
                <a:gs pos="100000">
                  <a:srgbClr val="7928D5"/>
                </a:gs>
              </a:gsLst>
              <a:lin ang="642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6FFA09C6-B048-2BE1-6B1C-0BC961AD6B1D}"/>
                </a:ext>
              </a:extLst>
            </p:cNvPr>
            <p:cNvSpPr txBox="1"/>
            <p:nvPr/>
          </p:nvSpPr>
          <p:spPr>
            <a:xfrm>
              <a:off x="5561" y="3903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22" name="文本框 421">
              <a:extLst>
                <a:ext uri="{FF2B5EF4-FFF2-40B4-BE49-F238E27FC236}">
                  <a16:creationId xmlns:a16="http://schemas.microsoft.com/office/drawing/2014/main" id="{717E1AB2-0B48-E44C-0C3B-C16F5C0F16B4}"/>
                </a:ext>
              </a:extLst>
            </p:cNvPr>
            <p:cNvSpPr txBox="1"/>
            <p:nvPr/>
          </p:nvSpPr>
          <p:spPr>
            <a:xfrm>
              <a:off x="5534" y="4297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993D448E-2920-F375-41AA-A73BEBFE74AD}"/>
              </a:ext>
            </a:extLst>
          </p:cNvPr>
          <p:cNvGrpSpPr/>
          <p:nvPr/>
        </p:nvGrpSpPr>
        <p:grpSpPr>
          <a:xfrm>
            <a:off x="6156960" y="2239010"/>
            <a:ext cx="2692400" cy="2692400"/>
            <a:chOff x="9696" y="3528"/>
            <a:chExt cx="4240" cy="4240"/>
          </a:xfrm>
        </p:grpSpPr>
        <p:sp>
          <p:nvSpPr>
            <p:cNvPr id="424" name="矩形: 圆角 131">
              <a:extLst>
                <a:ext uri="{FF2B5EF4-FFF2-40B4-BE49-F238E27FC236}">
                  <a16:creationId xmlns:a16="http://schemas.microsoft.com/office/drawing/2014/main" id="{3D5D80E7-7F0E-8048-E6F7-44369BD8DA00}"/>
                </a:ext>
              </a:extLst>
            </p:cNvPr>
            <p:cNvSpPr/>
            <p:nvPr/>
          </p:nvSpPr>
          <p:spPr>
            <a:xfrm flipV="1">
              <a:off x="9696" y="3528"/>
              <a:ext cx="4240" cy="4241"/>
            </a:xfrm>
            <a:prstGeom prst="rect">
              <a:avLst/>
            </a:prstGeom>
            <a:gradFill>
              <a:gsLst>
                <a:gs pos="29000">
                  <a:srgbClr val="7928D5">
                    <a:alpha val="0"/>
                  </a:srgbClr>
                </a:gs>
                <a:gs pos="100000">
                  <a:srgbClr val="7928D5"/>
                </a:gs>
              </a:gsLst>
              <a:lin ang="642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25" name="文本框 424">
              <a:extLst>
                <a:ext uri="{FF2B5EF4-FFF2-40B4-BE49-F238E27FC236}">
                  <a16:creationId xmlns:a16="http://schemas.microsoft.com/office/drawing/2014/main" id="{88BD36A9-DDFB-8A78-2E44-DFE7EC17B240}"/>
                </a:ext>
              </a:extLst>
            </p:cNvPr>
            <p:cNvSpPr txBox="1"/>
            <p:nvPr/>
          </p:nvSpPr>
          <p:spPr>
            <a:xfrm>
              <a:off x="9954" y="3903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26" name="文本框 425">
              <a:extLst>
                <a:ext uri="{FF2B5EF4-FFF2-40B4-BE49-F238E27FC236}">
                  <a16:creationId xmlns:a16="http://schemas.microsoft.com/office/drawing/2014/main" id="{3BE6D882-B6C8-E2A6-FAD4-45782346EE14}"/>
                </a:ext>
              </a:extLst>
            </p:cNvPr>
            <p:cNvSpPr txBox="1"/>
            <p:nvPr/>
          </p:nvSpPr>
          <p:spPr>
            <a:xfrm>
              <a:off x="9927" y="4297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  <p:grpSp>
        <p:nvGrpSpPr>
          <p:cNvPr id="427" name="组合 426">
            <a:extLst>
              <a:ext uri="{FF2B5EF4-FFF2-40B4-BE49-F238E27FC236}">
                <a16:creationId xmlns:a16="http://schemas.microsoft.com/office/drawing/2014/main" id="{E01406BD-DEEE-88FA-2F07-166A7378F782}"/>
              </a:ext>
            </a:extLst>
          </p:cNvPr>
          <p:cNvGrpSpPr/>
          <p:nvPr/>
        </p:nvGrpSpPr>
        <p:grpSpPr>
          <a:xfrm>
            <a:off x="8946515" y="2239010"/>
            <a:ext cx="2692400" cy="2692400"/>
            <a:chOff x="14089" y="3528"/>
            <a:chExt cx="4240" cy="4240"/>
          </a:xfrm>
        </p:grpSpPr>
        <p:sp>
          <p:nvSpPr>
            <p:cNvPr id="428" name="矩形: 圆角 131">
              <a:extLst>
                <a:ext uri="{FF2B5EF4-FFF2-40B4-BE49-F238E27FC236}">
                  <a16:creationId xmlns:a16="http://schemas.microsoft.com/office/drawing/2014/main" id="{96656A08-E8D0-3F9D-640C-95F3FE61D3E1}"/>
                </a:ext>
              </a:extLst>
            </p:cNvPr>
            <p:cNvSpPr/>
            <p:nvPr/>
          </p:nvSpPr>
          <p:spPr>
            <a:xfrm flipV="1">
              <a:off x="14089" y="3528"/>
              <a:ext cx="4240" cy="4241"/>
            </a:xfrm>
            <a:prstGeom prst="rect">
              <a:avLst/>
            </a:prstGeom>
            <a:gradFill>
              <a:gsLst>
                <a:gs pos="29000">
                  <a:srgbClr val="7928D5">
                    <a:alpha val="0"/>
                  </a:srgbClr>
                </a:gs>
                <a:gs pos="100000">
                  <a:srgbClr val="7928D5"/>
                </a:gs>
              </a:gsLst>
              <a:lin ang="642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429" name="文本框 428">
              <a:extLst>
                <a:ext uri="{FF2B5EF4-FFF2-40B4-BE49-F238E27FC236}">
                  <a16:creationId xmlns:a16="http://schemas.microsoft.com/office/drawing/2014/main" id="{CB40B312-4A52-2678-72C6-DAC6F18AFCEA}"/>
                </a:ext>
              </a:extLst>
            </p:cNvPr>
            <p:cNvSpPr txBox="1"/>
            <p:nvPr/>
          </p:nvSpPr>
          <p:spPr>
            <a:xfrm>
              <a:off x="14347" y="3903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430" name="文本框 429">
              <a:extLst>
                <a:ext uri="{FF2B5EF4-FFF2-40B4-BE49-F238E27FC236}">
                  <a16:creationId xmlns:a16="http://schemas.microsoft.com/office/drawing/2014/main" id="{5A1E7932-BFA2-F57F-7654-48EA39C7AAD8}"/>
                </a:ext>
              </a:extLst>
            </p:cNvPr>
            <p:cNvSpPr txBox="1"/>
            <p:nvPr/>
          </p:nvSpPr>
          <p:spPr>
            <a:xfrm>
              <a:off x="14320" y="4297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469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E7BA-0AF5-7904-AC02-22634920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文本框 459">
            <a:extLst>
              <a:ext uri="{FF2B5EF4-FFF2-40B4-BE49-F238E27FC236}">
                <a16:creationId xmlns:a16="http://schemas.microsoft.com/office/drawing/2014/main" id="{B6114021-8350-A9FF-E174-1C8FFB248FC1}"/>
              </a:ext>
            </a:extLst>
          </p:cNvPr>
          <p:cNvSpPr txBox="1"/>
          <p:nvPr/>
        </p:nvSpPr>
        <p:spPr>
          <a:xfrm>
            <a:off x="3276600" y="1183005"/>
            <a:ext cx="2915285" cy="30670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defTabSz="914400">
              <a:defRPr/>
            </a:pPr>
            <a:r>
              <a:rPr lang="en-US" altLang="zh-CN" sz="1400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rPr>
              <a:t>Continuously  innovative</a:t>
            </a:r>
          </a:p>
        </p:txBody>
      </p:sp>
      <p:sp>
        <p:nvSpPr>
          <p:cNvPr id="461" name="文本框 460">
            <a:extLst>
              <a:ext uri="{FF2B5EF4-FFF2-40B4-BE49-F238E27FC236}">
                <a16:creationId xmlns:a16="http://schemas.microsoft.com/office/drawing/2014/main" id="{C6495EF1-46B7-D310-4718-FC290BD3300F}"/>
              </a:ext>
            </a:extLst>
          </p:cNvPr>
          <p:cNvSpPr txBox="1"/>
          <p:nvPr/>
        </p:nvSpPr>
        <p:spPr>
          <a:xfrm>
            <a:off x="6071870" y="1183005"/>
            <a:ext cx="2915285" cy="30670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defTabSz="914400">
              <a:defRPr/>
            </a:pPr>
            <a:r>
              <a:rPr lang="en-US" altLang="zh-CN" sz="1400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</a:rPr>
              <a:t>Continuously  innovative</a:t>
            </a:r>
          </a:p>
        </p:txBody>
      </p:sp>
      <p:grpSp>
        <p:nvGrpSpPr>
          <p:cNvPr id="462" name="组合 461">
            <a:extLst>
              <a:ext uri="{FF2B5EF4-FFF2-40B4-BE49-F238E27FC236}">
                <a16:creationId xmlns:a16="http://schemas.microsoft.com/office/drawing/2014/main" id="{DB7BA55D-1F44-506E-A3C6-3B647769AAB2}"/>
              </a:ext>
            </a:extLst>
          </p:cNvPr>
          <p:cNvGrpSpPr/>
          <p:nvPr/>
        </p:nvGrpSpPr>
        <p:grpSpPr>
          <a:xfrm>
            <a:off x="475615" y="960120"/>
            <a:ext cx="2921000" cy="5610860"/>
            <a:chOff x="749" y="1512"/>
            <a:chExt cx="4600" cy="8836"/>
          </a:xfrm>
        </p:grpSpPr>
        <p:sp>
          <p:nvSpPr>
            <p:cNvPr id="463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88E6997C-C54F-7156-2E14-A0792571A13A}"/>
                </a:ext>
              </a:extLst>
            </p:cNvPr>
            <p:cNvSpPr/>
            <p:nvPr/>
          </p:nvSpPr>
          <p:spPr>
            <a:xfrm rot="5400000">
              <a:off x="1748" y="7045"/>
              <a:ext cx="2314" cy="4293"/>
            </a:xfrm>
            <a:prstGeom prst="rect">
              <a:avLst/>
            </a:prstGeom>
            <a:solidFill>
              <a:srgbClr val="FFFFFF">
                <a:alpha val="52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64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384CAD81-C3A4-8CE7-80B0-6FE49D7D94C0}"/>
                </a:ext>
              </a:extLst>
            </p:cNvPr>
            <p:cNvSpPr/>
            <p:nvPr/>
          </p:nvSpPr>
          <p:spPr>
            <a:xfrm rot="5400000">
              <a:off x="338" y="1923"/>
              <a:ext cx="5114" cy="4293"/>
            </a:xfrm>
            <a:prstGeom prst="rect">
              <a:avLst/>
            </a:prstGeom>
            <a:blipFill rotWithShape="0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65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30D641CB-5D62-B7D3-5959-5A9AB153DA39}"/>
                </a:ext>
              </a:extLst>
            </p:cNvPr>
            <p:cNvSpPr/>
            <p:nvPr/>
          </p:nvSpPr>
          <p:spPr>
            <a:xfrm rot="5400000">
              <a:off x="347" y="1923"/>
              <a:ext cx="5115" cy="4293"/>
            </a:xfrm>
            <a:prstGeom prst="rect">
              <a:avLst/>
            </a:prstGeom>
            <a:solidFill>
              <a:srgbClr val="211235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66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B0E2ADC4-6BB0-039A-C2F9-50FD87908F57}"/>
                </a:ext>
              </a:extLst>
            </p:cNvPr>
            <p:cNvSpPr/>
            <p:nvPr/>
          </p:nvSpPr>
          <p:spPr>
            <a:xfrm rot="5400000">
              <a:off x="2201" y="5184"/>
              <a:ext cx="1407" cy="4293"/>
            </a:xfrm>
            <a:prstGeom prst="rect">
              <a:avLst/>
            </a:prstGeom>
            <a:solidFill>
              <a:srgbClr val="211235">
                <a:alpha val="97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67" name="Text Placeholder 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A0AEBA00-8819-D590-36DA-B0337A273DCC}"/>
                </a:ext>
              </a:extLst>
            </p:cNvPr>
            <p:cNvSpPr txBox="1"/>
            <p:nvPr/>
          </p:nvSpPr>
          <p:spPr>
            <a:xfrm>
              <a:off x="3231" y="6979"/>
              <a:ext cx="1441" cy="3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sz="1800" b="0" kern="1200" spc="0" baseline="0">
                  <a:solidFill>
                    <a:schemeClr val="tx1"/>
                  </a:solidFill>
                  <a:latin typeface="+mn-lt"/>
                  <a:ea typeface="Work Sans"/>
                  <a:cs typeface="Work Sans"/>
                  <a:sym typeface="Work Sans"/>
                </a:defRPr>
              </a:lvl1pPr>
              <a:lvl2pPr marL="0" indent="0" algn="l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l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39.00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468" name="Text Placeholder 206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593667E9-7C6E-4F59-D700-CE47F74D92F1}"/>
                </a:ext>
              </a:extLst>
            </p:cNvPr>
            <p:cNvSpPr txBox="1"/>
            <p:nvPr/>
          </p:nvSpPr>
          <p:spPr>
            <a:xfrm>
              <a:off x="3231" y="7412"/>
              <a:ext cx="1441" cy="284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lang="en-US" sz="900" b="0" i="0" kern="1200" spc="0" baseline="0" smtClean="0">
                  <a:solidFill>
                    <a:schemeClr val="tx1">
                      <a:lumMod val="95000"/>
                      <a:lumOff val="5000"/>
                      <a:alpha val="4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0" indent="0" algn="ctr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ctr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ctr" defTabSz="90678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ctr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40000"/>
                    </a:srgbClr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Per Month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0000"/>
                  </a:srgbClr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469" name="文本框 468">
              <a:extLst>
                <a:ext uri="{FF2B5EF4-FFF2-40B4-BE49-F238E27FC236}">
                  <a16:creationId xmlns:a16="http://schemas.microsoft.com/office/drawing/2014/main" id="{BC47E776-1365-B4FB-F5F5-6DFE36730672}"/>
                </a:ext>
              </a:extLst>
            </p:cNvPr>
            <p:cNvSpPr txBox="1"/>
            <p:nvPr/>
          </p:nvSpPr>
          <p:spPr>
            <a:xfrm>
              <a:off x="865" y="6979"/>
              <a:ext cx="282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470" name="文本框 469">
              <a:extLst>
                <a:ext uri="{FF2B5EF4-FFF2-40B4-BE49-F238E27FC236}">
                  <a16:creationId xmlns:a16="http://schemas.microsoft.com/office/drawing/2014/main" id="{1456218C-D6B6-2579-3C29-1AA99AAE7380}"/>
                </a:ext>
              </a:extLst>
            </p:cNvPr>
            <p:cNvSpPr txBox="1"/>
            <p:nvPr/>
          </p:nvSpPr>
          <p:spPr>
            <a:xfrm>
              <a:off x="865" y="7364"/>
              <a:ext cx="2544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关键文本信息替换位置</a:t>
              </a:r>
            </a:p>
          </p:txBody>
        </p:sp>
        <p:sp>
          <p:nvSpPr>
            <p:cNvPr id="471" name="文本框 470">
              <a:extLst>
                <a:ext uri="{FF2B5EF4-FFF2-40B4-BE49-F238E27FC236}">
                  <a16:creationId xmlns:a16="http://schemas.microsoft.com/office/drawing/2014/main" id="{D454C04A-670F-1534-6FA2-24CCD2B9C790}"/>
                </a:ext>
              </a:extLst>
            </p:cNvPr>
            <p:cNvSpPr txBox="1"/>
            <p:nvPr/>
          </p:nvSpPr>
          <p:spPr>
            <a:xfrm>
              <a:off x="759" y="1863"/>
              <a:ext cx="4591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Continuously  innovative</a:t>
              </a:r>
            </a:p>
          </p:txBody>
        </p:sp>
        <p:sp>
          <p:nvSpPr>
            <p:cNvPr id="472" name="文本框 471">
              <a:extLst>
                <a:ext uri="{FF2B5EF4-FFF2-40B4-BE49-F238E27FC236}">
                  <a16:creationId xmlns:a16="http://schemas.microsoft.com/office/drawing/2014/main" id="{C5E3C046-AFBF-C86A-64D5-D2C47CE218D7}"/>
                </a:ext>
              </a:extLst>
            </p:cNvPr>
            <p:cNvSpPr txBox="1"/>
            <p:nvPr/>
          </p:nvSpPr>
          <p:spPr>
            <a:xfrm>
              <a:off x="759" y="2391"/>
              <a:ext cx="4270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 Light" charset="0"/>
                  <a:ea typeface="思源黑体 CN" panose="020B0500000000000000" pitchFamily="34" charset="-122"/>
                  <a:cs typeface="Fluent Light" charset="0"/>
                </a:rPr>
                <a:t>Continuously  innovative</a:t>
              </a:r>
            </a:p>
          </p:txBody>
        </p:sp>
        <p:sp>
          <p:nvSpPr>
            <p:cNvPr id="473" name="文本框 472">
              <a:extLst>
                <a:ext uri="{FF2B5EF4-FFF2-40B4-BE49-F238E27FC236}">
                  <a16:creationId xmlns:a16="http://schemas.microsoft.com/office/drawing/2014/main" id="{3A6FA28D-0118-8324-CD8F-07C2051D6A6D}"/>
                </a:ext>
              </a:extLst>
            </p:cNvPr>
            <p:cNvSpPr txBox="1"/>
            <p:nvPr/>
          </p:nvSpPr>
          <p:spPr>
            <a:xfrm>
              <a:off x="865" y="9000"/>
              <a:ext cx="405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搭建全流程智控平台，实时监控产线状态，及时调整生产参数提升效能。</a:t>
              </a:r>
            </a:p>
          </p:txBody>
        </p:sp>
        <p:sp>
          <p:nvSpPr>
            <p:cNvPr id="474" name="文本框 473">
              <a:extLst>
                <a:ext uri="{FF2B5EF4-FFF2-40B4-BE49-F238E27FC236}">
                  <a16:creationId xmlns:a16="http://schemas.microsoft.com/office/drawing/2014/main" id="{675B9E91-DF46-D70B-2C00-F32AEB2B33E7}"/>
                </a:ext>
              </a:extLst>
            </p:cNvPr>
            <p:cNvSpPr txBox="1"/>
            <p:nvPr/>
          </p:nvSpPr>
          <p:spPr>
            <a:xfrm>
              <a:off x="865" y="8471"/>
              <a:ext cx="242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智能管控</a:t>
              </a:r>
            </a:p>
          </p:txBody>
        </p:sp>
      </p:grpSp>
      <p:grpSp>
        <p:nvGrpSpPr>
          <p:cNvPr id="475" name="组合 474">
            <a:extLst>
              <a:ext uri="{FF2B5EF4-FFF2-40B4-BE49-F238E27FC236}">
                <a16:creationId xmlns:a16="http://schemas.microsoft.com/office/drawing/2014/main" id="{558D536A-4529-443E-0D0E-633DFC35A163}"/>
              </a:ext>
            </a:extLst>
          </p:cNvPr>
          <p:cNvGrpSpPr/>
          <p:nvPr/>
        </p:nvGrpSpPr>
        <p:grpSpPr>
          <a:xfrm>
            <a:off x="3270250" y="960120"/>
            <a:ext cx="2731770" cy="5610860"/>
            <a:chOff x="5150" y="1512"/>
            <a:chExt cx="4302" cy="8836"/>
          </a:xfrm>
        </p:grpSpPr>
        <p:sp>
          <p:nvSpPr>
            <p:cNvPr id="476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B4496B04-2BAE-B1F1-EB50-E9A7A7387962}"/>
                </a:ext>
              </a:extLst>
            </p:cNvPr>
            <p:cNvSpPr/>
            <p:nvPr/>
          </p:nvSpPr>
          <p:spPr>
            <a:xfrm rot="5400000">
              <a:off x="6149" y="7045"/>
              <a:ext cx="2314" cy="4293"/>
            </a:xfrm>
            <a:prstGeom prst="rect">
              <a:avLst/>
            </a:prstGeom>
            <a:solidFill>
              <a:srgbClr val="FFFFFF">
                <a:alpha val="52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77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0D574C88-4D9A-EE73-E6DE-7564A014D1F4}"/>
                </a:ext>
              </a:extLst>
            </p:cNvPr>
            <p:cNvSpPr/>
            <p:nvPr/>
          </p:nvSpPr>
          <p:spPr>
            <a:xfrm rot="5400000">
              <a:off x="4739" y="1923"/>
              <a:ext cx="5114" cy="4293"/>
            </a:xfrm>
            <a:prstGeom prst="rect">
              <a:avLst/>
            </a:prstGeom>
            <a:blipFill rotWithShape="0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78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229259D8-47BB-229B-EB31-A6DFB9BD9EAF}"/>
                </a:ext>
              </a:extLst>
            </p:cNvPr>
            <p:cNvSpPr/>
            <p:nvPr/>
          </p:nvSpPr>
          <p:spPr>
            <a:xfrm rot="5400000">
              <a:off x="4748" y="1923"/>
              <a:ext cx="5115" cy="4293"/>
            </a:xfrm>
            <a:prstGeom prst="rect">
              <a:avLst/>
            </a:prstGeom>
            <a:solidFill>
              <a:srgbClr val="211235">
                <a:lumMod val="90000"/>
                <a:lumOff val="10000"/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79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7A133C91-9F0A-101D-F288-57B9EDE81617}"/>
                </a:ext>
              </a:extLst>
            </p:cNvPr>
            <p:cNvSpPr/>
            <p:nvPr/>
          </p:nvSpPr>
          <p:spPr>
            <a:xfrm rot="5400000">
              <a:off x="6603" y="5184"/>
              <a:ext cx="1407" cy="4293"/>
            </a:xfrm>
            <a:prstGeom prst="rect">
              <a:avLst/>
            </a:prstGeom>
            <a:solidFill>
              <a:srgbClr val="211235">
                <a:lumMod val="90000"/>
                <a:lumOff val="10000"/>
                <a:alpha val="97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80" name="Text Placeholder 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676645FB-7C5D-A182-051B-1FE90EBC6D50}"/>
                </a:ext>
              </a:extLst>
            </p:cNvPr>
            <p:cNvSpPr txBox="1"/>
            <p:nvPr/>
          </p:nvSpPr>
          <p:spPr>
            <a:xfrm>
              <a:off x="7601" y="6979"/>
              <a:ext cx="1441" cy="3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sz="1800" b="0" kern="1200" spc="0" baseline="0">
                  <a:solidFill>
                    <a:schemeClr val="tx1"/>
                  </a:solidFill>
                  <a:latin typeface="+mn-lt"/>
                  <a:ea typeface="Work Sans"/>
                  <a:cs typeface="Work Sans"/>
                  <a:sym typeface="Work Sans"/>
                </a:defRPr>
              </a:lvl1pPr>
              <a:lvl2pPr marL="0" indent="0" algn="l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l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39.00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481" name="Text Placeholder 206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4FB09143-F7DB-F6D8-E8FB-66DA18CEBD3A}"/>
                </a:ext>
              </a:extLst>
            </p:cNvPr>
            <p:cNvSpPr txBox="1"/>
            <p:nvPr/>
          </p:nvSpPr>
          <p:spPr>
            <a:xfrm>
              <a:off x="7601" y="7412"/>
              <a:ext cx="1441" cy="284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lang="en-US" sz="900" b="0" i="0" kern="1200" spc="0" baseline="0" smtClean="0">
                  <a:solidFill>
                    <a:schemeClr val="tx1">
                      <a:lumMod val="95000"/>
                      <a:lumOff val="5000"/>
                      <a:alpha val="4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0" indent="0" algn="ctr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ctr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ctr" defTabSz="90678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ctr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40000"/>
                    </a:srgbClr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Per Month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0000"/>
                  </a:srgbClr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482" name="文本框 481">
              <a:extLst>
                <a:ext uri="{FF2B5EF4-FFF2-40B4-BE49-F238E27FC236}">
                  <a16:creationId xmlns:a16="http://schemas.microsoft.com/office/drawing/2014/main" id="{842FFE75-AECC-DD50-A70A-9C18F22CB274}"/>
                </a:ext>
              </a:extLst>
            </p:cNvPr>
            <p:cNvSpPr txBox="1"/>
            <p:nvPr/>
          </p:nvSpPr>
          <p:spPr>
            <a:xfrm>
              <a:off x="5234" y="6979"/>
              <a:ext cx="282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483" name="文本框 482">
              <a:extLst>
                <a:ext uri="{FF2B5EF4-FFF2-40B4-BE49-F238E27FC236}">
                  <a16:creationId xmlns:a16="http://schemas.microsoft.com/office/drawing/2014/main" id="{02840186-BFBB-16F0-094D-A13100B7FFCF}"/>
                </a:ext>
              </a:extLst>
            </p:cNvPr>
            <p:cNvSpPr txBox="1"/>
            <p:nvPr/>
          </p:nvSpPr>
          <p:spPr>
            <a:xfrm>
              <a:off x="5234" y="7364"/>
              <a:ext cx="2544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关键文本信息替换位置</a:t>
              </a:r>
            </a:p>
          </p:txBody>
        </p:sp>
        <p:sp>
          <p:nvSpPr>
            <p:cNvPr id="484" name="文本框 483">
              <a:extLst>
                <a:ext uri="{FF2B5EF4-FFF2-40B4-BE49-F238E27FC236}">
                  <a16:creationId xmlns:a16="http://schemas.microsoft.com/office/drawing/2014/main" id="{28B5C842-6DDD-269D-2D05-312FC0E57822}"/>
                </a:ext>
              </a:extLst>
            </p:cNvPr>
            <p:cNvSpPr txBox="1"/>
            <p:nvPr/>
          </p:nvSpPr>
          <p:spPr>
            <a:xfrm>
              <a:off x="5160" y="2391"/>
              <a:ext cx="4270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 Light" charset="0"/>
                  <a:ea typeface="思源黑体 CN" panose="020B0500000000000000" pitchFamily="34" charset="-122"/>
                  <a:cs typeface="Fluent Light" charset="0"/>
                </a:rPr>
                <a:t>Continuously  innovative</a:t>
              </a:r>
            </a:p>
          </p:txBody>
        </p:sp>
        <p:sp>
          <p:nvSpPr>
            <p:cNvPr id="485" name="文本框 484">
              <a:extLst>
                <a:ext uri="{FF2B5EF4-FFF2-40B4-BE49-F238E27FC236}">
                  <a16:creationId xmlns:a16="http://schemas.microsoft.com/office/drawing/2014/main" id="{34C21B03-0256-3ACE-8AF9-F0614B0856C5}"/>
                </a:ext>
              </a:extLst>
            </p:cNvPr>
            <p:cNvSpPr txBox="1"/>
            <p:nvPr/>
          </p:nvSpPr>
          <p:spPr>
            <a:xfrm>
              <a:off x="5243" y="9000"/>
              <a:ext cx="405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整合生产各环节数据，实现订单、排产、质检智能联动，降低运营成本。</a:t>
              </a:r>
            </a:p>
          </p:txBody>
        </p:sp>
        <p:sp>
          <p:nvSpPr>
            <p:cNvPr id="486" name="文本框 485">
              <a:extLst>
                <a:ext uri="{FF2B5EF4-FFF2-40B4-BE49-F238E27FC236}">
                  <a16:creationId xmlns:a16="http://schemas.microsoft.com/office/drawing/2014/main" id="{5C4C3946-20FB-B196-4D26-D6B97E33093C}"/>
                </a:ext>
              </a:extLst>
            </p:cNvPr>
            <p:cNvSpPr txBox="1"/>
            <p:nvPr/>
          </p:nvSpPr>
          <p:spPr>
            <a:xfrm>
              <a:off x="5243" y="8471"/>
              <a:ext cx="242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降本提效</a:t>
              </a:r>
            </a:p>
          </p:txBody>
        </p:sp>
      </p:grpSp>
      <p:grpSp>
        <p:nvGrpSpPr>
          <p:cNvPr id="487" name="组合 486">
            <a:extLst>
              <a:ext uri="{FF2B5EF4-FFF2-40B4-BE49-F238E27FC236}">
                <a16:creationId xmlns:a16="http://schemas.microsoft.com/office/drawing/2014/main" id="{16539025-A51D-25CE-E42A-093F5B772526}"/>
              </a:ext>
            </a:extLst>
          </p:cNvPr>
          <p:cNvGrpSpPr/>
          <p:nvPr/>
        </p:nvGrpSpPr>
        <p:grpSpPr>
          <a:xfrm>
            <a:off x="6064885" y="960120"/>
            <a:ext cx="2733040" cy="5611495"/>
            <a:chOff x="9551" y="1512"/>
            <a:chExt cx="4304" cy="8837"/>
          </a:xfrm>
        </p:grpSpPr>
        <p:sp>
          <p:nvSpPr>
            <p:cNvPr id="488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BEFAD1D8-B4B1-97F0-B320-3FA020120AF1}"/>
                </a:ext>
              </a:extLst>
            </p:cNvPr>
            <p:cNvSpPr/>
            <p:nvPr/>
          </p:nvSpPr>
          <p:spPr>
            <a:xfrm rot="5400000">
              <a:off x="10552" y="7046"/>
              <a:ext cx="2314" cy="4293"/>
            </a:xfrm>
            <a:prstGeom prst="rect">
              <a:avLst/>
            </a:prstGeom>
            <a:solidFill>
              <a:srgbClr val="FFFFFF">
                <a:alpha val="52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89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9EAB7D7C-6941-2186-DC9C-6D4DEE6D0FD8}"/>
                </a:ext>
              </a:extLst>
            </p:cNvPr>
            <p:cNvSpPr/>
            <p:nvPr/>
          </p:nvSpPr>
          <p:spPr>
            <a:xfrm rot="5400000">
              <a:off x="9140" y="1923"/>
              <a:ext cx="5114" cy="4293"/>
            </a:xfrm>
            <a:prstGeom prst="rect">
              <a:avLst/>
            </a:prstGeom>
            <a:blipFill rotWithShape="0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90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A65483F5-8689-F5C1-2FC0-34DDC53EAD98}"/>
                </a:ext>
              </a:extLst>
            </p:cNvPr>
            <p:cNvSpPr/>
            <p:nvPr/>
          </p:nvSpPr>
          <p:spPr>
            <a:xfrm rot="5400000">
              <a:off x="9150" y="1924"/>
              <a:ext cx="5115" cy="4293"/>
            </a:xfrm>
            <a:prstGeom prst="rect">
              <a:avLst/>
            </a:prstGeom>
            <a:solidFill>
              <a:srgbClr val="3C007F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91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3E922D60-61CA-95DE-4053-D2E80115A3DB}"/>
                </a:ext>
              </a:extLst>
            </p:cNvPr>
            <p:cNvSpPr/>
            <p:nvPr/>
          </p:nvSpPr>
          <p:spPr>
            <a:xfrm rot="5400000">
              <a:off x="11004" y="5184"/>
              <a:ext cx="1407" cy="4293"/>
            </a:xfrm>
            <a:prstGeom prst="rect">
              <a:avLst/>
            </a:prstGeom>
            <a:solidFill>
              <a:srgbClr val="3C007F">
                <a:alpha val="97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492" name="Text Placeholder 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38C8C79D-FE63-DFD7-5F3E-9E384278DC09}"/>
                </a:ext>
              </a:extLst>
            </p:cNvPr>
            <p:cNvSpPr txBox="1"/>
            <p:nvPr/>
          </p:nvSpPr>
          <p:spPr>
            <a:xfrm>
              <a:off x="12002" y="6979"/>
              <a:ext cx="1441" cy="3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sz="1800" b="0" kern="1200" spc="0" baseline="0">
                  <a:solidFill>
                    <a:schemeClr val="tx1"/>
                  </a:solidFill>
                  <a:latin typeface="+mn-lt"/>
                  <a:ea typeface="Work Sans"/>
                  <a:cs typeface="Work Sans"/>
                  <a:sym typeface="Work Sans"/>
                </a:defRPr>
              </a:lvl1pPr>
              <a:lvl2pPr marL="0" indent="0" algn="l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l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39.00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493" name="Text Placeholder 206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C1530D6B-BA5E-5169-8ABD-339B9D3B6D51}"/>
                </a:ext>
              </a:extLst>
            </p:cNvPr>
            <p:cNvSpPr txBox="1"/>
            <p:nvPr/>
          </p:nvSpPr>
          <p:spPr>
            <a:xfrm>
              <a:off x="12002" y="7412"/>
              <a:ext cx="1441" cy="284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lang="en-US" sz="900" b="0" i="0" kern="1200" spc="0" baseline="0" smtClean="0">
                  <a:solidFill>
                    <a:schemeClr val="tx1">
                      <a:lumMod val="95000"/>
                      <a:lumOff val="5000"/>
                      <a:alpha val="4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0" indent="0" algn="ctr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ctr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ctr" defTabSz="90678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ctr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40000"/>
                    </a:srgbClr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Per Month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0000"/>
                  </a:srgbClr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494" name="文本框 493">
              <a:extLst>
                <a:ext uri="{FF2B5EF4-FFF2-40B4-BE49-F238E27FC236}">
                  <a16:creationId xmlns:a16="http://schemas.microsoft.com/office/drawing/2014/main" id="{05A56E0A-DCED-AD0E-5FC1-B27A437EFFE5}"/>
                </a:ext>
              </a:extLst>
            </p:cNvPr>
            <p:cNvSpPr txBox="1"/>
            <p:nvPr/>
          </p:nvSpPr>
          <p:spPr>
            <a:xfrm>
              <a:off x="9636" y="6979"/>
              <a:ext cx="282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495" name="文本框 494">
              <a:extLst>
                <a:ext uri="{FF2B5EF4-FFF2-40B4-BE49-F238E27FC236}">
                  <a16:creationId xmlns:a16="http://schemas.microsoft.com/office/drawing/2014/main" id="{AB0038A9-4E36-0204-F452-BE46EB81F42F}"/>
                </a:ext>
              </a:extLst>
            </p:cNvPr>
            <p:cNvSpPr txBox="1"/>
            <p:nvPr/>
          </p:nvSpPr>
          <p:spPr>
            <a:xfrm>
              <a:off x="9636" y="7364"/>
              <a:ext cx="2544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关键文本信息替换位置</a:t>
              </a:r>
            </a:p>
          </p:txBody>
        </p:sp>
        <p:sp>
          <p:nvSpPr>
            <p:cNvPr id="496" name="文本框 495">
              <a:extLst>
                <a:ext uri="{FF2B5EF4-FFF2-40B4-BE49-F238E27FC236}">
                  <a16:creationId xmlns:a16="http://schemas.microsoft.com/office/drawing/2014/main" id="{01AE32DE-FD67-4626-BC70-A7E26EA2BA27}"/>
                </a:ext>
              </a:extLst>
            </p:cNvPr>
            <p:cNvSpPr txBox="1"/>
            <p:nvPr/>
          </p:nvSpPr>
          <p:spPr>
            <a:xfrm>
              <a:off x="9562" y="2391"/>
              <a:ext cx="4270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 Light" charset="0"/>
                  <a:ea typeface="思源黑体 CN" panose="020B0500000000000000" pitchFamily="34" charset="-122"/>
                  <a:cs typeface="Fluent Light" charset="0"/>
                </a:rPr>
                <a:t>Continuously  innovative</a:t>
              </a:r>
            </a:p>
          </p:txBody>
        </p:sp>
        <p:sp>
          <p:nvSpPr>
            <p:cNvPr id="497" name="文本框 496">
              <a:extLst>
                <a:ext uri="{FF2B5EF4-FFF2-40B4-BE49-F238E27FC236}">
                  <a16:creationId xmlns:a16="http://schemas.microsoft.com/office/drawing/2014/main" id="{B6345EB0-62AE-8757-193A-54D99C2D21A7}"/>
                </a:ext>
              </a:extLst>
            </p:cNvPr>
            <p:cNvSpPr txBox="1"/>
            <p:nvPr/>
          </p:nvSpPr>
          <p:spPr>
            <a:xfrm>
              <a:off x="9636" y="9000"/>
              <a:ext cx="405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部署智能监测设备，自动识别生产异常，减少停机时间保障产能稳定。</a:t>
              </a:r>
            </a:p>
          </p:txBody>
        </p:sp>
        <p:sp>
          <p:nvSpPr>
            <p:cNvPr id="498" name="文本框 497">
              <a:extLst>
                <a:ext uri="{FF2B5EF4-FFF2-40B4-BE49-F238E27FC236}">
                  <a16:creationId xmlns:a16="http://schemas.microsoft.com/office/drawing/2014/main" id="{AEF1457E-9367-2784-7A80-842D774B30C2}"/>
                </a:ext>
              </a:extLst>
            </p:cNvPr>
            <p:cNvSpPr txBox="1"/>
            <p:nvPr/>
          </p:nvSpPr>
          <p:spPr>
            <a:xfrm>
              <a:off x="9636" y="8471"/>
              <a:ext cx="242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流程优化</a:t>
              </a:r>
            </a:p>
          </p:txBody>
        </p:sp>
      </p:grpSp>
      <p:grpSp>
        <p:nvGrpSpPr>
          <p:cNvPr id="499" name="组合 498">
            <a:extLst>
              <a:ext uri="{FF2B5EF4-FFF2-40B4-BE49-F238E27FC236}">
                <a16:creationId xmlns:a16="http://schemas.microsoft.com/office/drawing/2014/main" id="{34084ABF-1526-0AE6-A61E-BE973C9F1AA7}"/>
              </a:ext>
            </a:extLst>
          </p:cNvPr>
          <p:cNvGrpSpPr/>
          <p:nvPr/>
        </p:nvGrpSpPr>
        <p:grpSpPr>
          <a:xfrm>
            <a:off x="8860790" y="960120"/>
            <a:ext cx="2921000" cy="5611495"/>
            <a:chOff x="13954" y="1512"/>
            <a:chExt cx="4600" cy="8837"/>
          </a:xfrm>
        </p:grpSpPr>
        <p:sp>
          <p:nvSpPr>
            <p:cNvPr id="500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16CC26BA-C6D7-4E14-697A-549A5A1A46E6}"/>
                </a:ext>
              </a:extLst>
            </p:cNvPr>
            <p:cNvSpPr/>
            <p:nvPr/>
          </p:nvSpPr>
          <p:spPr>
            <a:xfrm rot="5400000">
              <a:off x="14954" y="7046"/>
              <a:ext cx="2314" cy="4293"/>
            </a:xfrm>
            <a:prstGeom prst="rect">
              <a:avLst/>
            </a:prstGeom>
            <a:solidFill>
              <a:srgbClr val="FFFFFF">
                <a:alpha val="52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501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824A82D0-2AF3-B4C5-66E8-A67AD1A55487}"/>
                </a:ext>
              </a:extLst>
            </p:cNvPr>
            <p:cNvSpPr/>
            <p:nvPr/>
          </p:nvSpPr>
          <p:spPr>
            <a:xfrm rot="5400000">
              <a:off x="13543" y="1923"/>
              <a:ext cx="5114" cy="4293"/>
            </a:xfrm>
            <a:prstGeom prst="rect">
              <a:avLst/>
            </a:prstGeom>
            <a:blipFill rotWithShape="0"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502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123AD33F-17C1-22D2-D255-0EC964B29DE5}"/>
                </a:ext>
              </a:extLst>
            </p:cNvPr>
            <p:cNvSpPr/>
            <p:nvPr/>
          </p:nvSpPr>
          <p:spPr>
            <a:xfrm rot="5400000">
              <a:off x="13553" y="1924"/>
              <a:ext cx="5115" cy="4293"/>
            </a:xfrm>
            <a:prstGeom prst="rect">
              <a:avLst/>
            </a:prstGeom>
            <a:solidFill>
              <a:srgbClr val="7928D5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503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74BCB89D-2AB9-1125-F076-72D96F6DBF99}"/>
                </a:ext>
              </a:extLst>
            </p:cNvPr>
            <p:cNvSpPr/>
            <p:nvPr/>
          </p:nvSpPr>
          <p:spPr>
            <a:xfrm rot="5400000">
              <a:off x="15406" y="5184"/>
              <a:ext cx="1407" cy="4293"/>
            </a:xfrm>
            <a:prstGeom prst="rect">
              <a:avLst/>
            </a:prstGeom>
            <a:solidFill>
              <a:srgbClr val="7928D5">
                <a:alpha val="97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endParaRPr>
            </a:p>
          </p:txBody>
        </p:sp>
        <p:sp>
          <p:nvSpPr>
            <p:cNvPr id="504" name="Text Placeholder 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2AE9DCDF-AD8F-DEC1-2ECA-2C3C9374374D}"/>
                </a:ext>
              </a:extLst>
            </p:cNvPr>
            <p:cNvSpPr txBox="1"/>
            <p:nvPr/>
          </p:nvSpPr>
          <p:spPr>
            <a:xfrm>
              <a:off x="16405" y="6979"/>
              <a:ext cx="1441" cy="3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sz="1800" b="0" kern="1200" spc="0" baseline="0">
                  <a:solidFill>
                    <a:schemeClr val="tx1"/>
                  </a:solidFill>
                  <a:latin typeface="+mn-lt"/>
                  <a:ea typeface="Work Sans"/>
                  <a:cs typeface="Work Sans"/>
                  <a:sym typeface="Work Sans"/>
                </a:defRPr>
              </a:lvl1pPr>
              <a:lvl2pPr marL="0" indent="0" algn="l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l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39.00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505" name="Text Placeholder 206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4480D567-B715-2E13-725C-112E9C11F7C6}"/>
                </a:ext>
              </a:extLst>
            </p:cNvPr>
            <p:cNvSpPr txBox="1"/>
            <p:nvPr/>
          </p:nvSpPr>
          <p:spPr>
            <a:xfrm>
              <a:off x="16405" y="7412"/>
              <a:ext cx="1441" cy="284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lang="en-US" sz="900" b="0" i="0" kern="1200" spc="0" baseline="0" smtClean="0">
                  <a:solidFill>
                    <a:schemeClr val="tx1">
                      <a:lumMod val="95000"/>
                      <a:lumOff val="5000"/>
                      <a:alpha val="4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0" indent="0" algn="ctr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ctr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ctr" defTabSz="90678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ctr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40000"/>
                    </a:srgbClr>
                  </a:solidFill>
                  <a:effectLst/>
                  <a:uLnTx/>
                  <a:uFillTx/>
                  <a:latin typeface="Fluent" charset="0"/>
                  <a:ea typeface="思源黑体 CN"/>
                  <a:cs typeface="Fluent" charset="0"/>
                  <a:sym typeface="+mn-lt"/>
                </a:rPr>
                <a:t>Per Month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0000"/>
                  </a:srgbClr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506" name="文本框 505">
              <a:extLst>
                <a:ext uri="{FF2B5EF4-FFF2-40B4-BE49-F238E27FC236}">
                  <a16:creationId xmlns:a16="http://schemas.microsoft.com/office/drawing/2014/main" id="{BF02CB37-2235-2D37-308B-06DBABE1D0F2}"/>
                </a:ext>
              </a:extLst>
            </p:cNvPr>
            <p:cNvSpPr txBox="1"/>
            <p:nvPr/>
          </p:nvSpPr>
          <p:spPr>
            <a:xfrm>
              <a:off x="14039" y="6979"/>
              <a:ext cx="282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507" name="文本框 506">
              <a:extLst>
                <a:ext uri="{FF2B5EF4-FFF2-40B4-BE49-F238E27FC236}">
                  <a16:creationId xmlns:a16="http://schemas.microsoft.com/office/drawing/2014/main" id="{533C7EB5-4348-4C67-9F36-92C8DEF9FCEF}"/>
                </a:ext>
              </a:extLst>
            </p:cNvPr>
            <p:cNvSpPr txBox="1"/>
            <p:nvPr/>
          </p:nvSpPr>
          <p:spPr>
            <a:xfrm>
              <a:off x="14039" y="7364"/>
              <a:ext cx="2544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44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关键文本信息替换位置</a:t>
              </a:r>
            </a:p>
          </p:txBody>
        </p:sp>
        <p:sp>
          <p:nvSpPr>
            <p:cNvPr id="508" name="文本框 507">
              <a:extLst>
                <a:ext uri="{FF2B5EF4-FFF2-40B4-BE49-F238E27FC236}">
                  <a16:creationId xmlns:a16="http://schemas.microsoft.com/office/drawing/2014/main" id="{9847206F-9E52-01FE-9B9C-8F1A8C631FA3}"/>
                </a:ext>
              </a:extLst>
            </p:cNvPr>
            <p:cNvSpPr txBox="1"/>
            <p:nvPr/>
          </p:nvSpPr>
          <p:spPr>
            <a:xfrm>
              <a:off x="13964" y="1863"/>
              <a:ext cx="4591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Continuously  innovative</a:t>
              </a:r>
            </a:p>
          </p:txBody>
        </p:sp>
        <p:sp>
          <p:nvSpPr>
            <p:cNvPr id="509" name="文本框 508">
              <a:extLst>
                <a:ext uri="{FF2B5EF4-FFF2-40B4-BE49-F238E27FC236}">
                  <a16:creationId xmlns:a16="http://schemas.microsoft.com/office/drawing/2014/main" id="{1AA41A4E-282F-C05C-720E-8A91BF789B9E}"/>
                </a:ext>
              </a:extLst>
            </p:cNvPr>
            <p:cNvSpPr txBox="1"/>
            <p:nvPr/>
          </p:nvSpPr>
          <p:spPr>
            <a:xfrm>
              <a:off x="13964" y="2391"/>
              <a:ext cx="4270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 Light" charset="0"/>
                  <a:ea typeface="思源黑体 CN" panose="020B0500000000000000" pitchFamily="34" charset="-122"/>
                  <a:cs typeface="Fluent Light" charset="0"/>
                </a:rPr>
                <a:t>Continuously  innovative</a:t>
              </a:r>
            </a:p>
          </p:txBody>
        </p:sp>
        <p:sp>
          <p:nvSpPr>
            <p:cNvPr id="510" name="文本框 509">
              <a:extLst>
                <a:ext uri="{FF2B5EF4-FFF2-40B4-BE49-F238E27FC236}">
                  <a16:creationId xmlns:a16="http://schemas.microsoft.com/office/drawing/2014/main" id="{63A18834-67F0-3C41-D5C8-DDBCB92869E2}"/>
                </a:ext>
              </a:extLst>
            </p:cNvPr>
            <p:cNvSpPr txBox="1"/>
            <p:nvPr/>
          </p:nvSpPr>
          <p:spPr>
            <a:xfrm>
              <a:off x="14015" y="9000"/>
              <a:ext cx="405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优化生产资源分配逻辑，实现人、机、料高效协同，推动降本提效落地。</a:t>
              </a:r>
            </a:p>
          </p:txBody>
        </p:sp>
        <p:sp>
          <p:nvSpPr>
            <p:cNvPr id="511" name="文本框 510">
              <a:extLst>
                <a:ext uri="{FF2B5EF4-FFF2-40B4-BE49-F238E27FC236}">
                  <a16:creationId xmlns:a16="http://schemas.microsoft.com/office/drawing/2014/main" id="{3F576DF4-4662-D132-23EC-1B49C4BEC75E}"/>
                </a:ext>
              </a:extLst>
            </p:cNvPr>
            <p:cNvSpPr txBox="1"/>
            <p:nvPr/>
          </p:nvSpPr>
          <p:spPr>
            <a:xfrm>
              <a:off x="14015" y="8471"/>
              <a:ext cx="242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数据赋能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808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5485" y="0"/>
            <a:ext cx="6400800" cy="6858000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0" y="0"/>
            <a:ext cx="5791200" cy="68573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26085" y="988377"/>
            <a:ext cx="5108575" cy="4880610"/>
            <a:chOff x="671" y="1871"/>
            <a:chExt cx="8045" cy="7686"/>
          </a:xfrm>
        </p:grpSpPr>
        <p:sp>
          <p:nvSpPr>
            <p:cNvPr id="55" name="文本框 54"/>
            <p:cNvSpPr txBox="1"/>
            <p:nvPr/>
          </p:nvSpPr>
          <p:spPr>
            <a:xfrm>
              <a:off x="748" y="7684"/>
              <a:ext cx="4097" cy="43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AI Leads, Future Unfolds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748" y="8105"/>
              <a:ext cx="3476" cy="145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52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Artificial intelligence is not just a technology, but a core power that reshapes industries, connects everything and lights up the future.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48" y="4368"/>
              <a:ext cx="7968" cy="82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AI Leads, Future Unfolds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748" y="3712"/>
              <a:ext cx="1429" cy="483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第二章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619" y="7684"/>
              <a:ext cx="4097" cy="43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AI Leads, Future Unfolds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4619" y="8105"/>
              <a:ext cx="3476" cy="145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52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Artificial intelligence is not just a technology, but a core power that reshapes industries, connects everything and lights up the future.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48" y="5058"/>
              <a:ext cx="7968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Smart by AI, Bright for Tomorrow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840" y="6056"/>
              <a:ext cx="2370" cy="43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</a:rPr>
                <a:t>文本替换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840" y="6396"/>
              <a:ext cx="2370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6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副标题文本替换</a:t>
              </a:r>
            </a:p>
          </p:txBody>
        </p:sp>
        <p:cxnSp>
          <p:nvCxnSpPr>
            <p:cNvPr id="64" name="直接连接符 63"/>
            <p:cNvCxnSpPr/>
            <p:nvPr/>
          </p:nvCxnSpPr>
          <p:spPr>
            <a:xfrm>
              <a:off x="748" y="7005"/>
              <a:ext cx="7968" cy="0"/>
            </a:xfrm>
            <a:prstGeom prst="line">
              <a:avLst/>
            </a:prstGeom>
            <a:ln w="3175">
              <a:solidFill>
                <a:schemeClr val="bg1">
                  <a:lumMod val="85000"/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5" name="文本框 64"/>
            <p:cNvSpPr txBox="1"/>
            <p:nvPr/>
          </p:nvSpPr>
          <p:spPr>
            <a:xfrm>
              <a:off x="3467" y="6056"/>
              <a:ext cx="2370" cy="43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文本替换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467" y="6396"/>
              <a:ext cx="2370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6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副标题文本替换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6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6094" y="6056"/>
              <a:ext cx="2370" cy="43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文本替换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6094" y="6396"/>
              <a:ext cx="2370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6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副标题文本替换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6000"/>
                  </a:srgbClr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+mn-ea"/>
              </a:endParaRPr>
            </a:p>
          </p:txBody>
        </p:sp>
        <p:cxnSp>
          <p:nvCxnSpPr>
            <p:cNvPr id="70" name="直接连接符 69"/>
            <p:cNvCxnSpPr/>
            <p:nvPr/>
          </p:nvCxnSpPr>
          <p:spPr>
            <a:xfrm>
              <a:off x="748" y="4195"/>
              <a:ext cx="7968" cy="0"/>
            </a:xfrm>
            <a:prstGeom prst="line">
              <a:avLst/>
            </a:prstGeom>
            <a:ln w="3175">
              <a:solidFill>
                <a:schemeClr val="accent4">
                  <a:alpha val="34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2" name="文本框 71"/>
            <p:cNvSpPr txBox="1"/>
            <p:nvPr/>
          </p:nvSpPr>
          <p:spPr>
            <a:xfrm>
              <a:off x="671" y="2360"/>
              <a:ext cx="7968" cy="82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算力筑基</a:t>
              </a:r>
              <a:r>
                <a:rPr kumimoji="0" lang="ja-JP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・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全域算力网络落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748" y="1871"/>
              <a:ext cx="5800" cy="43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57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</a:rPr>
                <a:t>打造边缘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57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</a:rPr>
                <a:t> +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57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</a:rPr>
                <a:t>中心算力集群，破解万物互联算力瓶颈</a:t>
              </a:r>
            </a:p>
          </p:txBody>
        </p:sp>
        <p:sp>
          <p:nvSpPr>
            <p:cNvPr id="74" name="椭圆 73"/>
            <p:cNvSpPr/>
            <p:nvPr/>
          </p:nvSpPr>
          <p:spPr>
            <a:xfrm>
              <a:off x="720" y="6187"/>
              <a:ext cx="120" cy="1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3407" y="6187"/>
              <a:ext cx="120" cy="1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6045" y="6187"/>
              <a:ext cx="120" cy="1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uent" charset="0"/>
                <a:ea typeface="思源黑体 CN"/>
                <a:cs typeface="Fluent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2B0BF-9DC0-D280-63BF-9F4A060C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: 圆角 131">
            <a:extLst>
              <a:ext uri="{FF2B5EF4-FFF2-40B4-BE49-F238E27FC236}">
                <a16:creationId xmlns:a16="http://schemas.microsoft.com/office/drawing/2014/main" id="{29E67499-4D4C-AD47-89FB-BD27BFAB7CC8}"/>
              </a:ext>
            </a:extLst>
          </p:cNvPr>
          <p:cNvSpPr/>
          <p:nvPr/>
        </p:nvSpPr>
        <p:spPr>
          <a:xfrm>
            <a:off x="7983220" y="1495734"/>
            <a:ext cx="3645535" cy="504571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406400" dir="5400000" sx="93000" sy="93000" algn="t" rotWithShape="0">
              <a:prstClr val="black">
                <a:alpha val="18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BE590282-A8F2-EF52-BA66-5002C6F27611}"/>
              </a:ext>
            </a:extLst>
          </p:cNvPr>
          <p:cNvGrpSpPr/>
          <p:nvPr/>
        </p:nvGrpSpPr>
        <p:grpSpPr>
          <a:xfrm>
            <a:off x="7983220" y="1495734"/>
            <a:ext cx="3645535" cy="5045710"/>
            <a:chOff x="12572" y="2197"/>
            <a:chExt cx="5741" cy="7946"/>
          </a:xfrm>
        </p:grpSpPr>
        <p:sp>
          <p:nvSpPr>
            <p:cNvPr id="63" name="矩形: 圆角 131">
              <a:extLst>
                <a:ext uri="{FF2B5EF4-FFF2-40B4-BE49-F238E27FC236}">
                  <a16:creationId xmlns:a16="http://schemas.microsoft.com/office/drawing/2014/main" id="{B67756CD-6D94-6FFB-69E6-8661DB5F7E56}"/>
                </a:ext>
              </a:extLst>
            </p:cNvPr>
            <p:cNvSpPr/>
            <p:nvPr/>
          </p:nvSpPr>
          <p:spPr>
            <a:xfrm>
              <a:off x="12572" y="2197"/>
              <a:ext cx="5741" cy="7946"/>
            </a:xfrm>
            <a:prstGeom prst="rect">
              <a:avLst/>
            </a:prstGeom>
            <a:gradFill>
              <a:gsLst>
                <a:gs pos="0">
                  <a:srgbClr val="211235">
                    <a:alpha val="2000"/>
                  </a:srgbClr>
                </a:gs>
                <a:gs pos="100000">
                  <a:srgbClr val="7928D5"/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2DB9A234-3D18-C9F8-F9E2-4CAD22C08DB6}"/>
                </a:ext>
              </a:extLst>
            </p:cNvPr>
            <p:cNvSpPr txBox="1"/>
            <p:nvPr/>
          </p:nvSpPr>
          <p:spPr>
            <a:xfrm>
              <a:off x="12829" y="4493"/>
              <a:ext cx="5388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打破算力与应用适配壁垒，针对不同场景定制算力方案，推动全域算力网络与产业需求深度融合落地。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D0B5D51-978F-B1D6-0967-7D06FE2B08E2}"/>
                </a:ext>
              </a:extLst>
            </p:cNvPr>
            <p:cNvSpPr txBox="1"/>
            <p:nvPr/>
          </p:nvSpPr>
          <p:spPr>
            <a:xfrm>
              <a:off x="12829" y="3839"/>
              <a:ext cx="39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异构算力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融合攻坚落地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4A09C2E-5FA5-D6FB-EA26-90F1347412E4}"/>
                </a:ext>
              </a:extLst>
            </p:cNvPr>
            <p:cNvSpPr txBox="1"/>
            <p:nvPr/>
          </p:nvSpPr>
          <p:spPr>
            <a:xfrm>
              <a:off x="12925" y="5912"/>
              <a:ext cx="4810" cy="48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</a:rPr>
                <a:t>Continuously  innovative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9F64C439-0D79-2F93-E828-46CBD08C7F6A}"/>
                </a:ext>
              </a:extLst>
            </p:cNvPr>
            <p:cNvSpPr txBox="1"/>
            <p:nvPr/>
          </p:nvSpPr>
          <p:spPr>
            <a:xfrm>
              <a:off x="12925" y="6395"/>
              <a:ext cx="4475" cy="3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38000"/>
                    </a:srgbClr>
                  </a:solidFill>
                  <a:effectLst/>
                  <a:uLnTx/>
                  <a:uFillTx/>
                  <a:latin typeface="Fluent Light" charset="0"/>
                  <a:ea typeface="思源黑体 CN" panose="020B0500000000000000" pitchFamily="34" charset="-122"/>
                  <a:cs typeface="Fluent Light" charset="0"/>
                </a:rPr>
                <a:t>Continuously  innovative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D3B6BE82-1C39-642D-596F-B9609A858BC9}"/>
                </a:ext>
              </a:extLst>
            </p:cNvPr>
            <p:cNvSpPr txBox="1"/>
            <p:nvPr/>
          </p:nvSpPr>
          <p:spPr>
            <a:xfrm>
              <a:off x="12829" y="2507"/>
              <a:ext cx="177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439D9003-C2DD-CF1B-8A8A-64C2C5D90C12}"/>
              </a:ext>
            </a:extLst>
          </p:cNvPr>
          <p:cNvGrpSpPr/>
          <p:nvPr/>
        </p:nvGrpSpPr>
        <p:grpSpPr>
          <a:xfrm>
            <a:off x="558800" y="1422709"/>
            <a:ext cx="3649980" cy="2529840"/>
            <a:chOff x="880" y="2082"/>
            <a:chExt cx="5748" cy="3984"/>
          </a:xfrm>
        </p:grpSpPr>
        <p:sp>
          <p:nvSpPr>
            <p:cNvPr id="70" name="矩形: 圆角 131">
              <a:extLst>
                <a:ext uri="{FF2B5EF4-FFF2-40B4-BE49-F238E27FC236}">
                  <a16:creationId xmlns:a16="http://schemas.microsoft.com/office/drawing/2014/main" id="{BC3AF3D6-7002-C7D5-3CAB-0099A3B4411F}"/>
                </a:ext>
              </a:extLst>
            </p:cNvPr>
            <p:cNvSpPr/>
            <p:nvPr/>
          </p:nvSpPr>
          <p:spPr>
            <a:xfrm>
              <a:off x="880" y="2082"/>
              <a:ext cx="5748" cy="3985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355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D94A6C71-746D-260B-66EF-0D1A2C4A0BDF}"/>
                </a:ext>
              </a:extLst>
            </p:cNvPr>
            <p:cNvSpPr txBox="1"/>
            <p:nvPr/>
          </p:nvSpPr>
          <p:spPr>
            <a:xfrm>
              <a:off x="1259" y="4578"/>
              <a:ext cx="50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攻坚算力节点异构兼容难题，打通跨域算力调度壁垒，实现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 “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一点需求、全域响应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”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的算力网络高效协同。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32A60697-BD8B-5356-DB80-E0C5AEC36BC2}"/>
                </a:ext>
              </a:extLst>
            </p:cNvPr>
            <p:cNvSpPr txBox="1"/>
            <p:nvPr/>
          </p:nvSpPr>
          <p:spPr>
            <a:xfrm>
              <a:off x="1259" y="4010"/>
              <a:ext cx="356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算力组网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全域贯通破局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D2D2629A-E034-E5B4-5693-5666400EF498}"/>
                </a:ext>
              </a:extLst>
            </p:cNvPr>
            <p:cNvSpPr txBox="1"/>
            <p:nvPr/>
          </p:nvSpPr>
          <p:spPr>
            <a:xfrm>
              <a:off x="1243" y="2415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7DB80C03-82A1-67C4-8631-297308C5FEB2}"/>
                </a:ext>
              </a:extLst>
            </p:cNvPr>
            <p:cNvSpPr/>
            <p:nvPr/>
          </p:nvSpPr>
          <p:spPr>
            <a:xfrm>
              <a:off x="1038" y="4161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75" name="矩形: 圆角 131">
              <a:extLst>
                <a:ext uri="{FF2B5EF4-FFF2-40B4-BE49-F238E27FC236}">
                  <a16:creationId xmlns:a16="http://schemas.microsoft.com/office/drawing/2014/main" id="{C98DF1D0-D476-9B21-DA27-C309EA00C30B}"/>
                </a:ext>
              </a:extLst>
            </p:cNvPr>
            <p:cNvSpPr/>
            <p:nvPr/>
          </p:nvSpPr>
          <p:spPr>
            <a:xfrm>
              <a:off x="1412" y="2947"/>
              <a:ext cx="1499" cy="786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76" name="矩形: 圆角 131">
              <a:extLst>
                <a:ext uri="{FF2B5EF4-FFF2-40B4-BE49-F238E27FC236}">
                  <a16:creationId xmlns:a16="http://schemas.microsoft.com/office/drawing/2014/main" id="{C890F277-2CFB-D6B2-180E-53CCBCB9BB5C}"/>
                </a:ext>
              </a:extLst>
            </p:cNvPr>
            <p:cNvSpPr/>
            <p:nvPr/>
          </p:nvSpPr>
          <p:spPr>
            <a:xfrm>
              <a:off x="1412" y="2947"/>
              <a:ext cx="1499" cy="786"/>
            </a:xfrm>
            <a:prstGeom prst="rect">
              <a:avLst/>
            </a:prstGeom>
            <a:solidFill>
              <a:srgbClr val="7928D5">
                <a:alpha val="67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pic>
          <p:nvPicPr>
            <p:cNvPr id="77" name="图片 1" descr="趋势_trend-two">
              <a:extLst>
                <a:ext uri="{FF2B5EF4-FFF2-40B4-BE49-F238E27FC236}">
                  <a16:creationId xmlns:a16="http://schemas.microsoft.com/office/drawing/2014/main" id="{52A681C5-8AEB-9FFF-8AF9-9B84FE10BD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28" y="2639"/>
              <a:ext cx="836" cy="836"/>
            </a:xfrm>
            <a:prstGeom prst="rect">
              <a:avLst/>
            </a:prstGeom>
          </p:spPr>
        </p:pic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D60B9EEF-D795-32DC-50A9-8C856CE4D13A}"/>
              </a:ext>
            </a:extLst>
          </p:cNvPr>
          <p:cNvGrpSpPr/>
          <p:nvPr/>
        </p:nvGrpSpPr>
        <p:grpSpPr>
          <a:xfrm>
            <a:off x="4271645" y="1422709"/>
            <a:ext cx="3649980" cy="2529840"/>
            <a:chOff x="6727" y="2082"/>
            <a:chExt cx="5748" cy="3984"/>
          </a:xfrm>
        </p:grpSpPr>
        <p:sp>
          <p:nvSpPr>
            <p:cNvPr id="79" name="矩形: 圆角 131">
              <a:extLst>
                <a:ext uri="{FF2B5EF4-FFF2-40B4-BE49-F238E27FC236}">
                  <a16:creationId xmlns:a16="http://schemas.microsoft.com/office/drawing/2014/main" id="{C7845D37-F75B-4ED9-63A9-3724AFEE24C0}"/>
                </a:ext>
              </a:extLst>
            </p:cNvPr>
            <p:cNvSpPr/>
            <p:nvPr/>
          </p:nvSpPr>
          <p:spPr>
            <a:xfrm>
              <a:off x="6727" y="2082"/>
              <a:ext cx="5748" cy="3985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355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DDDD82CC-3D18-CAE2-BF00-74CF7C1CF763}"/>
                </a:ext>
              </a:extLst>
            </p:cNvPr>
            <p:cNvSpPr txBox="1"/>
            <p:nvPr/>
          </p:nvSpPr>
          <p:spPr>
            <a:xfrm>
              <a:off x="7173" y="4578"/>
              <a:ext cx="50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破解算力资源分布不均痛点，搭建统一调度平台，将边缘、云端算力池化整合，提升全域算力利用率。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4457809-6E50-ED17-3090-9FD07BC3CA15}"/>
                </a:ext>
              </a:extLst>
            </p:cNvPr>
            <p:cNvSpPr txBox="1"/>
            <p:nvPr/>
          </p:nvSpPr>
          <p:spPr>
            <a:xfrm>
              <a:off x="7173" y="4010"/>
              <a:ext cx="356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节点协同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算力效能跃升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7E2598F0-AED2-44AE-79EE-4A9CBCC94C1E}"/>
                </a:ext>
              </a:extLst>
            </p:cNvPr>
            <p:cNvSpPr txBox="1"/>
            <p:nvPr/>
          </p:nvSpPr>
          <p:spPr>
            <a:xfrm>
              <a:off x="7157" y="2415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3C5CA88-B777-D261-190C-11C1FAE0B78C}"/>
                </a:ext>
              </a:extLst>
            </p:cNvPr>
            <p:cNvSpPr/>
            <p:nvPr/>
          </p:nvSpPr>
          <p:spPr>
            <a:xfrm>
              <a:off x="6933" y="4161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84" name="矩形: 圆角 131">
              <a:extLst>
                <a:ext uri="{FF2B5EF4-FFF2-40B4-BE49-F238E27FC236}">
                  <a16:creationId xmlns:a16="http://schemas.microsoft.com/office/drawing/2014/main" id="{32E3D9DE-505A-B29B-CB1B-ECE1823BEC97}"/>
                </a:ext>
              </a:extLst>
            </p:cNvPr>
            <p:cNvSpPr/>
            <p:nvPr/>
          </p:nvSpPr>
          <p:spPr>
            <a:xfrm>
              <a:off x="7380" y="2947"/>
              <a:ext cx="1499" cy="786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85" name="矩形: 圆角 131">
              <a:extLst>
                <a:ext uri="{FF2B5EF4-FFF2-40B4-BE49-F238E27FC236}">
                  <a16:creationId xmlns:a16="http://schemas.microsoft.com/office/drawing/2014/main" id="{89A49B5E-4177-97F4-2FB3-4079212371AB}"/>
                </a:ext>
              </a:extLst>
            </p:cNvPr>
            <p:cNvSpPr/>
            <p:nvPr/>
          </p:nvSpPr>
          <p:spPr>
            <a:xfrm>
              <a:off x="7380" y="2947"/>
              <a:ext cx="1499" cy="786"/>
            </a:xfrm>
            <a:prstGeom prst="rect">
              <a:avLst/>
            </a:prstGeom>
            <a:solidFill>
              <a:srgbClr val="7928D5">
                <a:alpha val="67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pic>
          <p:nvPicPr>
            <p:cNvPr id="86" name="图片 2" descr="趋势_trend-two">
              <a:extLst>
                <a:ext uri="{FF2B5EF4-FFF2-40B4-BE49-F238E27FC236}">
                  <a16:creationId xmlns:a16="http://schemas.microsoft.com/office/drawing/2014/main" id="{DE5B3217-29A3-BAA9-4ED8-2B16DADE16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75" y="2639"/>
              <a:ext cx="836" cy="836"/>
            </a:xfrm>
            <a:prstGeom prst="rect">
              <a:avLst/>
            </a:prstGeom>
          </p:spPr>
        </p:pic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CE22F74F-E5E8-DA8D-7E95-B3F19E077E7F}"/>
              </a:ext>
            </a:extLst>
          </p:cNvPr>
          <p:cNvGrpSpPr/>
          <p:nvPr/>
        </p:nvGrpSpPr>
        <p:grpSpPr>
          <a:xfrm>
            <a:off x="558800" y="4010334"/>
            <a:ext cx="3649980" cy="2529840"/>
            <a:chOff x="880" y="6157"/>
            <a:chExt cx="5748" cy="3984"/>
          </a:xfrm>
        </p:grpSpPr>
        <p:sp>
          <p:nvSpPr>
            <p:cNvPr id="88" name="矩形: 圆角 131">
              <a:extLst>
                <a:ext uri="{FF2B5EF4-FFF2-40B4-BE49-F238E27FC236}">
                  <a16:creationId xmlns:a16="http://schemas.microsoft.com/office/drawing/2014/main" id="{921BB115-A061-79DA-81FE-2BF9B9C7863F}"/>
                </a:ext>
              </a:extLst>
            </p:cNvPr>
            <p:cNvSpPr/>
            <p:nvPr/>
          </p:nvSpPr>
          <p:spPr>
            <a:xfrm>
              <a:off x="880" y="6157"/>
              <a:ext cx="5748" cy="3985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355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0864ED28-E690-F547-3AF2-185FF44259B8}"/>
                </a:ext>
              </a:extLst>
            </p:cNvPr>
            <p:cNvSpPr txBox="1"/>
            <p:nvPr/>
          </p:nvSpPr>
          <p:spPr>
            <a:xfrm>
              <a:off x="1259" y="8658"/>
              <a:ext cx="50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突破算力网络高时延瓶颈，优化节点互联架构，实现数据就近计算、按需调度，筑牢数智场景算力底座。</a:t>
              </a: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978C5853-9AFD-099B-C89E-B8A6D255608D}"/>
                </a:ext>
              </a:extLst>
            </p:cNvPr>
            <p:cNvSpPr txBox="1"/>
            <p:nvPr/>
          </p:nvSpPr>
          <p:spPr>
            <a:xfrm>
              <a:off x="1259" y="8090"/>
              <a:ext cx="356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资源调度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全域算力盘活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0AA0042C-3519-49C8-35BD-7A8FC640925D}"/>
                </a:ext>
              </a:extLst>
            </p:cNvPr>
            <p:cNvSpPr txBox="1"/>
            <p:nvPr/>
          </p:nvSpPr>
          <p:spPr>
            <a:xfrm>
              <a:off x="1243" y="6495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7B092349-0476-7E58-C030-D0C3BC02E349}"/>
                </a:ext>
              </a:extLst>
            </p:cNvPr>
            <p:cNvSpPr/>
            <p:nvPr/>
          </p:nvSpPr>
          <p:spPr>
            <a:xfrm>
              <a:off x="1038" y="8241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93" name="矩形: 圆角 131">
              <a:extLst>
                <a:ext uri="{FF2B5EF4-FFF2-40B4-BE49-F238E27FC236}">
                  <a16:creationId xmlns:a16="http://schemas.microsoft.com/office/drawing/2014/main" id="{5F44ADD9-DACF-D923-4010-AC23B74F4D86}"/>
                </a:ext>
              </a:extLst>
            </p:cNvPr>
            <p:cNvSpPr/>
            <p:nvPr/>
          </p:nvSpPr>
          <p:spPr>
            <a:xfrm>
              <a:off x="1412" y="7154"/>
              <a:ext cx="1499" cy="786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94" name="矩形: 圆角 131">
              <a:extLst>
                <a:ext uri="{FF2B5EF4-FFF2-40B4-BE49-F238E27FC236}">
                  <a16:creationId xmlns:a16="http://schemas.microsoft.com/office/drawing/2014/main" id="{458B0B58-0C14-F71D-1331-A45E8BA6B060}"/>
                </a:ext>
              </a:extLst>
            </p:cNvPr>
            <p:cNvSpPr/>
            <p:nvPr/>
          </p:nvSpPr>
          <p:spPr>
            <a:xfrm>
              <a:off x="1412" y="7154"/>
              <a:ext cx="1499" cy="786"/>
            </a:xfrm>
            <a:prstGeom prst="rect">
              <a:avLst/>
            </a:prstGeom>
            <a:solidFill>
              <a:srgbClr val="7928D5">
                <a:alpha val="67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pic>
          <p:nvPicPr>
            <p:cNvPr id="95" name="图片 3" descr="趋势_trend-two">
              <a:extLst>
                <a:ext uri="{FF2B5EF4-FFF2-40B4-BE49-F238E27FC236}">
                  <a16:creationId xmlns:a16="http://schemas.microsoft.com/office/drawing/2014/main" id="{4C531C8C-31A7-93A7-C1EE-3DFEE6F387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28" y="6685"/>
              <a:ext cx="836" cy="836"/>
            </a:xfrm>
            <a:prstGeom prst="rect">
              <a:avLst/>
            </a:prstGeom>
          </p:spPr>
        </p:pic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C96FB98-360C-08BE-9B16-BF0F1C8CDF12}"/>
              </a:ext>
            </a:extLst>
          </p:cNvPr>
          <p:cNvGrpSpPr/>
          <p:nvPr/>
        </p:nvGrpSpPr>
        <p:grpSpPr>
          <a:xfrm>
            <a:off x="4271645" y="4010334"/>
            <a:ext cx="3649980" cy="2529840"/>
            <a:chOff x="6727" y="6157"/>
            <a:chExt cx="5748" cy="3984"/>
          </a:xfrm>
        </p:grpSpPr>
        <p:sp>
          <p:nvSpPr>
            <p:cNvPr id="97" name="矩形: 圆角 131">
              <a:extLst>
                <a:ext uri="{FF2B5EF4-FFF2-40B4-BE49-F238E27FC236}">
                  <a16:creationId xmlns:a16="http://schemas.microsoft.com/office/drawing/2014/main" id="{C81739B4-9BB3-6FD1-A591-DFDBFC27327F}"/>
                </a:ext>
              </a:extLst>
            </p:cNvPr>
            <p:cNvSpPr/>
            <p:nvPr/>
          </p:nvSpPr>
          <p:spPr>
            <a:xfrm>
              <a:off x="6727" y="6157"/>
              <a:ext cx="5748" cy="3985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355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3E41EF1C-EBF0-060D-97A6-7990F014E7A0}"/>
                </a:ext>
              </a:extLst>
            </p:cNvPr>
            <p:cNvSpPr txBox="1"/>
            <p:nvPr/>
          </p:nvSpPr>
          <p:spPr>
            <a:xfrm>
              <a:off x="7173" y="8658"/>
              <a:ext cx="50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攻克算力资源闲置浪费问题，建立动态弹性调度机制，根据业务负载实时分配算力，降低运营成本。</a:t>
              </a: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C1174E76-48E4-E96E-2FA6-708022206B2D}"/>
                </a:ext>
              </a:extLst>
            </p:cNvPr>
            <p:cNvSpPr txBox="1"/>
            <p:nvPr/>
          </p:nvSpPr>
          <p:spPr>
            <a:xfrm>
              <a:off x="7173" y="8090"/>
              <a:ext cx="356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算力筑基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网络无缝覆盖</a:t>
              </a: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6750255B-61DD-34EF-BA62-EDF6DCA296F4}"/>
                </a:ext>
              </a:extLst>
            </p:cNvPr>
            <p:cNvSpPr txBox="1"/>
            <p:nvPr/>
          </p:nvSpPr>
          <p:spPr>
            <a:xfrm>
              <a:off x="7157" y="6495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3689617A-FD9B-17EF-AEB5-9C867F84DA0F}"/>
                </a:ext>
              </a:extLst>
            </p:cNvPr>
            <p:cNvSpPr/>
            <p:nvPr/>
          </p:nvSpPr>
          <p:spPr>
            <a:xfrm>
              <a:off x="6933" y="8241"/>
              <a:ext cx="182" cy="18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02" name="矩形: 圆角 131">
              <a:extLst>
                <a:ext uri="{FF2B5EF4-FFF2-40B4-BE49-F238E27FC236}">
                  <a16:creationId xmlns:a16="http://schemas.microsoft.com/office/drawing/2014/main" id="{F14B5289-F2C4-7164-6ABF-C06733AA008A}"/>
                </a:ext>
              </a:extLst>
            </p:cNvPr>
            <p:cNvSpPr/>
            <p:nvPr/>
          </p:nvSpPr>
          <p:spPr>
            <a:xfrm>
              <a:off x="7380" y="7154"/>
              <a:ext cx="1499" cy="786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03" name="矩形: 圆角 131">
              <a:extLst>
                <a:ext uri="{FF2B5EF4-FFF2-40B4-BE49-F238E27FC236}">
                  <a16:creationId xmlns:a16="http://schemas.microsoft.com/office/drawing/2014/main" id="{0FABC16F-ACB5-8892-23EF-54453C4AFF18}"/>
                </a:ext>
              </a:extLst>
            </p:cNvPr>
            <p:cNvSpPr/>
            <p:nvPr/>
          </p:nvSpPr>
          <p:spPr>
            <a:xfrm>
              <a:off x="7380" y="7154"/>
              <a:ext cx="1499" cy="786"/>
            </a:xfrm>
            <a:prstGeom prst="rect">
              <a:avLst/>
            </a:prstGeom>
            <a:solidFill>
              <a:srgbClr val="7928D5">
                <a:alpha val="67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pic>
          <p:nvPicPr>
            <p:cNvPr id="104" name="图片 4" descr="趋势_trend-two">
              <a:extLst>
                <a:ext uri="{FF2B5EF4-FFF2-40B4-BE49-F238E27FC236}">
                  <a16:creationId xmlns:a16="http://schemas.microsoft.com/office/drawing/2014/main" id="{D08DFE13-B012-7CAD-001E-4E97267260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75" y="6685"/>
              <a:ext cx="836" cy="836"/>
            </a:xfrm>
            <a:prstGeom prst="rect">
              <a:avLst/>
            </a:prstGeom>
          </p:spPr>
        </p:pic>
      </p:grpSp>
      <p:sp>
        <p:nvSpPr>
          <p:cNvPr id="106" name="文本框 105">
            <a:extLst>
              <a:ext uri="{FF2B5EF4-FFF2-40B4-BE49-F238E27FC236}">
                <a16:creationId xmlns:a16="http://schemas.microsoft.com/office/drawing/2014/main" id="{00395FAC-08D9-DB20-B464-3AAE708D6E05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异构算力兼容攻坚</a:t>
            </a:r>
            <a:endParaRPr lang="ja-JP" altLang="en-US" sz="30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4608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FE1A4-4716-411F-D1EA-C7E98F01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 105">
            <a:extLst>
              <a:ext uri="{FF2B5EF4-FFF2-40B4-BE49-F238E27FC236}">
                <a16:creationId xmlns:a16="http://schemas.microsoft.com/office/drawing/2014/main" id="{8AB7BA99-636F-1D53-3F13-4B97003C249B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政企数通 安全合规 </a:t>
            </a: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3A807D95-B33B-9710-6995-C661664922FB}"/>
              </a:ext>
            </a:extLst>
          </p:cNvPr>
          <p:cNvSpPr txBox="1"/>
          <p:nvPr/>
        </p:nvSpPr>
        <p:spPr>
          <a:xfrm>
            <a:off x="555625" y="2190750"/>
            <a:ext cx="3527425" cy="2038350"/>
          </a:xfrm>
          <a:prstGeom prst="rect">
            <a:avLst/>
          </a:prstGeom>
          <a:solidFill>
            <a:srgbClr val="FFFFFF">
              <a:lumMod val="95000"/>
            </a:srgb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defRPr lang="en-US" sz="1200" kern="1200" spc="0" baseline="0" dirty="0">
                <a:noFill/>
                <a:latin typeface="+mn-lt"/>
                <a:ea typeface="Work Sans"/>
                <a:cs typeface="Work Sans"/>
              </a:defRPr>
            </a:lvl1pPr>
            <a:lvl2pPr marL="0" indent="0" algn="l" defTabSz="44704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805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447040" rtl="0" eaLnBrk="1" latinLnBrk="0" hangingPunct="1">
              <a:lnSpc>
                <a:spcPct val="150000"/>
              </a:lnSpc>
              <a:spcBef>
                <a:spcPts val="495"/>
              </a:spcBef>
              <a:buSzPct val="100000"/>
              <a:buFontTx/>
              <a:buNone/>
              <a:defRPr sz="10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50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2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06780" rtl="0" eaLnBrk="1" fontAlgn="auto" latinLnBrk="0" hangingPunct="1">
              <a:lnSpc>
                <a:spcPct val="9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defRPr sz="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9070" indent="0" algn="l" defTabSz="906780" rtl="0" eaLnBrk="1" latinLnBrk="0" hangingPunct="1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None/>
              <a:defRPr sz="17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+mn-ea"/>
              <a:sym typeface="+mn-ea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409AA01E-B654-921B-D0D0-037D2D0E5D98}"/>
              </a:ext>
            </a:extLst>
          </p:cNvPr>
          <p:cNvSpPr txBox="1"/>
          <p:nvPr/>
        </p:nvSpPr>
        <p:spPr>
          <a:xfrm>
            <a:off x="4172585" y="2190750"/>
            <a:ext cx="3527425" cy="2038350"/>
          </a:xfrm>
          <a:prstGeom prst="rect">
            <a:avLst/>
          </a:prstGeom>
          <a:solidFill>
            <a:srgbClr val="FFFFFF">
              <a:lumMod val="95000"/>
            </a:srgb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defRPr lang="en-US" sz="1200" kern="1200" spc="0" baseline="0" dirty="0">
                <a:noFill/>
                <a:latin typeface="+mn-lt"/>
                <a:ea typeface="Work Sans"/>
                <a:cs typeface="Work Sans"/>
              </a:defRPr>
            </a:lvl1pPr>
            <a:lvl2pPr marL="0" indent="0" algn="l" defTabSz="44704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805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447040" rtl="0" eaLnBrk="1" latinLnBrk="0" hangingPunct="1">
              <a:lnSpc>
                <a:spcPct val="150000"/>
              </a:lnSpc>
              <a:spcBef>
                <a:spcPts val="495"/>
              </a:spcBef>
              <a:buSzPct val="100000"/>
              <a:buFontTx/>
              <a:buNone/>
              <a:defRPr sz="10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50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2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06780" rtl="0" eaLnBrk="1" fontAlgn="auto" latinLnBrk="0" hangingPunct="1">
              <a:lnSpc>
                <a:spcPct val="9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defRPr sz="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9070" indent="0" algn="l" defTabSz="906780" rtl="0" eaLnBrk="1" latinLnBrk="0" hangingPunct="1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None/>
              <a:defRPr sz="17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+mn-ea"/>
              <a:sym typeface="+mn-ea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C1AA2102-DDC3-9E21-8073-2B981A2F3AEB}"/>
              </a:ext>
            </a:extLst>
          </p:cNvPr>
          <p:cNvSpPr txBox="1"/>
          <p:nvPr/>
        </p:nvSpPr>
        <p:spPr>
          <a:xfrm>
            <a:off x="7789545" y="2190750"/>
            <a:ext cx="3527425" cy="2038350"/>
          </a:xfrm>
          <a:prstGeom prst="rect">
            <a:avLst/>
          </a:prstGeom>
          <a:solidFill>
            <a:srgbClr val="FFFFFF">
              <a:lumMod val="95000"/>
            </a:srgb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defRPr lang="en-US" sz="1200" kern="1200" spc="0" baseline="0" dirty="0">
                <a:noFill/>
                <a:latin typeface="+mn-lt"/>
                <a:ea typeface="Work Sans"/>
                <a:cs typeface="Work Sans"/>
              </a:defRPr>
            </a:lvl1pPr>
            <a:lvl2pPr marL="0" indent="0" algn="l" defTabSz="44704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805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447040" rtl="0" eaLnBrk="1" latinLnBrk="0" hangingPunct="1">
              <a:lnSpc>
                <a:spcPct val="150000"/>
              </a:lnSpc>
              <a:spcBef>
                <a:spcPts val="495"/>
              </a:spcBef>
              <a:buSzPct val="100000"/>
              <a:buFontTx/>
              <a:buNone/>
              <a:defRPr sz="10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50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2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06780" rtl="0" eaLnBrk="1" fontAlgn="auto" latinLnBrk="0" hangingPunct="1">
              <a:lnSpc>
                <a:spcPct val="9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defRPr sz="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9070" indent="0" algn="l" defTabSz="906780" rtl="0" eaLnBrk="1" latinLnBrk="0" hangingPunct="1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None/>
              <a:defRPr sz="17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+mn-ea"/>
              <a:sym typeface="+mn-ea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26A6F29D-C3AA-B1B1-5ABA-C3B7F4885D27}"/>
              </a:ext>
            </a:extLst>
          </p:cNvPr>
          <p:cNvSpPr/>
          <p:nvPr/>
        </p:nvSpPr>
        <p:spPr>
          <a:xfrm>
            <a:off x="555625" y="4228465"/>
            <a:ext cx="3527425" cy="2282190"/>
          </a:xfrm>
          <a:prstGeom prst="rect">
            <a:avLst/>
          </a:prstGeom>
          <a:solidFill>
            <a:srgbClr val="FFFFFF">
              <a:alpha val="89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241300" dir="5400000" sx="93000" sy="93000" algn="t" rotWithShape="0">
              <a:prstClr val="black">
                <a:alpha val="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0BFF72ED-BD4E-E372-C17F-78A6FC205086}"/>
              </a:ext>
            </a:extLst>
          </p:cNvPr>
          <p:cNvSpPr/>
          <p:nvPr/>
        </p:nvSpPr>
        <p:spPr>
          <a:xfrm>
            <a:off x="4172585" y="4228465"/>
            <a:ext cx="3527425" cy="2282190"/>
          </a:xfrm>
          <a:prstGeom prst="rect">
            <a:avLst/>
          </a:prstGeom>
          <a:solidFill>
            <a:srgbClr val="FFFFFF">
              <a:alpha val="89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241300" dir="5400000" sx="93000" sy="93000" algn="t" rotWithShape="0">
              <a:prstClr val="black">
                <a:alpha val="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16090C1E-8E21-1285-599F-F56F531ED360}"/>
              </a:ext>
            </a:extLst>
          </p:cNvPr>
          <p:cNvSpPr/>
          <p:nvPr/>
        </p:nvSpPr>
        <p:spPr>
          <a:xfrm>
            <a:off x="7789545" y="4228465"/>
            <a:ext cx="3527425" cy="2282190"/>
          </a:xfrm>
          <a:prstGeom prst="rect">
            <a:avLst/>
          </a:prstGeom>
          <a:solidFill>
            <a:srgbClr val="FFFFFF">
              <a:alpha val="89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241300" dir="5400000" sx="93000" sy="93000" algn="t" rotWithShape="0">
              <a:prstClr val="black">
                <a:alpha val="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FBC76645-648B-8852-8C32-09808E66315C}"/>
              </a:ext>
            </a:extLst>
          </p:cNvPr>
          <p:cNvSpPr txBox="1"/>
          <p:nvPr/>
        </p:nvSpPr>
        <p:spPr>
          <a:xfrm>
            <a:off x="661670" y="2344420"/>
            <a:ext cx="7721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800" dirty="0">
                <a:solidFill>
                  <a:srgbClr val="000000">
                    <a:alpha val="80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核心任务</a:t>
            </a: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38B36CB5-2868-A973-F3AA-1595DB7D45DD}"/>
              </a:ext>
            </a:extLst>
          </p:cNvPr>
          <p:cNvSpPr txBox="1"/>
          <p:nvPr/>
        </p:nvSpPr>
        <p:spPr>
          <a:xfrm>
            <a:off x="3624580" y="2344420"/>
            <a:ext cx="458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GB" altLang="zh-CN" sz="800" dirty="0">
                <a:solidFill>
                  <a:srgbClr val="000000">
                    <a:alpha val="80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01</a:t>
            </a:r>
          </a:p>
        </p:txBody>
      </p: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4C9650B4-E458-21D3-8947-749F00FC4EA3}"/>
              </a:ext>
            </a:extLst>
          </p:cNvPr>
          <p:cNvGrpSpPr/>
          <p:nvPr/>
        </p:nvGrpSpPr>
        <p:grpSpPr>
          <a:xfrm>
            <a:off x="661670" y="4723130"/>
            <a:ext cx="3291840" cy="1042670"/>
            <a:chOff x="1042" y="7438"/>
            <a:chExt cx="5184" cy="1642"/>
          </a:xfrm>
        </p:grpSpPr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CAB89B84-24B5-51AF-D4C9-D9409C9115C3}"/>
                </a:ext>
              </a:extLst>
            </p:cNvPr>
            <p:cNvSpPr txBox="1"/>
            <p:nvPr/>
          </p:nvSpPr>
          <p:spPr>
            <a:xfrm>
              <a:off x="1042" y="8356"/>
              <a:ext cx="518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20000"/>
                </a:lnSpc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本区域用于填充核心文本信息，围绕主题补充关键内容，确保表述精准简洁、贴合整体风格。</a:t>
              </a:r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47EED9EA-1153-FBA1-A263-E6A8FD814AAE}"/>
                </a:ext>
              </a:extLst>
            </p:cNvPr>
            <p:cNvSpPr txBox="1"/>
            <p:nvPr/>
          </p:nvSpPr>
          <p:spPr>
            <a:xfrm>
              <a:off x="1042" y="7438"/>
              <a:ext cx="242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26323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</a:p>
            <a:p>
              <a:pPr defTabSz="914400"/>
              <a:r>
                <a:rPr lang="zh-CN" altLang="en-US" sz="1400" dirty="0">
                  <a:solidFill>
                    <a:srgbClr val="26323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替换位置</a:t>
              </a:r>
            </a:p>
          </p:txBody>
        </p:sp>
      </p:grpSp>
      <p:sp>
        <p:nvSpPr>
          <p:cNvPr id="207" name="任意多边形 50">
            <a:extLst>
              <a:ext uri="{FF2B5EF4-FFF2-40B4-BE49-F238E27FC236}">
                <a16:creationId xmlns:a16="http://schemas.microsoft.com/office/drawing/2014/main" id="{09480783-05B2-4D6D-736D-5E10AF4828CE}"/>
              </a:ext>
            </a:extLst>
          </p:cNvPr>
          <p:cNvSpPr/>
          <p:nvPr/>
        </p:nvSpPr>
        <p:spPr bwMode="auto">
          <a:xfrm>
            <a:off x="2477135" y="2726690"/>
            <a:ext cx="1605915" cy="150177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940" h="1813">
                <a:moveTo>
                  <a:pt x="1734" y="0"/>
                </a:moveTo>
                <a:cubicBezTo>
                  <a:pt x="1809" y="-2"/>
                  <a:pt x="1954" y="13"/>
                  <a:pt x="1938" y="13"/>
                </a:cubicBezTo>
                <a:lnTo>
                  <a:pt x="1938" y="1812"/>
                </a:lnTo>
                <a:lnTo>
                  <a:pt x="0" y="1812"/>
                </a:lnTo>
                <a:cubicBezTo>
                  <a:pt x="-29" y="839"/>
                  <a:pt x="860" y="-41"/>
                  <a:pt x="1734" y="0"/>
                </a:cubicBezTo>
                <a:close/>
              </a:path>
            </a:pathLst>
          </a:custGeom>
          <a:solidFill>
            <a:srgbClr val="7928D5"/>
          </a:solidFill>
          <a:ln w="12700" cap="flat" cmpd="sng" algn="ctr">
            <a:noFill/>
            <a:prstDash val="solid"/>
            <a:miter lim="800000"/>
          </a:ln>
          <a:effectLst>
            <a:outerShdw blurRad="571500" dist="520700" dir="16200000" sx="83000" sy="83000" rotWithShape="0">
              <a:srgbClr val="11419E">
                <a:alpha val="15000"/>
              </a:srgb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208" name="任意多边形 58">
            <a:extLst>
              <a:ext uri="{FF2B5EF4-FFF2-40B4-BE49-F238E27FC236}">
                <a16:creationId xmlns:a16="http://schemas.microsoft.com/office/drawing/2014/main" id="{9E588357-A8B7-6522-BA00-4E28B585F4C5}"/>
              </a:ext>
            </a:extLst>
          </p:cNvPr>
          <p:cNvSpPr/>
          <p:nvPr/>
        </p:nvSpPr>
        <p:spPr bwMode="auto">
          <a:xfrm>
            <a:off x="6094095" y="2726690"/>
            <a:ext cx="1605915" cy="150177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940" h="1813">
                <a:moveTo>
                  <a:pt x="1734" y="0"/>
                </a:moveTo>
                <a:cubicBezTo>
                  <a:pt x="1809" y="-2"/>
                  <a:pt x="1954" y="13"/>
                  <a:pt x="1938" y="13"/>
                </a:cubicBezTo>
                <a:lnTo>
                  <a:pt x="1938" y="1812"/>
                </a:lnTo>
                <a:lnTo>
                  <a:pt x="0" y="1812"/>
                </a:lnTo>
                <a:cubicBezTo>
                  <a:pt x="-29" y="839"/>
                  <a:pt x="860" y="-41"/>
                  <a:pt x="1734" y="0"/>
                </a:cubicBezTo>
                <a:close/>
              </a:path>
            </a:pathLst>
          </a:custGeom>
          <a:solidFill>
            <a:srgbClr val="7928D5"/>
          </a:solidFill>
          <a:ln w="12700" cap="flat" cmpd="sng" algn="ctr">
            <a:noFill/>
            <a:prstDash val="solid"/>
            <a:miter lim="800000"/>
          </a:ln>
          <a:effectLst>
            <a:outerShdw blurRad="571500" dist="520700" dir="16200000" sx="83000" sy="83000" rotWithShape="0">
              <a:srgbClr val="11419E">
                <a:alpha val="15000"/>
              </a:srgb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209" name="任意多边形 59">
            <a:extLst>
              <a:ext uri="{FF2B5EF4-FFF2-40B4-BE49-F238E27FC236}">
                <a16:creationId xmlns:a16="http://schemas.microsoft.com/office/drawing/2014/main" id="{5EDA0772-03F5-5DE0-77C8-D96EB87083C1}"/>
              </a:ext>
            </a:extLst>
          </p:cNvPr>
          <p:cNvSpPr/>
          <p:nvPr/>
        </p:nvSpPr>
        <p:spPr bwMode="auto">
          <a:xfrm>
            <a:off x="9711055" y="2726690"/>
            <a:ext cx="1605915" cy="150177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940" h="1813">
                <a:moveTo>
                  <a:pt x="1734" y="0"/>
                </a:moveTo>
                <a:cubicBezTo>
                  <a:pt x="1809" y="-2"/>
                  <a:pt x="1954" y="13"/>
                  <a:pt x="1938" y="13"/>
                </a:cubicBezTo>
                <a:lnTo>
                  <a:pt x="1938" y="1812"/>
                </a:lnTo>
                <a:lnTo>
                  <a:pt x="0" y="1812"/>
                </a:lnTo>
                <a:cubicBezTo>
                  <a:pt x="-29" y="839"/>
                  <a:pt x="860" y="-41"/>
                  <a:pt x="1734" y="0"/>
                </a:cubicBezTo>
                <a:close/>
              </a:path>
            </a:pathLst>
          </a:custGeom>
          <a:solidFill>
            <a:srgbClr val="7928D5"/>
          </a:solidFill>
          <a:ln w="12700" cap="flat" cmpd="sng" algn="ctr">
            <a:noFill/>
            <a:prstDash val="solid"/>
            <a:miter lim="800000"/>
          </a:ln>
          <a:effectLst>
            <a:outerShdw blurRad="571500" dist="520700" dir="16200000" sx="83000" sy="83000" rotWithShape="0">
              <a:srgbClr val="11419E">
                <a:alpha val="15000"/>
              </a:srgb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8539118A-92C2-B7F1-20CC-44A3B0263649}"/>
              </a:ext>
            </a:extLst>
          </p:cNvPr>
          <p:cNvSpPr txBox="1"/>
          <p:nvPr/>
        </p:nvSpPr>
        <p:spPr>
          <a:xfrm>
            <a:off x="4278630" y="2344420"/>
            <a:ext cx="7721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800" dirty="0">
                <a:solidFill>
                  <a:srgbClr val="000000">
                    <a:alpha val="80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核心任务</a:t>
            </a: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86B29EB9-0B21-576A-FF6A-B33C0BD25A7E}"/>
              </a:ext>
            </a:extLst>
          </p:cNvPr>
          <p:cNvSpPr txBox="1"/>
          <p:nvPr/>
        </p:nvSpPr>
        <p:spPr>
          <a:xfrm>
            <a:off x="7241540" y="2344420"/>
            <a:ext cx="458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GB" altLang="zh-CN" sz="800" dirty="0">
                <a:solidFill>
                  <a:srgbClr val="000000">
                    <a:alpha val="80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01</a:t>
            </a:r>
          </a:p>
        </p:txBody>
      </p: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6CF2E5B8-069A-B1B8-FBE0-49FB290C5958}"/>
              </a:ext>
            </a:extLst>
          </p:cNvPr>
          <p:cNvGrpSpPr/>
          <p:nvPr/>
        </p:nvGrpSpPr>
        <p:grpSpPr>
          <a:xfrm>
            <a:off x="4278630" y="4723130"/>
            <a:ext cx="3291840" cy="1042670"/>
            <a:chOff x="6738" y="7438"/>
            <a:chExt cx="5184" cy="1642"/>
          </a:xfrm>
        </p:grpSpPr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D4B75F89-E09E-E13E-CFF4-7166471A4369}"/>
                </a:ext>
              </a:extLst>
            </p:cNvPr>
            <p:cNvSpPr txBox="1"/>
            <p:nvPr/>
          </p:nvSpPr>
          <p:spPr>
            <a:xfrm>
              <a:off x="6738" y="8356"/>
              <a:ext cx="518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20000"/>
                </a:lnSpc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本区域用于填充核心文本信息，围绕主题补充关键内容，确保表述精准简洁、贴合整体风格。</a:t>
              </a: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B3C8DD12-F633-D40B-CDCA-17F60A32C55F}"/>
                </a:ext>
              </a:extLst>
            </p:cNvPr>
            <p:cNvSpPr txBox="1"/>
            <p:nvPr/>
          </p:nvSpPr>
          <p:spPr>
            <a:xfrm>
              <a:off x="6738" y="7438"/>
              <a:ext cx="242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26323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</a:p>
            <a:p>
              <a:pPr defTabSz="914400"/>
              <a:r>
                <a:rPr lang="zh-CN" altLang="en-US" sz="1400" dirty="0">
                  <a:solidFill>
                    <a:srgbClr val="26323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替换位置</a:t>
              </a:r>
            </a:p>
          </p:txBody>
        </p:sp>
      </p:grpSp>
      <p:sp>
        <p:nvSpPr>
          <p:cNvPr id="215" name="文本框 214">
            <a:extLst>
              <a:ext uri="{FF2B5EF4-FFF2-40B4-BE49-F238E27FC236}">
                <a16:creationId xmlns:a16="http://schemas.microsoft.com/office/drawing/2014/main" id="{E1B9D7D2-CD4D-6E11-E842-AE87AEB725A9}"/>
              </a:ext>
            </a:extLst>
          </p:cNvPr>
          <p:cNvSpPr txBox="1"/>
          <p:nvPr/>
        </p:nvSpPr>
        <p:spPr>
          <a:xfrm>
            <a:off x="7895590" y="2344420"/>
            <a:ext cx="7721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800" dirty="0">
                <a:solidFill>
                  <a:srgbClr val="000000">
                    <a:alpha val="80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核心任务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91D44BA4-90B6-33D1-C14D-9B763EACB49C}"/>
              </a:ext>
            </a:extLst>
          </p:cNvPr>
          <p:cNvSpPr txBox="1"/>
          <p:nvPr/>
        </p:nvSpPr>
        <p:spPr>
          <a:xfrm>
            <a:off x="10858500" y="2344420"/>
            <a:ext cx="458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n-GB" altLang="zh-CN" sz="800" dirty="0">
                <a:solidFill>
                  <a:srgbClr val="000000">
                    <a:alpha val="80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01</a:t>
            </a:r>
          </a:p>
        </p:txBody>
      </p: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A7F894F3-1518-320E-9229-8CF77E390399}"/>
              </a:ext>
            </a:extLst>
          </p:cNvPr>
          <p:cNvGrpSpPr/>
          <p:nvPr/>
        </p:nvGrpSpPr>
        <p:grpSpPr>
          <a:xfrm>
            <a:off x="661670" y="2773680"/>
            <a:ext cx="9724390" cy="1181100"/>
            <a:chOff x="1042" y="4368"/>
            <a:chExt cx="15314" cy="1860"/>
          </a:xfrm>
        </p:grpSpPr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80868CE1-CC92-2A28-7818-B79B5C0E9A35}"/>
                </a:ext>
              </a:extLst>
            </p:cNvPr>
            <p:cNvSpPr txBox="1"/>
            <p:nvPr/>
          </p:nvSpPr>
          <p:spPr>
            <a:xfrm>
              <a:off x="1042" y="5515"/>
              <a:ext cx="265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</a:p>
          </p:txBody>
        </p:sp>
        <p:sp>
          <p:nvSpPr>
            <p:cNvPr id="219" name="文本框 218">
              <a:extLst>
                <a:ext uri="{FF2B5EF4-FFF2-40B4-BE49-F238E27FC236}">
                  <a16:creationId xmlns:a16="http://schemas.microsoft.com/office/drawing/2014/main" id="{5B92BC96-F9E6-6F27-5847-C83CD93CED27}"/>
                </a:ext>
              </a:extLst>
            </p:cNvPr>
            <p:cNvSpPr txBox="1"/>
            <p:nvPr/>
          </p:nvSpPr>
          <p:spPr>
            <a:xfrm>
              <a:off x="1042" y="4937"/>
              <a:ext cx="253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董事长</a:t>
              </a:r>
            </a:p>
          </p:txBody>
        </p: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30FD30DD-8DCC-A47A-92B6-5B3DEA6E3B1E}"/>
                </a:ext>
              </a:extLst>
            </p:cNvPr>
            <p:cNvSpPr txBox="1"/>
            <p:nvPr/>
          </p:nvSpPr>
          <p:spPr>
            <a:xfrm>
              <a:off x="1042" y="4368"/>
              <a:ext cx="392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Chairman</a:t>
              </a:r>
            </a:p>
          </p:txBody>
        </p:sp>
        <p:sp>
          <p:nvSpPr>
            <p:cNvPr id="221" name="圆角矩形 43">
              <a:extLst>
                <a:ext uri="{FF2B5EF4-FFF2-40B4-BE49-F238E27FC236}">
                  <a16:creationId xmlns:a16="http://schemas.microsoft.com/office/drawing/2014/main" id="{2B23516E-BB4C-4E92-18E6-1DBDB8421BA9}"/>
                </a:ext>
              </a:extLst>
            </p:cNvPr>
            <p:cNvSpPr/>
            <p:nvPr/>
          </p:nvSpPr>
          <p:spPr>
            <a:xfrm>
              <a:off x="1186" y="6014"/>
              <a:ext cx="1223" cy="214"/>
            </a:xfrm>
            <a:prstGeom prst="roundRect">
              <a:avLst>
                <a:gd name="adj" fmla="val 50000"/>
              </a:avLst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rPr>
                <a:t>浙江科技大学</a:t>
              </a:r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6368CBAF-F284-AF69-6B52-0C2B4AC906FF}"/>
                </a:ext>
              </a:extLst>
            </p:cNvPr>
            <p:cNvSpPr txBox="1"/>
            <p:nvPr/>
          </p:nvSpPr>
          <p:spPr>
            <a:xfrm>
              <a:off x="6738" y="5515"/>
              <a:ext cx="265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</a:p>
          </p:txBody>
        </p: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BD5EC0E2-0790-BFA5-A99C-3D5131C250FF}"/>
                </a:ext>
              </a:extLst>
            </p:cNvPr>
            <p:cNvSpPr txBox="1"/>
            <p:nvPr/>
          </p:nvSpPr>
          <p:spPr>
            <a:xfrm>
              <a:off x="6738" y="4937"/>
              <a:ext cx="253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财务总监</a:t>
              </a:r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EBF92E24-44E5-6AA0-0B0D-D68BA9E09524}"/>
                </a:ext>
              </a:extLst>
            </p:cNvPr>
            <p:cNvSpPr txBox="1"/>
            <p:nvPr/>
          </p:nvSpPr>
          <p:spPr>
            <a:xfrm>
              <a:off x="6738" y="4368"/>
              <a:ext cx="392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Chief Financial Officer</a:t>
              </a:r>
            </a:p>
          </p:txBody>
        </p:sp>
        <p:sp>
          <p:nvSpPr>
            <p:cNvPr id="225" name="圆角矩形 75">
              <a:extLst>
                <a:ext uri="{FF2B5EF4-FFF2-40B4-BE49-F238E27FC236}">
                  <a16:creationId xmlns:a16="http://schemas.microsoft.com/office/drawing/2014/main" id="{F2571F7D-83D0-DCFD-094A-2A0EA84D1F32}"/>
                </a:ext>
              </a:extLst>
            </p:cNvPr>
            <p:cNvSpPr/>
            <p:nvPr/>
          </p:nvSpPr>
          <p:spPr>
            <a:xfrm>
              <a:off x="6882" y="6014"/>
              <a:ext cx="1223" cy="214"/>
            </a:xfrm>
            <a:prstGeom prst="roundRect">
              <a:avLst>
                <a:gd name="adj" fmla="val 50000"/>
              </a:avLst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rPr>
                <a:t>浙江科技大学</a:t>
              </a:r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700DBA93-42A7-F541-7427-543ED95E1637}"/>
                </a:ext>
              </a:extLst>
            </p:cNvPr>
            <p:cNvSpPr txBox="1"/>
            <p:nvPr/>
          </p:nvSpPr>
          <p:spPr>
            <a:xfrm>
              <a:off x="12434" y="5515"/>
              <a:ext cx="265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6323B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C23C2F3B-E3D0-9028-09AD-D1D5D6F4F6D5}"/>
                </a:ext>
              </a:extLst>
            </p:cNvPr>
            <p:cNvSpPr txBox="1"/>
            <p:nvPr/>
          </p:nvSpPr>
          <p:spPr>
            <a:xfrm>
              <a:off x="12434" y="4937"/>
              <a:ext cx="253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销售总监</a:t>
              </a: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E2DBAFBB-A01C-EEC6-A20C-602A6BBA44FE}"/>
                </a:ext>
              </a:extLst>
            </p:cNvPr>
            <p:cNvSpPr txBox="1"/>
            <p:nvPr/>
          </p:nvSpPr>
          <p:spPr>
            <a:xfrm>
              <a:off x="12434" y="4368"/>
              <a:ext cx="392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Sales Director</a:t>
              </a:r>
            </a:p>
          </p:txBody>
        </p:sp>
        <p:sp>
          <p:nvSpPr>
            <p:cNvPr id="229" name="圆角矩形 83">
              <a:extLst>
                <a:ext uri="{FF2B5EF4-FFF2-40B4-BE49-F238E27FC236}">
                  <a16:creationId xmlns:a16="http://schemas.microsoft.com/office/drawing/2014/main" id="{567F9CAE-C7E7-6352-5349-27FEFF90EBC8}"/>
                </a:ext>
              </a:extLst>
            </p:cNvPr>
            <p:cNvSpPr/>
            <p:nvPr/>
          </p:nvSpPr>
          <p:spPr>
            <a:xfrm>
              <a:off x="12578" y="6014"/>
              <a:ext cx="1223" cy="214"/>
            </a:xfrm>
            <a:prstGeom prst="roundRect">
              <a:avLst>
                <a:gd name="adj" fmla="val 50000"/>
              </a:avLst>
            </a:prstGeom>
            <a:solidFill>
              <a:srgbClr val="7928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rPr>
                <a:t>浙江科技大学</a:t>
              </a:r>
            </a:p>
          </p:txBody>
        </p: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19A57B63-B2E3-A616-5695-6586D97062C4}"/>
              </a:ext>
            </a:extLst>
          </p:cNvPr>
          <p:cNvGrpSpPr/>
          <p:nvPr/>
        </p:nvGrpSpPr>
        <p:grpSpPr>
          <a:xfrm>
            <a:off x="7895590" y="4723130"/>
            <a:ext cx="3291840" cy="1042670"/>
            <a:chOff x="12434" y="7438"/>
            <a:chExt cx="5184" cy="1642"/>
          </a:xfrm>
        </p:grpSpPr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45EFD90C-E26B-5351-7CAE-CEC79EC4DFED}"/>
                </a:ext>
              </a:extLst>
            </p:cNvPr>
            <p:cNvSpPr txBox="1"/>
            <p:nvPr/>
          </p:nvSpPr>
          <p:spPr>
            <a:xfrm>
              <a:off x="12434" y="8356"/>
              <a:ext cx="518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ct val="120000"/>
                </a:lnSpc>
                <a:defRPr/>
              </a:pPr>
              <a:r>
                <a:rPr lang="zh-CN" altLang="en-US" sz="1000" dirty="0">
                  <a:solidFill>
                    <a:srgbClr val="26323B">
                      <a:alpha val="71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本区域用于填充核心文本信息，围绕主题补充关键内容，确保表述精准简洁、贴合整体风格。</a:t>
              </a: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B11D5CBD-3CED-D2DA-9076-BE4F4BFB709C}"/>
                </a:ext>
              </a:extLst>
            </p:cNvPr>
            <p:cNvSpPr txBox="1"/>
            <p:nvPr/>
          </p:nvSpPr>
          <p:spPr>
            <a:xfrm>
              <a:off x="12434" y="7438"/>
              <a:ext cx="242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400" dirty="0">
                  <a:solidFill>
                    <a:srgbClr val="26323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关键文本信息</a:t>
              </a:r>
            </a:p>
            <a:p>
              <a:pPr defTabSz="914400"/>
              <a:r>
                <a:rPr lang="zh-CN" altLang="en-US" sz="1400" dirty="0">
                  <a:solidFill>
                    <a:srgbClr val="26323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替换位置</a:t>
              </a:r>
            </a:p>
          </p:txBody>
        </p:sp>
      </p:grpSp>
      <p:pic>
        <p:nvPicPr>
          <p:cNvPr id="233" name="图片 232" descr="a-minimalist-portrait-photograph-of-an-e_9LA9FErjQvyIG4FgJAIyaA_jA8hLzYwTZmljz9o-u2Y5w">
            <a:extLst>
              <a:ext uri="{FF2B5EF4-FFF2-40B4-BE49-F238E27FC236}">
                <a16:creationId xmlns:a16="http://schemas.microsoft.com/office/drawing/2014/main" id="{031B9E8F-88F3-FE8A-9E98-B2332A636E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85365" y="1575435"/>
            <a:ext cx="1602740" cy="2653665"/>
          </a:xfrm>
          <a:prstGeom prst="rect">
            <a:avLst/>
          </a:prstGeom>
          <a:effectLst>
            <a:outerShdw blurRad="215900" dist="317500" dir="8100000" sx="87000" sy="87000" algn="tr" rotWithShape="0">
              <a:prstClr val="black">
                <a:alpha val="12000"/>
              </a:prstClr>
            </a:outerShdw>
          </a:effectLst>
        </p:spPr>
      </p:pic>
      <p:pic>
        <p:nvPicPr>
          <p:cNvPr id="234" name="图片 233" descr="a-portrait-photograph-of-an-asian-woman-_Z2Ej22KMRiSEwJP3N4IEOA_J0QJvkyxRk2xsx5M_PiUWA">
            <a:extLst>
              <a:ext uri="{FF2B5EF4-FFF2-40B4-BE49-F238E27FC236}">
                <a16:creationId xmlns:a16="http://schemas.microsoft.com/office/drawing/2014/main" id="{65AD40FF-8359-93B8-FCA7-BD2C0284D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70905" y="1591945"/>
            <a:ext cx="1440180" cy="2636520"/>
          </a:xfrm>
          <a:prstGeom prst="rect">
            <a:avLst/>
          </a:prstGeom>
          <a:effectLst>
            <a:outerShdw blurRad="215900" dist="317500" dir="8100000" sx="87000" sy="87000" algn="tr" rotWithShape="0">
              <a:prstClr val="black">
                <a:alpha val="12000"/>
              </a:prstClr>
            </a:outerShdw>
          </a:effectLst>
        </p:spPr>
      </p:pic>
      <p:pic>
        <p:nvPicPr>
          <p:cNvPr id="235" name="图片 234" descr="a-professional-portrait-photograph-of-an_Cl3ymQv3RcmxK6_rx2XfYA__8wmzjuoTIuRg3q41lFV1A">
            <a:extLst>
              <a:ext uri="{FF2B5EF4-FFF2-40B4-BE49-F238E27FC236}">
                <a16:creationId xmlns:a16="http://schemas.microsoft.com/office/drawing/2014/main" id="{74C58E6C-EC9C-573A-84A6-B185B9EB5D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677" t="19073" r="37427"/>
          <a:stretch>
            <a:fillRect/>
          </a:stretch>
        </p:blipFill>
        <p:spPr>
          <a:xfrm>
            <a:off x="9418320" y="1576705"/>
            <a:ext cx="1696085" cy="2651760"/>
          </a:xfrm>
          <a:prstGeom prst="rect">
            <a:avLst/>
          </a:prstGeom>
          <a:effectLst>
            <a:outerShdw blurRad="215900" dist="317500" dir="8100000" sx="87000" sy="87000" algn="tr" rotWithShape="0">
              <a:prstClr val="black">
                <a:alpha val="1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8232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9C8B-EF5C-82A5-D0B7-C168F6970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 105">
            <a:extLst>
              <a:ext uri="{FF2B5EF4-FFF2-40B4-BE49-F238E27FC236}">
                <a16:creationId xmlns:a16="http://schemas.microsoft.com/office/drawing/2014/main" id="{6296850D-A10D-1573-8C2F-344863D71695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年度销售策略复盘</a:t>
            </a: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46442C06-EA91-C5D8-48C1-1EA9ECDDFFF5}"/>
              </a:ext>
            </a:extLst>
          </p:cNvPr>
          <p:cNvGrpSpPr/>
          <p:nvPr/>
        </p:nvGrpSpPr>
        <p:grpSpPr>
          <a:xfrm>
            <a:off x="558165" y="1643697"/>
            <a:ext cx="2008505" cy="4482465"/>
            <a:chOff x="879" y="3741"/>
            <a:chExt cx="3163" cy="7059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5BA2D322-2878-9BB8-8B98-3C7C7EAEDF36}"/>
                </a:ext>
              </a:extLst>
            </p:cNvPr>
            <p:cNvSpPr/>
            <p:nvPr/>
          </p:nvSpPr>
          <p:spPr>
            <a:xfrm rot="5400000">
              <a:off x="-1069" y="5689"/>
              <a:ext cx="7059" cy="3162"/>
            </a:xfrm>
            <a:prstGeom prst="rect">
              <a:avLst/>
            </a:prstGeom>
            <a:blipFill rotWithShape="0">
              <a:blip r:embed="rId2" cstate="hqprint"/>
              <a:stretch>
                <a:fillRect t="-1000" b="11000"/>
              </a:stretch>
            </a:blip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C934435C-EBDE-215D-EC1E-CEC32187C04D}"/>
                </a:ext>
              </a:extLst>
            </p:cNvPr>
            <p:cNvSpPr/>
            <p:nvPr/>
          </p:nvSpPr>
          <p:spPr>
            <a:xfrm rot="5400000">
              <a:off x="-1067" y="5691"/>
              <a:ext cx="7057" cy="3162"/>
            </a:xfrm>
            <a:prstGeom prst="rect">
              <a:avLst/>
            </a:prstGeom>
            <a:gradFill rotWithShape="0">
              <a:gsLst>
                <a:gs pos="26000">
                  <a:srgbClr val="3C007F"/>
                </a:gs>
                <a:gs pos="100000">
                  <a:srgbClr val="3C007F">
                    <a:alpha val="30000"/>
                  </a:srgbClr>
                </a:gs>
              </a:gsLst>
              <a:lin ang="16320000" scaled="0"/>
            </a:gra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C17A0CED-2F59-BC97-BF2A-D29D28D518DA}"/>
                </a:ext>
              </a:extLst>
            </p:cNvPr>
            <p:cNvSpPr txBox="1"/>
            <p:nvPr/>
          </p:nvSpPr>
          <p:spPr>
            <a:xfrm>
              <a:off x="880" y="9975"/>
              <a:ext cx="3162" cy="36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Core customer renewal rate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FDC63B37-BD47-0993-09EA-0572022E8421}"/>
                </a:ext>
              </a:extLst>
            </p:cNvPr>
            <p:cNvSpPr txBox="1"/>
            <p:nvPr/>
          </p:nvSpPr>
          <p:spPr>
            <a:xfrm>
              <a:off x="880" y="9358"/>
              <a:ext cx="3162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客户端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C328422D-98D1-C03A-D078-0B0CC93B89DD}"/>
              </a:ext>
            </a:extLst>
          </p:cNvPr>
          <p:cNvGrpSpPr/>
          <p:nvPr/>
        </p:nvGrpSpPr>
        <p:grpSpPr>
          <a:xfrm>
            <a:off x="2642870" y="1643697"/>
            <a:ext cx="2008505" cy="4482465"/>
            <a:chOff x="4162" y="3741"/>
            <a:chExt cx="3163" cy="7059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CFD67C44-D78B-E5D0-60F9-8F28F09B9FDF}"/>
                </a:ext>
              </a:extLst>
            </p:cNvPr>
            <p:cNvSpPr/>
            <p:nvPr/>
          </p:nvSpPr>
          <p:spPr>
            <a:xfrm rot="5400000">
              <a:off x="2214" y="5689"/>
              <a:ext cx="7059" cy="3162"/>
            </a:xfrm>
            <a:prstGeom prst="rect">
              <a:avLst/>
            </a:prstGeom>
            <a:blipFill rotWithShape="0">
              <a:blip r:embed="rId3" cstate="hqprint"/>
              <a:stretch>
                <a:fillRect t="-1000" b="11000"/>
              </a:stretch>
            </a:blip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75B9D3CD-9F10-2F02-6AD7-0EE4C0667E9C}"/>
                </a:ext>
              </a:extLst>
            </p:cNvPr>
            <p:cNvSpPr/>
            <p:nvPr/>
          </p:nvSpPr>
          <p:spPr>
            <a:xfrm rot="5400000">
              <a:off x="2216" y="5691"/>
              <a:ext cx="7057" cy="3162"/>
            </a:xfrm>
            <a:prstGeom prst="rect">
              <a:avLst/>
            </a:prstGeom>
            <a:gradFill rotWithShape="0">
              <a:gsLst>
                <a:gs pos="26000">
                  <a:srgbClr val="3C007F"/>
                </a:gs>
                <a:gs pos="100000">
                  <a:srgbClr val="3C007F">
                    <a:alpha val="30000"/>
                  </a:srgbClr>
                </a:gs>
              </a:gsLst>
              <a:lin ang="16320000" scaled="0"/>
            </a:gra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E0134991-593F-7AEE-713B-160937567A62}"/>
                </a:ext>
              </a:extLst>
            </p:cNvPr>
            <p:cNvSpPr txBox="1"/>
            <p:nvPr/>
          </p:nvSpPr>
          <p:spPr>
            <a:xfrm>
              <a:off x="4163" y="9975"/>
              <a:ext cx="3162" cy="36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Core customer renewal rate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572A5EC5-9CDB-A3AA-ADBE-8F73E4CB239D}"/>
                </a:ext>
              </a:extLst>
            </p:cNvPr>
            <p:cNvSpPr txBox="1"/>
            <p:nvPr/>
          </p:nvSpPr>
          <p:spPr>
            <a:xfrm>
              <a:off x="4163" y="9358"/>
              <a:ext cx="3162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直播</a:t>
              </a: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7A44E463-ADB9-286B-567D-CB1E6EE2A7E2}"/>
              </a:ext>
            </a:extLst>
          </p:cNvPr>
          <p:cNvGrpSpPr/>
          <p:nvPr/>
        </p:nvGrpSpPr>
        <p:grpSpPr>
          <a:xfrm>
            <a:off x="4727575" y="1643697"/>
            <a:ext cx="2008505" cy="4482465"/>
            <a:chOff x="7445" y="3741"/>
            <a:chExt cx="3163" cy="7059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45C58071-6937-68D2-7D43-A134AC798D71}"/>
                </a:ext>
              </a:extLst>
            </p:cNvPr>
            <p:cNvSpPr/>
            <p:nvPr/>
          </p:nvSpPr>
          <p:spPr>
            <a:xfrm rot="5400000">
              <a:off x="5497" y="5689"/>
              <a:ext cx="7059" cy="3162"/>
            </a:xfrm>
            <a:prstGeom prst="rect">
              <a:avLst/>
            </a:prstGeom>
            <a:blipFill rotWithShape="0">
              <a:blip r:embed="rId4" cstate="hqprint"/>
              <a:stretch>
                <a:fillRect t="-1000" b="11000"/>
              </a:stretch>
            </a:blip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02CE4D06-10B1-7BB6-B25A-A18CCA91C84D}"/>
                </a:ext>
              </a:extLst>
            </p:cNvPr>
            <p:cNvSpPr/>
            <p:nvPr/>
          </p:nvSpPr>
          <p:spPr>
            <a:xfrm rot="5400000">
              <a:off x="5499" y="5691"/>
              <a:ext cx="7057" cy="3162"/>
            </a:xfrm>
            <a:prstGeom prst="rect">
              <a:avLst/>
            </a:prstGeom>
            <a:gradFill rotWithShape="0">
              <a:gsLst>
                <a:gs pos="26000">
                  <a:srgbClr val="3C007F"/>
                </a:gs>
                <a:gs pos="100000">
                  <a:srgbClr val="3C007F">
                    <a:alpha val="30000"/>
                  </a:srgbClr>
                </a:gs>
              </a:gsLst>
              <a:lin ang="16320000" scaled="0"/>
            </a:gra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7588B9F1-E44B-41BC-D5B4-1B7A9BE71419}"/>
                </a:ext>
              </a:extLst>
            </p:cNvPr>
            <p:cNvSpPr txBox="1"/>
            <p:nvPr/>
          </p:nvSpPr>
          <p:spPr>
            <a:xfrm>
              <a:off x="7446" y="9975"/>
              <a:ext cx="3162" cy="36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Core customer renewal rate</a:t>
              </a: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D9A5A269-AC4E-97EA-AE8F-D958F3C5DF1F}"/>
                </a:ext>
              </a:extLst>
            </p:cNvPr>
            <p:cNvSpPr txBox="1"/>
            <p:nvPr/>
          </p:nvSpPr>
          <p:spPr>
            <a:xfrm>
              <a:off x="7446" y="9358"/>
              <a:ext cx="3162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线下门店</a:t>
              </a: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FCD2836F-281C-824C-BF43-4F0E3706074E}"/>
              </a:ext>
            </a:extLst>
          </p:cNvPr>
          <p:cNvGrpSpPr/>
          <p:nvPr/>
        </p:nvGrpSpPr>
        <p:grpSpPr>
          <a:xfrm>
            <a:off x="6768465" y="2006282"/>
            <a:ext cx="5418455" cy="1021715"/>
            <a:chOff x="10659" y="4312"/>
            <a:chExt cx="8533" cy="1609"/>
          </a:xfrm>
        </p:grpSpPr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078E67F6-D823-A32F-40DA-E1DD2D57526F}"/>
                </a:ext>
              </a:extLst>
            </p:cNvPr>
            <p:cNvSpPr txBox="1"/>
            <p:nvPr/>
          </p:nvSpPr>
          <p:spPr>
            <a:xfrm>
              <a:off x="10659" y="4312"/>
              <a:ext cx="4087" cy="4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全年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 6 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大拓客成效</a:t>
              </a:r>
            </a:p>
          </p:txBody>
        </p:sp>
        <p:pic>
          <p:nvPicPr>
            <p:cNvPr id="123" name="图片 78" descr="左_left (3)">
              <a:extLst>
                <a:ext uri="{FF2B5EF4-FFF2-40B4-BE49-F238E27FC236}">
                  <a16:creationId xmlns:a16="http://schemas.microsoft.com/office/drawing/2014/main" id="{D0EBBE1A-D79F-EDE6-AC1F-0B2D89F9EB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0813" y="4795"/>
              <a:ext cx="360" cy="360"/>
            </a:xfrm>
            <a:prstGeom prst="rect">
              <a:avLst/>
            </a:prstGeom>
          </p:spPr>
        </p:pic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974286A3-D59F-E992-1601-8584589C126F}"/>
                </a:ext>
              </a:extLst>
            </p:cNvPr>
            <p:cNvSpPr txBox="1"/>
            <p:nvPr/>
          </p:nvSpPr>
          <p:spPr>
            <a:xfrm>
              <a:off x="11220" y="4795"/>
              <a:ext cx="7972" cy="386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72500"/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Water quality warning</a:t>
              </a:r>
            </a:p>
          </p:txBody>
        </p:sp>
        <p:sp>
          <p:nvSpPr>
            <p:cNvPr id="125" name="圆角矩形 103">
              <a:extLst>
                <a:ext uri="{FF2B5EF4-FFF2-40B4-BE49-F238E27FC236}">
                  <a16:creationId xmlns:a16="http://schemas.microsoft.com/office/drawing/2014/main" id="{4758D38A-43B5-FCD8-650D-DBBB7278B706}"/>
                </a:ext>
              </a:extLst>
            </p:cNvPr>
            <p:cNvSpPr/>
            <p:nvPr/>
          </p:nvSpPr>
          <p:spPr>
            <a:xfrm>
              <a:off x="10813" y="5365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拓客</a:t>
              </a:r>
            </a:p>
          </p:txBody>
        </p:sp>
        <p:sp>
          <p:nvSpPr>
            <p:cNvPr id="126" name="圆角矩形 104">
              <a:extLst>
                <a:ext uri="{FF2B5EF4-FFF2-40B4-BE49-F238E27FC236}">
                  <a16:creationId xmlns:a16="http://schemas.microsoft.com/office/drawing/2014/main" id="{638BBF09-77A2-5409-2B2F-96317149CE90}"/>
                </a:ext>
              </a:extLst>
            </p:cNvPr>
            <p:cNvSpPr/>
            <p:nvPr/>
          </p:nvSpPr>
          <p:spPr>
            <a:xfrm>
              <a:off x="13428" y="5365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数据</a:t>
              </a:r>
            </a:p>
          </p:txBody>
        </p:sp>
        <p:sp>
          <p:nvSpPr>
            <p:cNvPr id="127" name="圆角矩形 105">
              <a:extLst>
                <a:ext uri="{FF2B5EF4-FFF2-40B4-BE49-F238E27FC236}">
                  <a16:creationId xmlns:a16="http://schemas.microsoft.com/office/drawing/2014/main" id="{E0358C4F-518F-CF78-BB56-9A11636F0F4E}"/>
                </a:ext>
              </a:extLst>
            </p:cNvPr>
            <p:cNvSpPr/>
            <p:nvPr/>
          </p:nvSpPr>
          <p:spPr>
            <a:xfrm>
              <a:off x="16044" y="5365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优化</a:t>
              </a:r>
            </a:p>
          </p:txBody>
        </p:sp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DFFC49E9-6320-5CFE-537C-7C01DF82D155}"/>
              </a:ext>
            </a:extLst>
          </p:cNvPr>
          <p:cNvGrpSpPr/>
          <p:nvPr/>
        </p:nvGrpSpPr>
        <p:grpSpPr>
          <a:xfrm>
            <a:off x="6768465" y="3400742"/>
            <a:ext cx="5418455" cy="1029335"/>
            <a:chOff x="10659" y="6508"/>
            <a:chExt cx="8533" cy="1621"/>
          </a:xfrm>
        </p:grpSpPr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3E3EAE5F-F2F1-8276-C4F4-9A0F379F7C51}"/>
                </a:ext>
              </a:extLst>
            </p:cNvPr>
            <p:cNvSpPr txBox="1"/>
            <p:nvPr/>
          </p:nvSpPr>
          <p:spPr>
            <a:xfrm>
              <a:off x="10659" y="6508"/>
              <a:ext cx="4087" cy="4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3 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季爆款打造复盘</a:t>
              </a:r>
            </a:p>
          </p:txBody>
        </p:sp>
        <p:pic>
          <p:nvPicPr>
            <p:cNvPr id="194" name="图片 96" descr="左_left (3)">
              <a:extLst>
                <a:ext uri="{FF2B5EF4-FFF2-40B4-BE49-F238E27FC236}">
                  <a16:creationId xmlns:a16="http://schemas.microsoft.com/office/drawing/2014/main" id="{9732F61C-6F6E-192D-45FE-90EE46A70A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0813" y="6991"/>
              <a:ext cx="360" cy="360"/>
            </a:xfrm>
            <a:prstGeom prst="rect">
              <a:avLst/>
            </a:prstGeom>
          </p:spPr>
        </p:pic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3DBFD41F-292C-0641-9895-C489F37BE05C}"/>
                </a:ext>
              </a:extLst>
            </p:cNvPr>
            <p:cNvSpPr txBox="1"/>
            <p:nvPr/>
          </p:nvSpPr>
          <p:spPr>
            <a:xfrm>
              <a:off x="11220" y="6991"/>
              <a:ext cx="7972" cy="386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72500"/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Water quality warning</a:t>
              </a:r>
            </a:p>
          </p:txBody>
        </p:sp>
        <p:sp>
          <p:nvSpPr>
            <p:cNvPr id="256" name="圆角矩形 108">
              <a:extLst>
                <a:ext uri="{FF2B5EF4-FFF2-40B4-BE49-F238E27FC236}">
                  <a16:creationId xmlns:a16="http://schemas.microsoft.com/office/drawing/2014/main" id="{F81DEFAC-C8E9-638A-EFB2-F258788F9543}"/>
                </a:ext>
              </a:extLst>
            </p:cNvPr>
            <p:cNvSpPr/>
            <p:nvPr/>
          </p:nvSpPr>
          <p:spPr>
            <a:xfrm>
              <a:off x="10813" y="7573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爆款</a:t>
              </a:r>
            </a:p>
          </p:txBody>
        </p:sp>
        <p:sp>
          <p:nvSpPr>
            <p:cNvPr id="257" name="圆角矩形 109">
              <a:extLst>
                <a:ext uri="{FF2B5EF4-FFF2-40B4-BE49-F238E27FC236}">
                  <a16:creationId xmlns:a16="http://schemas.microsoft.com/office/drawing/2014/main" id="{B08C1DE3-00D7-3794-7BE1-868294649530}"/>
                </a:ext>
              </a:extLst>
            </p:cNvPr>
            <p:cNvSpPr/>
            <p:nvPr/>
          </p:nvSpPr>
          <p:spPr>
            <a:xfrm>
              <a:off x="13428" y="7573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周期</a:t>
              </a:r>
            </a:p>
          </p:txBody>
        </p:sp>
        <p:sp>
          <p:nvSpPr>
            <p:cNvPr id="258" name="圆角矩形 110">
              <a:extLst>
                <a:ext uri="{FF2B5EF4-FFF2-40B4-BE49-F238E27FC236}">
                  <a16:creationId xmlns:a16="http://schemas.microsoft.com/office/drawing/2014/main" id="{9A48E036-CB3C-77A6-EA12-A172C36374F5}"/>
                </a:ext>
              </a:extLst>
            </p:cNvPr>
            <p:cNvSpPr/>
            <p:nvPr/>
          </p:nvSpPr>
          <p:spPr>
            <a:xfrm>
              <a:off x="16044" y="7573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复用</a:t>
              </a:r>
            </a:p>
          </p:txBody>
        </p:sp>
      </p:grp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B879C32C-35F7-76D3-5C00-8AAFED80E5F1}"/>
              </a:ext>
            </a:extLst>
          </p:cNvPr>
          <p:cNvGrpSpPr/>
          <p:nvPr/>
        </p:nvGrpSpPr>
        <p:grpSpPr>
          <a:xfrm>
            <a:off x="6768465" y="4795202"/>
            <a:ext cx="5418455" cy="1036955"/>
            <a:chOff x="10659" y="8704"/>
            <a:chExt cx="8533" cy="1633"/>
          </a:xfrm>
        </p:grpSpPr>
        <p:sp>
          <p:nvSpPr>
            <p:cNvPr id="260" name="文本框 259">
              <a:extLst>
                <a:ext uri="{FF2B5EF4-FFF2-40B4-BE49-F238E27FC236}">
                  <a16:creationId xmlns:a16="http://schemas.microsoft.com/office/drawing/2014/main" id="{4F95A777-43A0-B88C-4694-361008E9F913}"/>
                </a:ext>
              </a:extLst>
            </p:cNvPr>
            <p:cNvSpPr txBox="1"/>
            <p:nvPr/>
          </p:nvSpPr>
          <p:spPr>
            <a:xfrm>
              <a:off x="10659" y="8704"/>
              <a:ext cx="4087" cy="4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 5 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3C007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维转化能力升级</a:t>
              </a:r>
            </a:p>
          </p:txBody>
        </p:sp>
        <p:pic>
          <p:nvPicPr>
            <p:cNvPr id="261" name="图片 100" descr="左_left (3)">
              <a:extLst>
                <a:ext uri="{FF2B5EF4-FFF2-40B4-BE49-F238E27FC236}">
                  <a16:creationId xmlns:a16="http://schemas.microsoft.com/office/drawing/2014/main" id="{8D255BD6-E88A-AA43-A75B-72A3010EA7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0813" y="9187"/>
              <a:ext cx="360" cy="360"/>
            </a:xfrm>
            <a:prstGeom prst="rect">
              <a:avLst/>
            </a:prstGeom>
          </p:spPr>
        </p:pic>
        <p:sp>
          <p:nvSpPr>
            <p:cNvPr id="262" name="文本框 261">
              <a:extLst>
                <a:ext uri="{FF2B5EF4-FFF2-40B4-BE49-F238E27FC236}">
                  <a16:creationId xmlns:a16="http://schemas.microsoft.com/office/drawing/2014/main" id="{BA4E3D74-846C-ADB0-BECA-E503631348F8}"/>
                </a:ext>
              </a:extLst>
            </p:cNvPr>
            <p:cNvSpPr txBox="1"/>
            <p:nvPr/>
          </p:nvSpPr>
          <p:spPr>
            <a:xfrm>
              <a:off x="11220" y="9187"/>
              <a:ext cx="7972" cy="386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72500"/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Water quality warning</a:t>
              </a:r>
            </a:p>
          </p:txBody>
        </p:sp>
        <p:sp>
          <p:nvSpPr>
            <p:cNvPr id="263" name="圆角矩形 112">
              <a:extLst>
                <a:ext uri="{FF2B5EF4-FFF2-40B4-BE49-F238E27FC236}">
                  <a16:creationId xmlns:a16="http://schemas.microsoft.com/office/drawing/2014/main" id="{1B23C28D-BF7A-A07C-C3EB-9F2D1C484F6D}"/>
                </a:ext>
              </a:extLst>
            </p:cNvPr>
            <p:cNvSpPr/>
            <p:nvPr/>
          </p:nvSpPr>
          <p:spPr>
            <a:xfrm>
              <a:off x="10813" y="9781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转化</a:t>
              </a:r>
            </a:p>
          </p:txBody>
        </p:sp>
        <p:sp>
          <p:nvSpPr>
            <p:cNvPr id="264" name="圆角矩形 113">
              <a:extLst>
                <a:ext uri="{FF2B5EF4-FFF2-40B4-BE49-F238E27FC236}">
                  <a16:creationId xmlns:a16="http://schemas.microsoft.com/office/drawing/2014/main" id="{B3871FA0-5714-D002-10A6-21ADA8C65305}"/>
                </a:ext>
              </a:extLst>
            </p:cNvPr>
            <p:cNvSpPr/>
            <p:nvPr/>
          </p:nvSpPr>
          <p:spPr>
            <a:xfrm>
              <a:off x="13428" y="9781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能力</a:t>
              </a:r>
            </a:p>
          </p:txBody>
        </p:sp>
        <p:sp>
          <p:nvSpPr>
            <p:cNvPr id="265" name="圆角矩形 114">
              <a:extLst>
                <a:ext uri="{FF2B5EF4-FFF2-40B4-BE49-F238E27FC236}">
                  <a16:creationId xmlns:a16="http://schemas.microsoft.com/office/drawing/2014/main" id="{B60524F2-4E40-9005-6D7C-1F7526F10EA3}"/>
                </a:ext>
              </a:extLst>
            </p:cNvPr>
            <p:cNvSpPr/>
            <p:nvPr/>
          </p:nvSpPr>
          <p:spPr>
            <a:xfrm>
              <a:off x="16044" y="9781"/>
              <a:ext cx="2417" cy="55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3000"/>
              </a:srgbClr>
            </a:solidFill>
            <a:ln>
              <a:solidFill>
                <a:srgbClr val="FFFFFF"/>
              </a:solidFill>
            </a:ln>
            <a:effectLst>
              <a:outerShdw blurRad="101600" dist="63500" dir="5400000" sx="93000" sy="93000" algn="t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迭代</a:t>
              </a:r>
            </a:p>
          </p:txBody>
        </p:sp>
      </p:grp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BED31B46-9E10-506D-5BA9-0647A575CB0D}"/>
              </a:ext>
            </a:extLst>
          </p:cNvPr>
          <p:cNvGrpSpPr/>
          <p:nvPr/>
        </p:nvGrpSpPr>
        <p:grpSpPr>
          <a:xfrm>
            <a:off x="589915" y="3800157"/>
            <a:ext cx="1873250" cy="1202690"/>
            <a:chOff x="17026" y="4303"/>
            <a:chExt cx="1878" cy="1206"/>
          </a:xfrm>
        </p:grpSpPr>
        <p:grpSp>
          <p:nvGrpSpPr>
            <p:cNvPr id="267" name="组合 266">
              <a:extLst>
                <a:ext uri="{FF2B5EF4-FFF2-40B4-BE49-F238E27FC236}">
                  <a16:creationId xmlns:a16="http://schemas.microsoft.com/office/drawing/2014/main" id="{0A28A460-184A-E0E8-BD40-A3148522C256}"/>
                </a:ext>
              </a:extLst>
            </p:cNvPr>
            <p:cNvGrpSpPr/>
            <p:nvPr/>
          </p:nvGrpSpPr>
          <p:grpSpPr>
            <a:xfrm>
              <a:off x="17026" y="4303"/>
              <a:ext cx="1878" cy="1206"/>
              <a:chOff x="864" y="5652"/>
              <a:chExt cx="1878" cy="1206"/>
            </a:xfrm>
          </p:grpSpPr>
          <p:sp>
            <p:nvSpPr>
              <p:cNvPr id="269" name="Arc 29">
                <a:extLst>
                  <a:ext uri="{FF2B5EF4-FFF2-40B4-BE49-F238E27FC236}">
                    <a16:creationId xmlns:a16="http://schemas.microsoft.com/office/drawing/2014/main" id="{8C34B833-D076-B377-ABC0-89AEA401C999}"/>
                  </a:ext>
                </a:extLst>
              </p:cNvPr>
              <p:cNvSpPr/>
              <p:nvPr/>
            </p:nvSpPr>
            <p:spPr>
              <a:xfrm>
                <a:off x="1166" y="5652"/>
                <a:ext cx="1206" cy="1206"/>
              </a:xfrm>
              <a:prstGeom prst="arc">
                <a:avLst>
                  <a:gd name="adj1" fmla="val 16200000"/>
                  <a:gd name="adj2" fmla="val 16141861"/>
                </a:avLst>
              </a:prstGeom>
              <a:noFill/>
              <a:ln w="155575" cap="flat" cmpd="sng" algn="ctr">
                <a:solidFill>
                  <a:srgbClr val="FFFFFF">
                    <a:alpha val="13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70" name="Arc 29">
                <a:extLst>
                  <a:ext uri="{FF2B5EF4-FFF2-40B4-BE49-F238E27FC236}">
                    <a16:creationId xmlns:a16="http://schemas.microsoft.com/office/drawing/2014/main" id="{1F1F45F9-C0D8-FADA-1AB1-3BE147D405DC}"/>
                  </a:ext>
                </a:extLst>
              </p:cNvPr>
              <p:cNvSpPr/>
              <p:nvPr/>
            </p:nvSpPr>
            <p:spPr>
              <a:xfrm>
                <a:off x="1166" y="5652"/>
                <a:ext cx="1206" cy="1206"/>
              </a:xfrm>
              <a:prstGeom prst="arc">
                <a:avLst>
                  <a:gd name="adj1" fmla="val 790038"/>
                  <a:gd name="adj2" fmla="val 5400000"/>
                </a:avLst>
              </a:prstGeom>
              <a:noFill/>
              <a:ln w="152400" cap="rnd">
                <a:solidFill>
                  <a:srgbClr val="7928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71" name="Oval 23">
                <a:extLst>
                  <a:ext uri="{FF2B5EF4-FFF2-40B4-BE49-F238E27FC236}">
                    <a16:creationId xmlns:a16="http://schemas.microsoft.com/office/drawing/2014/main" id="{8343B35E-A47A-0A65-4152-F9AB85598099}"/>
                  </a:ext>
                </a:extLst>
              </p:cNvPr>
              <p:cNvSpPr/>
              <p:nvPr/>
            </p:nvSpPr>
            <p:spPr>
              <a:xfrm>
                <a:off x="1321" y="5807"/>
                <a:ext cx="896" cy="89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0" dist="457200" dir="2700000" sx="90000" sy="9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44999B2E-3E90-FD84-3565-0217915761C8}"/>
                  </a:ext>
                </a:extLst>
              </p:cNvPr>
              <p:cNvSpPr txBox="1"/>
              <p:nvPr/>
            </p:nvSpPr>
            <p:spPr>
              <a:xfrm>
                <a:off x="864" y="5985"/>
                <a:ext cx="1878" cy="46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SzTx/>
                  <a:buFont typeface="思源黑体 CN" panose="020B0500000000000000" pitchFamily="34" charset="-122"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C007F"/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23</a:t>
                </a:r>
                <a:r>
                  <a:rPr kumimoji="0" lang="en-US" altLang="zh-CN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%</a:t>
                </a:r>
              </a:p>
            </p:txBody>
          </p:sp>
        </p:grpSp>
        <p:sp>
          <p:nvSpPr>
            <p:cNvPr id="268" name="文本框 267">
              <a:extLst>
                <a:ext uri="{FF2B5EF4-FFF2-40B4-BE49-F238E27FC236}">
                  <a16:creationId xmlns:a16="http://schemas.microsoft.com/office/drawing/2014/main" id="{423B58E6-4EB7-FFAD-F6BA-19E0D80AEDD6}"/>
                </a:ext>
              </a:extLst>
            </p:cNvPr>
            <p:cNvSpPr txBox="1"/>
            <p:nvPr/>
          </p:nvSpPr>
          <p:spPr>
            <a:xfrm>
              <a:off x="17303" y="5012"/>
              <a:ext cx="1276" cy="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Plot height</a:t>
              </a:r>
            </a:p>
          </p:txBody>
        </p:sp>
      </p:grp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6EDA4880-158F-7CA7-90D5-76FF2A698377}"/>
              </a:ext>
            </a:extLst>
          </p:cNvPr>
          <p:cNvGrpSpPr/>
          <p:nvPr/>
        </p:nvGrpSpPr>
        <p:grpSpPr>
          <a:xfrm>
            <a:off x="2734945" y="3800157"/>
            <a:ext cx="1873250" cy="1202690"/>
            <a:chOff x="17026" y="4303"/>
            <a:chExt cx="1878" cy="1206"/>
          </a:xfrm>
        </p:grpSpPr>
        <p:grpSp>
          <p:nvGrpSpPr>
            <p:cNvPr id="274" name="组合 273">
              <a:extLst>
                <a:ext uri="{FF2B5EF4-FFF2-40B4-BE49-F238E27FC236}">
                  <a16:creationId xmlns:a16="http://schemas.microsoft.com/office/drawing/2014/main" id="{E6D69596-4076-708B-FE8C-2DCBBDCB1662}"/>
                </a:ext>
              </a:extLst>
            </p:cNvPr>
            <p:cNvGrpSpPr/>
            <p:nvPr/>
          </p:nvGrpSpPr>
          <p:grpSpPr>
            <a:xfrm>
              <a:off x="17026" y="4303"/>
              <a:ext cx="1878" cy="1206"/>
              <a:chOff x="864" y="5652"/>
              <a:chExt cx="1878" cy="1206"/>
            </a:xfrm>
          </p:grpSpPr>
          <p:sp>
            <p:nvSpPr>
              <p:cNvPr id="276" name="Arc 29">
                <a:extLst>
                  <a:ext uri="{FF2B5EF4-FFF2-40B4-BE49-F238E27FC236}">
                    <a16:creationId xmlns:a16="http://schemas.microsoft.com/office/drawing/2014/main" id="{6447C002-AC38-1F77-8830-2B3976DAFF8F}"/>
                  </a:ext>
                </a:extLst>
              </p:cNvPr>
              <p:cNvSpPr/>
              <p:nvPr/>
            </p:nvSpPr>
            <p:spPr>
              <a:xfrm>
                <a:off x="1166" y="5652"/>
                <a:ext cx="1206" cy="1206"/>
              </a:xfrm>
              <a:prstGeom prst="arc">
                <a:avLst>
                  <a:gd name="adj1" fmla="val 16200000"/>
                  <a:gd name="adj2" fmla="val 16141861"/>
                </a:avLst>
              </a:prstGeom>
              <a:noFill/>
              <a:ln w="155575" cap="flat" cmpd="sng" algn="ctr">
                <a:solidFill>
                  <a:srgbClr val="FFFFFF">
                    <a:alpha val="13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77" name="Arc 29">
                <a:extLst>
                  <a:ext uri="{FF2B5EF4-FFF2-40B4-BE49-F238E27FC236}">
                    <a16:creationId xmlns:a16="http://schemas.microsoft.com/office/drawing/2014/main" id="{0909AC8A-366A-7915-2191-2E49767F9F7C}"/>
                  </a:ext>
                </a:extLst>
              </p:cNvPr>
              <p:cNvSpPr/>
              <p:nvPr/>
            </p:nvSpPr>
            <p:spPr>
              <a:xfrm>
                <a:off x="1166" y="5652"/>
                <a:ext cx="1206" cy="1206"/>
              </a:xfrm>
              <a:prstGeom prst="arc">
                <a:avLst>
                  <a:gd name="adj1" fmla="val 16417669"/>
                  <a:gd name="adj2" fmla="val 5400000"/>
                </a:avLst>
              </a:prstGeom>
              <a:noFill/>
              <a:ln w="152400" cap="rnd">
                <a:solidFill>
                  <a:srgbClr val="7928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78" name="Oval 23">
                <a:extLst>
                  <a:ext uri="{FF2B5EF4-FFF2-40B4-BE49-F238E27FC236}">
                    <a16:creationId xmlns:a16="http://schemas.microsoft.com/office/drawing/2014/main" id="{6D62C81A-FFC2-BC9F-04B6-C1307C6B41CD}"/>
                  </a:ext>
                </a:extLst>
              </p:cNvPr>
              <p:cNvSpPr/>
              <p:nvPr/>
            </p:nvSpPr>
            <p:spPr>
              <a:xfrm>
                <a:off x="1321" y="5807"/>
                <a:ext cx="896" cy="89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0" dist="457200" dir="2700000" sx="90000" sy="9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79" name="文本框 278">
                <a:extLst>
                  <a:ext uri="{FF2B5EF4-FFF2-40B4-BE49-F238E27FC236}">
                    <a16:creationId xmlns:a16="http://schemas.microsoft.com/office/drawing/2014/main" id="{58543B82-3F7C-0900-0FB3-3BD0715B90E1}"/>
                  </a:ext>
                </a:extLst>
              </p:cNvPr>
              <p:cNvSpPr txBox="1"/>
              <p:nvPr/>
            </p:nvSpPr>
            <p:spPr>
              <a:xfrm>
                <a:off x="864" y="5985"/>
                <a:ext cx="1878" cy="46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SzTx/>
                  <a:buFont typeface="思源黑体 CN" panose="020B0500000000000000" pitchFamily="34" charset="-122"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C007F"/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50</a:t>
                </a:r>
                <a:r>
                  <a:rPr kumimoji="0" lang="en-US" altLang="zh-CN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%</a:t>
                </a:r>
              </a:p>
            </p:txBody>
          </p:sp>
        </p:grpSp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CA549B63-3B0E-E1FE-7C30-37D7EC4A78A1}"/>
                </a:ext>
              </a:extLst>
            </p:cNvPr>
            <p:cNvSpPr txBox="1"/>
            <p:nvPr/>
          </p:nvSpPr>
          <p:spPr>
            <a:xfrm>
              <a:off x="17303" y="5012"/>
              <a:ext cx="1276" cy="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Plot height</a:t>
              </a:r>
            </a:p>
          </p:txBody>
        </p:sp>
      </p:grp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E3B3B5C7-337A-62D4-CC02-A4B9F92B9DA5}"/>
              </a:ext>
            </a:extLst>
          </p:cNvPr>
          <p:cNvGrpSpPr/>
          <p:nvPr/>
        </p:nvGrpSpPr>
        <p:grpSpPr>
          <a:xfrm>
            <a:off x="4819650" y="3800157"/>
            <a:ext cx="1873250" cy="1202690"/>
            <a:chOff x="17026" y="4303"/>
            <a:chExt cx="1878" cy="1206"/>
          </a:xfrm>
        </p:grpSpPr>
        <p:grpSp>
          <p:nvGrpSpPr>
            <p:cNvPr id="281" name="组合 280">
              <a:extLst>
                <a:ext uri="{FF2B5EF4-FFF2-40B4-BE49-F238E27FC236}">
                  <a16:creationId xmlns:a16="http://schemas.microsoft.com/office/drawing/2014/main" id="{B7967FB6-A0BA-2046-AC9D-8A0BAD9FB5B5}"/>
                </a:ext>
              </a:extLst>
            </p:cNvPr>
            <p:cNvGrpSpPr/>
            <p:nvPr/>
          </p:nvGrpSpPr>
          <p:grpSpPr>
            <a:xfrm>
              <a:off x="17026" y="4303"/>
              <a:ext cx="1878" cy="1206"/>
              <a:chOff x="864" y="5652"/>
              <a:chExt cx="1878" cy="1206"/>
            </a:xfrm>
          </p:grpSpPr>
          <p:sp>
            <p:nvSpPr>
              <p:cNvPr id="283" name="Arc 29">
                <a:extLst>
                  <a:ext uri="{FF2B5EF4-FFF2-40B4-BE49-F238E27FC236}">
                    <a16:creationId xmlns:a16="http://schemas.microsoft.com/office/drawing/2014/main" id="{8F862BA6-2429-E89B-1507-11C32597AF80}"/>
                  </a:ext>
                </a:extLst>
              </p:cNvPr>
              <p:cNvSpPr/>
              <p:nvPr/>
            </p:nvSpPr>
            <p:spPr>
              <a:xfrm>
                <a:off x="1166" y="5652"/>
                <a:ext cx="1206" cy="1206"/>
              </a:xfrm>
              <a:prstGeom prst="arc">
                <a:avLst>
                  <a:gd name="adj1" fmla="val 16200000"/>
                  <a:gd name="adj2" fmla="val 16141861"/>
                </a:avLst>
              </a:prstGeom>
              <a:noFill/>
              <a:ln w="155575" cap="flat" cmpd="sng" algn="ctr">
                <a:solidFill>
                  <a:srgbClr val="FFFFFF">
                    <a:alpha val="13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84" name="Arc 29">
                <a:extLst>
                  <a:ext uri="{FF2B5EF4-FFF2-40B4-BE49-F238E27FC236}">
                    <a16:creationId xmlns:a16="http://schemas.microsoft.com/office/drawing/2014/main" id="{20F8E48D-BE25-D46C-1B84-AC77074A2DEA}"/>
                  </a:ext>
                </a:extLst>
              </p:cNvPr>
              <p:cNvSpPr/>
              <p:nvPr/>
            </p:nvSpPr>
            <p:spPr>
              <a:xfrm>
                <a:off x="1166" y="5652"/>
                <a:ext cx="1206" cy="1206"/>
              </a:xfrm>
              <a:prstGeom prst="arc">
                <a:avLst>
                  <a:gd name="adj1" fmla="val 21003027"/>
                  <a:gd name="adj2" fmla="val 5400000"/>
                </a:avLst>
              </a:prstGeom>
              <a:noFill/>
              <a:ln w="152400" cap="rnd">
                <a:solidFill>
                  <a:srgbClr val="7928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85" name="Oval 23">
                <a:extLst>
                  <a:ext uri="{FF2B5EF4-FFF2-40B4-BE49-F238E27FC236}">
                    <a16:creationId xmlns:a16="http://schemas.microsoft.com/office/drawing/2014/main" id="{14375FD6-40DD-DAC2-21BC-122DC0E7D95E}"/>
                  </a:ext>
                </a:extLst>
              </p:cNvPr>
              <p:cNvSpPr/>
              <p:nvPr/>
            </p:nvSpPr>
            <p:spPr>
              <a:xfrm>
                <a:off x="1321" y="5807"/>
                <a:ext cx="896" cy="89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0" dist="457200" dir="2700000" sx="90000" sy="9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86" name="文本框 285">
                <a:extLst>
                  <a:ext uri="{FF2B5EF4-FFF2-40B4-BE49-F238E27FC236}">
                    <a16:creationId xmlns:a16="http://schemas.microsoft.com/office/drawing/2014/main" id="{8E6333AA-BAF2-A7F5-6243-5CABF266597C}"/>
                  </a:ext>
                </a:extLst>
              </p:cNvPr>
              <p:cNvSpPr txBox="1"/>
              <p:nvPr/>
            </p:nvSpPr>
            <p:spPr>
              <a:xfrm>
                <a:off x="864" y="5985"/>
                <a:ext cx="1878" cy="46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SzTx/>
                  <a:buFont typeface="思源黑体 CN" panose="020B0500000000000000" pitchFamily="34" charset="-122"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C007F"/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27</a:t>
                </a:r>
                <a:r>
                  <a:rPr kumimoji="0" lang="en-US" altLang="zh-CN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%</a:t>
                </a:r>
              </a:p>
            </p:txBody>
          </p:sp>
        </p:grp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1D0BEFE5-868D-4723-36F8-627334DB1085}"/>
                </a:ext>
              </a:extLst>
            </p:cNvPr>
            <p:cNvSpPr txBox="1"/>
            <p:nvPr/>
          </p:nvSpPr>
          <p:spPr>
            <a:xfrm>
              <a:off x="17303" y="5012"/>
              <a:ext cx="1276" cy="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Plot height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6660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B467-B02C-AD8B-F054-9DB8D712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 105">
            <a:extLst>
              <a:ext uri="{FF2B5EF4-FFF2-40B4-BE49-F238E27FC236}">
                <a16:creationId xmlns:a16="http://schemas.microsoft.com/office/drawing/2014/main" id="{C8E78D1C-610A-AB60-64CC-1AD34A2EB0A9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年度销售策略复盘</a:t>
            </a: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81D00E39-C867-B349-78EE-DD2419C6E31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14095" y="5364480"/>
            <a:ext cx="1238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" panose="020B0500000000000000" pitchFamily="34" charset="-12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3C007F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8000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262624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 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62624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人</a:t>
            </a: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21680382-BA21-B17F-E0D1-AD98CEF6A2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14095" y="5679440"/>
            <a:ext cx="164401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" panose="020B0500000000000000" pitchFamily="34" charset="-12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思源黑体 CN Light" panose="020B0300000000000000" charset="-122"/>
                <a:ea typeface="思源黑体 CN Light" panose="020B0300000000000000" charset="-122"/>
                <a:cs typeface="思源黑体 CN" panose="020B0500000000000000" pitchFamily="34" charset="-122"/>
                <a:sym typeface="+mn-ea"/>
              </a:rPr>
              <a:t>市场调研覆盖用户数</a:t>
            </a:r>
          </a:p>
        </p:txBody>
      </p:sp>
      <p:sp>
        <p:nvSpPr>
          <p:cNvPr id="292" name="圆角矩形 90">
            <a:extLst>
              <a:ext uri="{FF2B5EF4-FFF2-40B4-BE49-F238E27FC236}">
                <a16:creationId xmlns:a16="http://schemas.microsoft.com/office/drawing/2014/main" id="{B3FE4A85-DE9B-E3B2-301A-A7F2B757946B}"/>
              </a:ext>
            </a:extLst>
          </p:cNvPr>
          <p:cNvSpPr/>
          <p:nvPr/>
        </p:nvSpPr>
        <p:spPr>
          <a:xfrm>
            <a:off x="484505" y="5457190"/>
            <a:ext cx="448310" cy="448310"/>
          </a:xfrm>
          <a:prstGeom prst="roundRect">
            <a:avLst/>
          </a:prstGeom>
          <a:solidFill>
            <a:srgbClr val="3C007F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rPr>
              <a:t>A</a:t>
            </a: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ABAA89C9-A896-830A-5104-97B91C8F27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625215" y="5364480"/>
            <a:ext cx="1238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" panose="020B0500000000000000" pitchFamily="34" charset="-122"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62624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累计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3C007F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 320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262624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 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62624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万次</a:t>
            </a: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E980704B-9101-55BB-6ABB-7AB8678CCA2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625215" y="5679440"/>
            <a:ext cx="164401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" panose="020B0500000000000000" pitchFamily="34" charset="-12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思源黑体 CN Light" panose="020B0300000000000000" charset="-122"/>
                <a:ea typeface="思源黑体 CN Light" panose="020B0300000000000000" charset="-122"/>
                <a:cs typeface="思源黑体 CN" panose="020B0500000000000000" pitchFamily="34" charset="-122"/>
                <a:sym typeface="+mn-ea"/>
              </a:rPr>
              <a:t>营销内容阅读量</a:t>
            </a:r>
          </a:p>
        </p:txBody>
      </p:sp>
      <p:sp>
        <p:nvSpPr>
          <p:cNvPr id="295" name="圆角矩形 96">
            <a:extLst>
              <a:ext uri="{FF2B5EF4-FFF2-40B4-BE49-F238E27FC236}">
                <a16:creationId xmlns:a16="http://schemas.microsoft.com/office/drawing/2014/main" id="{103D32BB-23EC-12C6-0D7C-0F46BE2A40F7}"/>
              </a:ext>
            </a:extLst>
          </p:cNvPr>
          <p:cNvSpPr/>
          <p:nvPr/>
        </p:nvSpPr>
        <p:spPr>
          <a:xfrm>
            <a:off x="3095625" y="5457190"/>
            <a:ext cx="448310" cy="448310"/>
          </a:xfrm>
          <a:prstGeom prst="roundRect">
            <a:avLst/>
          </a:prstGeom>
          <a:solidFill>
            <a:srgbClr val="7928D5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rPr>
              <a:t>A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F5F4B18B-D5B6-226F-49E2-EEB231E37F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36335" y="5364480"/>
            <a:ext cx="1238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" panose="020B0500000000000000" pitchFamily="34" charset="-122"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62624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新增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3C007F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 15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262624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 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62624"/>
                </a:solidFill>
                <a:effectLst/>
                <a:uLnTx/>
                <a:uFillTx/>
                <a:latin typeface="Fluent" charset="0"/>
                <a:ea typeface="思源黑体 CN" panose="020B0500000000000000" pitchFamily="34" charset="-122"/>
                <a:cs typeface="Fluent" charset="0"/>
                <a:sym typeface="Arial" panose="020B0604020202020204" pitchFamily="34" charset="0"/>
              </a:rPr>
              <a:t>家</a:t>
            </a: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DE64698E-7CC0-B207-8EFD-BC460B81D4E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236335" y="5679440"/>
            <a:ext cx="164401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" panose="020B0500000000000000" pitchFamily="34" charset="-12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思源黑体 CN Light" panose="020B0300000000000000" charset="-122"/>
                <a:ea typeface="思源黑体 CN Light" panose="020B0300000000000000" charset="-122"/>
                <a:cs typeface="思源黑体 CN" panose="020B0500000000000000" pitchFamily="34" charset="-122"/>
                <a:sym typeface="+mn-ea"/>
              </a:rPr>
              <a:t>渠道合作数量</a:t>
            </a:r>
          </a:p>
        </p:txBody>
      </p:sp>
      <p:sp>
        <p:nvSpPr>
          <p:cNvPr id="298" name="圆角矩形 99">
            <a:extLst>
              <a:ext uri="{FF2B5EF4-FFF2-40B4-BE49-F238E27FC236}">
                <a16:creationId xmlns:a16="http://schemas.microsoft.com/office/drawing/2014/main" id="{AA984C92-A450-B324-1E32-D7A00AEF5CE7}"/>
              </a:ext>
            </a:extLst>
          </p:cNvPr>
          <p:cNvSpPr/>
          <p:nvPr/>
        </p:nvSpPr>
        <p:spPr>
          <a:xfrm>
            <a:off x="5706745" y="5457190"/>
            <a:ext cx="448310" cy="448310"/>
          </a:xfrm>
          <a:prstGeom prst="roundRect">
            <a:avLst/>
          </a:prstGeom>
          <a:solidFill>
            <a:srgbClr val="000000">
              <a:lumMod val="85000"/>
              <a:lumOff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rPr>
              <a:t>A</a:t>
            </a:r>
          </a:p>
        </p:txBody>
      </p:sp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E1387AF7-3ECF-D633-C445-12B35E753AD1}"/>
              </a:ext>
            </a:extLst>
          </p:cNvPr>
          <p:cNvGrpSpPr/>
          <p:nvPr/>
        </p:nvGrpSpPr>
        <p:grpSpPr>
          <a:xfrm>
            <a:off x="465455" y="1332230"/>
            <a:ext cx="11222355" cy="1871980"/>
            <a:chOff x="733" y="1519"/>
            <a:chExt cx="17673" cy="2948"/>
          </a:xfrm>
        </p:grpSpPr>
        <p:sp>
          <p:nvSpPr>
            <p:cNvPr id="300" name="圆角矩形 19">
              <a:extLst>
                <a:ext uri="{FF2B5EF4-FFF2-40B4-BE49-F238E27FC236}">
                  <a16:creationId xmlns:a16="http://schemas.microsoft.com/office/drawing/2014/main" id="{6D0DF481-6893-7138-AC2E-4D91365FE96A}"/>
                </a:ext>
              </a:extLst>
            </p:cNvPr>
            <p:cNvSpPr/>
            <p:nvPr/>
          </p:nvSpPr>
          <p:spPr>
            <a:xfrm>
              <a:off x="733" y="1519"/>
              <a:ext cx="3531" cy="2949"/>
            </a:xfrm>
            <a:prstGeom prst="roundRect">
              <a:avLst>
                <a:gd name="adj" fmla="val 0"/>
              </a:avLst>
            </a:prstGeom>
            <a:blipFill rotWithShape="1">
              <a:blip r:embed="rId8" cstate="hqprint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01" name="圆角矩形 41">
              <a:extLst>
                <a:ext uri="{FF2B5EF4-FFF2-40B4-BE49-F238E27FC236}">
                  <a16:creationId xmlns:a16="http://schemas.microsoft.com/office/drawing/2014/main" id="{E27506CA-17AF-5E82-D168-1C7EA90BD0FE}"/>
                </a:ext>
              </a:extLst>
            </p:cNvPr>
            <p:cNvSpPr/>
            <p:nvPr/>
          </p:nvSpPr>
          <p:spPr>
            <a:xfrm>
              <a:off x="7805" y="1519"/>
              <a:ext cx="3531" cy="2949"/>
            </a:xfrm>
            <a:prstGeom prst="roundRect">
              <a:avLst>
                <a:gd name="adj" fmla="val 0"/>
              </a:avLst>
            </a:prstGeom>
            <a:blipFill rotWithShape="1">
              <a:blip r:embed="rId9" cstate="hqprint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02" name="圆角矩形 43">
              <a:extLst>
                <a:ext uri="{FF2B5EF4-FFF2-40B4-BE49-F238E27FC236}">
                  <a16:creationId xmlns:a16="http://schemas.microsoft.com/office/drawing/2014/main" id="{ECFD93C3-E9FE-66FF-05B8-4EC622F25378}"/>
                </a:ext>
              </a:extLst>
            </p:cNvPr>
            <p:cNvSpPr/>
            <p:nvPr/>
          </p:nvSpPr>
          <p:spPr>
            <a:xfrm>
              <a:off x="14876" y="1519"/>
              <a:ext cx="3531" cy="2949"/>
            </a:xfrm>
            <a:prstGeom prst="roundRect">
              <a:avLst>
                <a:gd name="adj" fmla="val 0"/>
              </a:avLst>
            </a:prstGeom>
            <a:blipFill rotWithShape="1">
              <a:blip r:embed="rId10" cstate="hqprint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303" name="组合 302">
              <a:extLst>
                <a:ext uri="{FF2B5EF4-FFF2-40B4-BE49-F238E27FC236}">
                  <a16:creationId xmlns:a16="http://schemas.microsoft.com/office/drawing/2014/main" id="{010E75B4-2359-FF13-1338-EDDE140D48AF}"/>
                </a:ext>
              </a:extLst>
            </p:cNvPr>
            <p:cNvGrpSpPr/>
            <p:nvPr/>
          </p:nvGrpSpPr>
          <p:grpSpPr>
            <a:xfrm>
              <a:off x="11340" y="1519"/>
              <a:ext cx="3530" cy="2948"/>
              <a:chOff x="11340" y="1519"/>
              <a:chExt cx="3530" cy="2948"/>
            </a:xfrm>
          </p:grpSpPr>
          <p:sp>
            <p:nvSpPr>
              <p:cNvPr id="310" name="圆角矩形 42">
                <a:extLst>
                  <a:ext uri="{FF2B5EF4-FFF2-40B4-BE49-F238E27FC236}">
                    <a16:creationId xmlns:a16="http://schemas.microsoft.com/office/drawing/2014/main" id="{4ACC1B31-A8BC-03B9-A52A-6BA806A457E4}"/>
                  </a:ext>
                </a:extLst>
              </p:cNvPr>
              <p:cNvSpPr/>
              <p:nvPr/>
            </p:nvSpPr>
            <p:spPr>
              <a:xfrm>
                <a:off x="11340" y="1519"/>
                <a:ext cx="3531" cy="2949"/>
              </a:xfrm>
              <a:prstGeom prst="roundRect">
                <a:avLst>
                  <a:gd name="adj" fmla="val 0"/>
                </a:avLst>
              </a:prstGeom>
              <a:solidFill>
                <a:srgbClr val="000000">
                  <a:lumMod val="85000"/>
                  <a:lumOff val="1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10DDD705-6316-FA23-96EC-5B3ADC313EAF}"/>
                  </a:ext>
                </a:extLst>
              </p:cNvPr>
              <p:cNvSpPr txBox="1"/>
              <p:nvPr/>
            </p:nvSpPr>
            <p:spPr>
              <a:xfrm>
                <a:off x="11552" y="3399"/>
                <a:ext cx="321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ea"/>
                  </a:rPr>
                  <a:t>线上广告</a:t>
                </a:r>
              </a:p>
            </p:txBody>
          </p:sp>
          <p:sp>
            <p:nvSpPr>
              <p:cNvPr id="312" name="文本框 311">
                <a:extLst>
                  <a:ext uri="{FF2B5EF4-FFF2-40B4-BE49-F238E27FC236}">
                    <a16:creationId xmlns:a16="http://schemas.microsoft.com/office/drawing/2014/main" id="{326D351E-45A1-232A-717F-AEEAA9C31AB0}"/>
                  </a:ext>
                </a:extLst>
              </p:cNvPr>
              <p:cNvSpPr txBox="1"/>
              <p:nvPr/>
            </p:nvSpPr>
            <p:spPr>
              <a:xfrm>
                <a:off x="11552" y="2934"/>
                <a:ext cx="321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Grouping form</a:t>
                </a:r>
              </a:p>
            </p:txBody>
          </p:sp>
          <p:pic>
            <p:nvPicPr>
              <p:cNvPr id="313" name="图片 118" descr="左_left (1)">
                <a:extLst>
                  <a:ext uri="{FF2B5EF4-FFF2-40B4-BE49-F238E27FC236}">
                    <a16:creationId xmlns:a16="http://schemas.microsoft.com/office/drawing/2014/main" id="{AA34750D-64D7-7FBB-EC43-BB3F9CC43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10800000">
                <a:off x="12844" y="3399"/>
                <a:ext cx="491" cy="474"/>
              </a:xfrm>
              <a:prstGeom prst="rect">
                <a:avLst/>
              </a:prstGeom>
            </p:spPr>
          </p:pic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BDABDEA9-CAA3-791F-AB9C-B40597E84ADB}"/>
                  </a:ext>
                </a:extLst>
              </p:cNvPr>
              <p:cNvSpPr txBox="1"/>
              <p:nvPr/>
            </p:nvSpPr>
            <p:spPr>
              <a:xfrm>
                <a:off x="11552" y="2344"/>
                <a:ext cx="3212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4.2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%</a:t>
                </a:r>
              </a:p>
            </p:txBody>
          </p:sp>
        </p:grpSp>
        <p:grpSp>
          <p:nvGrpSpPr>
            <p:cNvPr id="304" name="组合 303">
              <a:extLst>
                <a:ext uri="{FF2B5EF4-FFF2-40B4-BE49-F238E27FC236}">
                  <a16:creationId xmlns:a16="http://schemas.microsoft.com/office/drawing/2014/main" id="{2CB4C300-4AD1-8F4D-7DB9-031B852FBEAD}"/>
                </a:ext>
              </a:extLst>
            </p:cNvPr>
            <p:cNvGrpSpPr/>
            <p:nvPr/>
          </p:nvGrpSpPr>
          <p:grpSpPr>
            <a:xfrm>
              <a:off x="4269" y="1519"/>
              <a:ext cx="3530" cy="2948"/>
              <a:chOff x="4269" y="1519"/>
              <a:chExt cx="3530" cy="2948"/>
            </a:xfrm>
          </p:grpSpPr>
          <p:sp>
            <p:nvSpPr>
              <p:cNvPr id="305" name="圆角矩形 40">
                <a:extLst>
                  <a:ext uri="{FF2B5EF4-FFF2-40B4-BE49-F238E27FC236}">
                    <a16:creationId xmlns:a16="http://schemas.microsoft.com/office/drawing/2014/main" id="{734A8EC6-91EE-B51D-45D7-C317C52225D2}"/>
                  </a:ext>
                </a:extLst>
              </p:cNvPr>
              <p:cNvSpPr/>
              <p:nvPr/>
            </p:nvSpPr>
            <p:spPr>
              <a:xfrm>
                <a:off x="4269" y="1519"/>
                <a:ext cx="3531" cy="2949"/>
              </a:xfrm>
              <a:prstGeom prst="roundRect">
                <a:avLst>
                  <a:gd name="adj" fmla="val 0"/>
                </a:avLst>
              </a:prstGeom>
              <a:solidFill>
                <a:srgbClr val="000000">
                  <a:lumMod val="85000"/>
                  <a:lumOff val="15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06" name="文本框 305">
                <a:extLst>
                  <a:ext uri="{FF2B5EF4-FFF2-40B4-BE49-F238E27FC236}">
                    <a16:creationId xmlns:a16="http://schemas.microsoft.com/office/drawing/2014/main" id="{F16D5479-E072-B505-4C05-4894699E0164}"/>
                  </a:ext>
                </a:extLst>
              </p:cNvPr>
              <p:cNvSpPr txBox="1"/>
              <p:nvPr/>
            </p:nvSpPr>
            <p:spPr>
              <a:xfrm>
                <a:off x="4480" y="3399"/>
                <a:ext cx="321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ea"/>
                  </a:rPr>
                  <a:t>季度营销</a:t>
                </a:r>
              </a:p>
            </p:txBody>
          </p:sp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770F2738-DA63-1EB1-1EB4-F41F20DF9707}"/>
                  </a:ext>
                </a:extLst>
              </p:cNvPr>
              <p:cNvSpPr txBox="1"/>
              <p:nvPr/>
            </p:nvSpPr>
            <p:spPr>
              <a:xfrm>
                <a:off x="4480" y="2934"/>
                <a:ext cx="321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Grouping form</a:t>
                </a:r>
              </a:p>
            </p:txBody>
          </p:sp>
          <p:pic>
            <p:nvPicPr>
              <p:cNvPr id="308" name="图片 122" descr="左_left (1)">
                <a:extLst>
                  <a:ext uri="{FF2B5EF4-FFF2-40B4-BE49-F238E27FC236}">
                    <a16:creationId xmlns:a16="http://schemas.microsoft.com/office/drawing/2014/main" id="{A4747EEA-85D1-F738-A913-339B1E8F5D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10800000">
                <a:off x="5772" y="3399"/>
                <a:ext cx="491" cy="474"/>
              </a:xfrm>
              <a:prstGeom prst="rect">
                <a:avLst/>
              </a:prstGeom>
            </p:spPr>
          </p:pic>
          <p:sp>
            <p:nvSpPr>
              <p:cNvPr id="309" name="文本框 308">
                <a:extLst>
                  <a:ext uri="{FF2B5EF4-FFF2-40B4-BE49-F238E27FC236}">
                    <a16:creationId xmlns:a16="http://schemas.microsoft.com/office/drawing/2014/main" id="{2B9E8D6C-C14E-32CC-314E-1479B30652C2}"/>
                  </a:ext>
                </a:extLst>
              </p:cNvPr>
              <p:cNvSpPr txBox="1"/>
              <p:nvPr/>
            </p:nvSpPr>
            <p:spPr>
              <a:xfrm>
                <a:off x="4480" y="2344"/>
                <a:ext cx="3212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12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万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 +</a:t>
                </a:r>
              </a:p>
            </p:txBody>
          </p:sp>
        </p:grpSp>
      </p:grp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16A4BEF3-ACAE-767D-0224-2F4C6133AC75}"/>
              </a:ext>
            </a:extLst>
          </p:cNvPr>
          <p:cNvGrpSpPr/>
          <p:nvPr/>
        </p:nvGrpSpPr>
        <p:grpSpPr>
          <a:xfrm>
            <a:off x="465455" y="3204845"/>
            <a:ext cx="11222355" cy="1871980"/>
            <a:chOff x="733" y="4468"/>
            <a:chExt cx="17673" cy="2948"/>
          </a:xfrm>
        </p:grpSpPr>
        <p:sp>
          <p:nvSpPr>
            <p:cNvPr id="316" name="圆角矩形 48">
              <a:extLst>
                <a:ext uri="{FF2B5EF4-FFF2-40B4-BE49-F238E27FC236}">
                  <a16:creationId xmlns:a16="http://schemas.microsoft.com/office/drawing/2014/main" id="{2DF160F6-2E12-D0B6-6A9C-A413D5D779B1}"/>
                </a:ext>
              </a:extLst>
            </p:cNvPr>
            <p:cNvSpPr/>
            <p:nvPr/>
          </p:nvSpPr>
          <p:spPr>
            <a:xfrm>
              <a:off x="4269" y="4468"/>
              <a:ext cx="3531" cy="2949"/>
            </a:xfrm>
            <a:prstGeom prst="roundRect">
              <a:avLst>
                <a:gd name="adj" fmla="val 0"/>
              </a:avLst>
            </a:prstGeom>
            <a:blipFill rotWithShape="1">
              <a:blip r:embed="rId12" cstate="hqprint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17" name="圆角矩形 50">
              <a:extLst>
                <a:ext uri="{FF2B5EF4-FFF2-40B4-BE49-F238E27FC236}">
                  <a16:creationId xmlns:a16="http://schemas.microsoft.com/office/drawing/2014/main" id="{66EB1F08-2759-5E37-1DE6-3B9F644742DB}"/>
                </a:ext>
              </a:extLst>
            </p:cNvPr>
            <p:cNvSpPr/>
            <p:nvPr/>
          </p:nvSpPr>
          <p:spPr>
            <a:xfrm>
              <a:off x="11340" y="4468"/>
              <a:ext cx="3531" cy="2949"/>
            </a:xfrm>
            <a:prstGeom prst="roundRect">
              <a:avLst>
                <a:gd name="adj" fmla="val 0"/>
              </a:avLst>
            </a:prstGeom>
            <a:blipFill rotWithShape="1">
              <a:blip r:embed="rId13" cstate="hqprint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318" name="组合 317">
              <a:extLst>
                <a:ext uri="{FF2B5EF4-FFF2-40B4-BE49-F238E27FC236}">
                  <a16:creationId xmlns:a16="http://schemas.microsoft.com/office/drawing/2014/main" id="{519A013B-CCB5-D33D-CC3C-8BF9B56594B1}"/>
                </a:ext>
              </a:extLst>
            </p:cNvPr>
            <p:cNvGrpSpPr/>
            <p:nvPr/>
          </p:nvGrpSpPr>
          <p:grpSpPr>
            <a:xfrm>
              <a:off x="733" y="4468"/>
              <a:ext cx="3530" cy="2948"/>
              <a:chOff x="733" y="4468"/>
              <a:chExt cx="3530" cy="2948"/>
            </a:xfrm>
          </p:grpSpPr>
          <p:sp>
            <p:nvSpPr>
              <p:cNvPr id="331" name="圆角矩形 47">
                <a:extLst>
                  <a:ext uri="{FF2B5EF4-FFF2-40B4-BE49-F238E27FC236}">
                    <a16:creationId xmlns:a16="http://schemas.microsoft.com/office/drawing/2014/main" id="{600C9586-D137-7173-236F-EACFC572B1F9}"/>
                  </a:ext>
                </a:extLst>
              </p:cNvPr>
              <p:cNvSpPr/>
              <p:nvPr/>
            </p:nvSpPr>
            <p:spPr>
              <a:xfrm>
                <a:off x="733" y="4468"/>
                <a:ext cx="3531" cy="2949"/>
              </a:xfrm>
              <a:prstGeom prst="roundRect">
                <a:avLst>
                  <a:gd name="adj" fmla="val 0"/>
                </a:avLst>
              </a:prstGeom>
              <a:solidFill>
                <a:srgbClr val="3C007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32" name="文本框 331">
                <a:extLst>
                  <a:ext uri="{FF2B5EF4-FFF2-40B4-BE49-F238E27FC236}">
                    <a16:creationId xmlns:a16="http://schemas.microsoft.com/office/drawing/2014/main" id="{43C6401D-7310-10C0-BE09-66DC07A1605B}"/>
                  </a:ext>
                </a:extLst>
              </p:cNvPr>
              <p:cNvSpPr txBox="1"/>
              <p:nvPr/>
            </p:nvSpPr>
            <p:spPr>
              <a:xfrm>
                <a:off x="979" y="6455"/>
                <a:ext cx="321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ea"/>
                  </a:rPr>
                  <a:t>搜索量</a:t>
                </a:r>
              </a:p>
            </p:txBody>
          </p:sp>
          <p:sp>
            <p:nvSpPr>
              <p:cNvPr id="333" name="文本框 332">
                <a:extLst>
                  <a:ext uri="{FF2B5EF4-FFF2-40B4-BE49-F238E27FC236}">
                    <a16:creationId xmlns:a16="http://schemas.microsoft.com/office/drawing/2014/main" id="{313A1D07-6A49-7DC1-3217-CC091709D7DF}"/>
                  </a:ext>
                </a:extLst>
              </p:cNvPr>
              <p:cNvSpPr txBox="1"/>
              <p:nvPr/>
            </p:nvSpPr>
            <p:spPr>
              <a:xfrm>
                <a:off x="979" y="5990"/>
                <a:ext cx="321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Grouping form</a:t>
                </a:r>
              </a:p>
            </p:txBody>
          </p:sp>
          <p:pic>
            <p:nvPicPr>
              <p:cNvPr id="334" name="图片 180" descr="左_left (1)">
                <a:extLst>
                  <a:ext uri="{FF2B5EF4-FFF2-40B4-BE49-F238E27FC236}">
                    <a16:creationId xmlns:a16="http://schemas.microsoft.com/office/drawing/2014/main" id="{2D9E868A-FD59-847C-C118-4AEB7186C5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10800000">
                <a:off x="2271" y="6455"/>
                <a:ext cx="491" cy="474"/>
              </a:xfrm>
              <a:prstGeom prst="rect">
                <a:avLst/>
              </a:prstGeom>
            </p:spPr>
          </p:pic>
          <p:sp>
            <p:nvSpPr>
              <p:cNvPr id="335" name="文本框 334">
                <a:extLst>
                  <a:ext uri="{FF2B5EF4-FFF2-40B4-BE49-F238E27FC236}">
                    <a16:creationId xmlns:a16="http://schemas.microsoft.com/office/drawing/2014/main" id="{FE53EA77-95C1-F4D8-0FF0-A2D588933F21}"/>
                  </a:ext>
                </a:extLst>
              </p:cNvPr>
              <p:cNvSpPr txBox="1"/>
              <p:nvPr/>
            </p:nvSpPr>
            <p:spPr>
              <a:xfrm>
                <a:off x="979" y="5400"/>
                <a:ext cx="3212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58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万次</a:t>
                </a:r>
              </a:p>
            </p:txBody>
          </p:sp>
        </p:grpSp>
        <p:grpSp>
          <p:nvGrpSpPr>
            <p:cNvPr id="319" name="组合 318">
              <a:extLst>
                <a:ext uri="{FF2B5EF4-FFF2-40B4-BE49-F238E27FC236}">
                  <a16:creationId xmlns:a16="http://schemas.microsoft.com/office/drawing/2014/main" id="{2849DBCB-6693-0412-5ED4-0B2A81851B48}"/>
                </a:ext>
              </a:extLst>
            </p:cNvPr>
            <p:cNvGrpSpPr/>
            <p:nvPr/>
          </p:nvGrpSpPr>
          <p:grpSpPr>
            <a:xfrm>
              <a:off x="14876" y="4468"/>
              <a:ext cx="3530" cy="2948"/>
              <a:chOff x="14876" y="4468"/>
              <a:chExt cx="3530" cy="2948"/>
            </a:xfrm>
          </p:grpSpPr>
          <p:sp>
            <p:nvSpPr>
              <p:cNvPr id="326" name="圆角矩形 51">
                <a:extLst>
                  <a:ext uri="{FF2B5EF4-FFF2-40B4-BE49-F238E27FC236}">
                    <a16:creationId xmlns:a16="http://schemas.microsoft.com/office/drawing/2014/main" id="{BB60A272-FF4C-0ECF-0875-43B52F5B3853}"/>
                  </a:ext>
                </a:extLst>
              </p:cNvPr>
              <p:cNvSpPr/>
              <p:nvPr/>
            </p:nvSpPr>
            <p:spPr>
              <a:xfrm>
                <a:off x="14876" y="4468"/>
                <a:ext cx="3531" cy="2949"/>
              </a:xfrm>
              <a:prstGeom prst="roundRect">
                <a:avLst>
                  <a:gd name="adj" fmla="val 0"/>
                </a:avLst>
              </a:prstGeom>
              <a:solidFill>
                <a:srgbClr val="3C007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27" name="文本框 326">
                <a:extLst>
                  <a:ext uri="{FF2B5EF4-FFF2-40B4-BE49-F238E27FC236}">
                    <a16:creationId xmlns:a16="http://schemas.microsoft.com/office/drawing/2014/main" id="{AD188DE6-E061-3CEE-E877-FAC47FCC9C49}"/>
                  </a:ext>
                </a:extLst>
              </p:cNvPr>
              <p:cNvSpPr txBox="1"/>
              <p:nvPr/>
            </p:nvSpPr>
            <p:spPr>
              <a:xfrm>
                <a:off x="15091" y="6455"/>
                <a:ext cx="321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ea"/>
                  </a:rPr>
                  <a:t>粉丝总量</a:t>
                </a:r>
              </a:p>
            </p:txBody>
          </p:sp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B43EBE09-27C3-CEB6-58CC-AA16C2BA8C5C}"/>
                  </a:ext>
                </a:extLst>
              </p:cNvPr>
              <p:cNvSpPr txBox="1"/>
              <p:nvPr/>
            </p:nvSpPr>
            <p:spPr>
              <a:xfrm>
                <a:off x="15091" y="5990"/>
                <a:ext cx="321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Grouping form</a:t>
                </a:r>
              </a:p>
            </p:txBody>
          </p:sp>
          <p:pic>
            <p:nvPicPr>
              <p:cNvPr id="329" name="图片 114" descr="左_left (1)">
                <a:extLst>
                  <a:ext uri="{FF2B5EF4-FFF2-40B4-BE49-F238E27FC236}">
                    <a16:creationId xmlns:a16="http://schemas.microsoft.com/office/drawing/2014/main" id="{CF24A34A-E41A-51FE-BB06-4AA594EA0C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10800000">
                <a:off x="16383" y="6455"/>
                <a:ext cx="491" cy="474"/>
              </a:xfrm>
              <a:prstGeom prst="rect">
                <a:avLst/>
              </a:prstGeom>
            </p:spPr>
          </p:pic>
          <p:sp>
            <p:nvSpPr>
              <p:cNvPr id="330" name="文本框 329">
                <a:extLst>
                  <a:ext uri="{FF2B5EF4-FFF2-40B4-BE49-F238E27FC236}">
                    <a16:creationId xmlns:a16="http://schemas.microsoft.com/office/drawing/2014/main" id="{34CB64E9-D45C-5C84-F98E-C5FF7F4F6A30}"/>
                  </a:ext>
                </a:extLst>
              </p:cNvPr>
              <p:cNvSpPr txBox="1"/>
              <p:nvPr/>
            </p:nvSpPr>
            <p:spPr>
              <a:xfrm>
                <a:off x="15091" y="5400"/>
                <a:ext cx="3212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230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万</a:t>
                </a:r>
              </a:p>
            </p:txBody>
          </p:sp>
        </p:grpSp>
        <p:grpSp>
          <p:nvGrpSpPr>
            <p:cNvPr id="320" name="组合 319">
              <a:extLst>
                <a:ext uri="{FF2B5EF4-FFF2-40B4-BE49-F238E27FC236}">
                  <a16:creationId xmlns:a16="http://schemas.microsoft.com/office/drawing/2014/main" id="{20673F16-AEB3-7585-324A-EE69C6C911EC}"/>
                </a:ext>
              </a:extLst>
            </p:cNvPr>
            <p:cNvGrpSpPr/>
            <p:nvPr/>
          </p:nvGrpSpPr>
          <p:grpSpPr>
            <a:xfrm>
              <a:off x="7805" y="4468"/>
              <a:ext cx="3530" cy="2948"/>
              <a:chOff x="7805" y="4468"/>
              <a:chExt cx="3530" cy="2948"/>
            </a:xfrm>
          </p:grpSpPr>
          <p:sp>
            <p:nvSpPr>
              <p:cNvPr id="321" name="圆角矩形 49">
                <a:extLst>
                  <a:ext uri="{FF2B5EF4-FFF2-40B4-BE49-F238E27FC236}">
                    <a16:creationId xmlns:a16="http://schemas.microsoft.com/office/drawing/2014/main" id="{97A25946-7179-86F0-ABB3-7C7CFDC4EAA0}"/>
                  </a:ext>
                </a:extLst>
              </p:cNvPr>
              <p:cNvSpPr/>
              <p:nvPr/>
            </p:nvSpPr>
            <p:spPr>
              <a:xfrm>
                <a:off x="7805" y="4468"/>
                <a:ext cx="3531" cy="2949"/>
              </a:xfrm>
              <a:prstGeom prst="roundRect">
                <a:avLst>
                  <a:gd name="adj" fmla="val 0"/>
                </a:avLst>
              </a:prstGeom>
              <a:solidFill>
                <a:srgbClr val="3C007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22" name="文本框 321">
                <a:extLst>
                  <a:ext uri="{FF2B5EF4-FFF2-40B4-BE49-F238E27FC236}">
                    <a16:creationId xmlns:a16="http://schemas.microsoft.com/office/drawing/2014/main" id="{50F3398C-1CEC-2605-608C-E6BB78A4C0D9}"/>
                  </a:ext>
                </a:extLst>
              </p:cNvPr>
              <p:cNvSpPr txBox="1"/>
              <p:nvPr/>
            </p:nvSpPr>
            <p:spPr>
              <a:xfrm>
                <a:off x="8021" y="6455"/>
                <a:ext cx="321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ea"/>
                  </a:rPr>
                  <a:t>获取成本</a:t>
                </a:r>
              </a:p>
            </p:txBody>
          </p:sp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A6F746B3-B43D-5053-08A0-0A9CF892FA11}"/>
                  </a:ext>
                </a:extLst>
              </p:cNvPr>
              <p:cNvSpPr txBox="1"/>
              <p:nvPr/>
            </p:nvSpPr>
            <p:spPr>
              <a:xfrm>
                <a:off x="8021" y="5990"/>
                <a:ext cx="321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Grouping form</a:t>
                </a:r>
              </a:p>
            </p:txBody>
          </p:sp>
          <p:pic>
            <p:nvPicPr>
              <p:cNvPr id="324" name="图片 126" descr="左_left (1)">
                <a:extLst>
                  <a:ext uri="{FF2B5EF4-FFF2-40B4-BE49-F238E27FC236}">
                    <a16:creationId xmlns:a16="http://schemas.microsoft.com/office/drawing/2014/main" id="{2D211137-9488-8982-F329-A448AFB81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10800000">
                <a:off x="9313" y="6455"/>
                <a:ext cx="491" cy="474"/>
              </a:xfrm>
              <a:prstGeom prst="rect">
                <a:avLst/>
              </a:prstGeom>
            </p:spPr>
          </p:pic>
          <p:sp>
            <p:nvSpPr>
              <p:cNvPr id="325" name="文本框 324">
                <a:extLst>
                  <a:ext uri="{FF2B5EF4-FFF2-40B4-BE49-F238E27FC236}">
                    <a16:creationId xmlns:a16="http://schemas.microsoft.com/office/drawing/2014/main" id="{089133E6-A716-A4F8-F94D-8FC3413B3841}"/>
                  </a:ext>
                </a:extLst>
              </p:cNvPr>
              <p:cNvSpPr txBox="1"/>
              <p:nvPr/>
            </p:nvSpPr>
            <p:spPr>
              <a:xfrm>
                <a:off x="8021" y="5400"/>
                <a:ext cx="3212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86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元</a:t>
                </a:r>
                <a:r>
                  <a:rPr kumimoji="0" lang="en-US" altLang="zh-C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 / </a:t>
                </a: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 Light" panose="020B0300000000000000" charset="-122"/>
                    <a:cs typeface="Fluent" charset="0"/>
                    <a:sym typeface="+mn-ea"/>
                  </a:rPr>
                  <a:t>人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9307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E6EA-9048-225D-CC59-DE607AD6F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AD7B5E12-EC06-7D2F-4C8F-DC2D9EDDE8E3}"/>
              </a:ext>
            </a:extLst>
          </p:cNvPr>
          <p:cNvGrpSpPr/>
          <p:nvPr/>
        </p:nvGrpSpPr>
        <p:grpSpPr>
          <a:xfrm>
            <a:off x="4876800" y="0"/>
            <a:ext cx="7315200" cy="6859270"/>
            <a:chOff x="7680" y="0"/>
            <a:chExt cx="11520" cy="10802"/>
          </a:xfrm>
        </p:grpSpPr>
        <p:pic>
          <p:nvPicPr>
            <p:cNvPr id="110" name="图片 109" descr="a-photograph-of-a-young-asian-man-in-a-l_MkZHi09_Rq-7bB-ZTGzr4w_7PF_UmKFSTivRyuvgLhe3Q">
              <a:extLst>
                <a:ext uri="{FF2B5EF4-FFF2-40B4-BE49-F238E27FC236}">
                  <a16:creationId xmlns:a16="http://schemas.microsoft.com/office/drawing/2014/main" id="{A5149FB2-2A8B-A5DB-D8A8-B2D730ADA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80" y="0"/>
              <a:ext cx="11520" cy="10800"/>
            </a:xfrm>
            <a:prstGeom prst="rect">
              <a:avLst/>
            </a:prstGeom>
          </p:spPr>
        </p:pic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4FDAB225-0238-B1E0-351C-F401B049DB85}"/>
                </a:ext>
              </a:extLst>
            </p:cNvPr>
            <p:cNvSpPr/>
            <p:nvPr/>
          </p:nvSpPr>
          <p:spPr>
            <a:xfrm flipV="1">
              <a:off x="7680" y="0"/>
              <a:ext cx="11520" cy="10803"/>
            </a:xfrm>
            <a:prstGeom prst="rect">
              <a:avLst/>
            </a:prstGeom>
            <a:solidFill>
              <a:srgbClr val="080012">
                <a:alpha val="59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sp>
        <p:nvSpPr>
          <p:cNvPr id="113" name="文本框 112">
            <a:extLst>
              <a:ext uri="{FF2B5EF4-FFF2-40B4-BE49-F238E27FC236}">
                <a16:creationId xmlns:a16="http://schemas.microsoft.com/office/drawing/2014/main" id="{E9D5DC07-01C2-56E0-54EA-473AB3433A46}"/>
              </a:ext>
            </a:extLst>
          </p:cNvPr>
          <p:cNvSpPr txBox="1"/>
          <p:nvPr/>
        </p:nvSpPr>
        <p:spPr>
          <a:xfrm>
            <a:off x="302260" y="1423987"/>
            <a:ext cx="4159250" cy="752475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30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algn="l"/>
            <a:r>
              <a:rPr lang="zh-CN" altLang="en-US" dirty="0"/>
              <a:t>智管人力</a:t>
            </a:r>
            <a:r>
              <a:rPr lang="en-US" altLang="zh-CN" dirty="0"/>
              <a:t> </a:t>
            </a:r>
            <a:r>
              <a:rPr lang="zh-CN" altLang="en-US" dirty="0"/>
              <a:t>共启新程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ACB2C80E-9F95-7978-7336-DE7402381CBF}"/>
              </a:ext>
            </a:extLst>
          </p:cNvPr>
          <p:cNvSpPr txBox="1"/>
          <p:nvPr/>
        </p:nvSpPr>
        <p:spPr>
          <a:xfrm>
            <a:off x="302260" y="5283200"/>
            <a:ext cx="44462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1000">
                <a:solidFill>
                  <a:srgbClr val="000000"/>
                </a:solidFill>
                <a:latin typeface="Fluent Thin" charset="0"/>
                <a:ea typeface="思源黑体 CN Light" panose="020B0300000000000000" charset="-122"/>
                <a:cs typeface="Fluent Thin" charset="0"/>
              </a:rPr>
              <a:t>Trains are developed and iterated to continuously improve train performance, comfort, safety and environmental performance</a:t>
            </a: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937769A0-D4BA-455F-C554-49965F9C9F19}"/>
              </a:ext>
            </a:extLst>
          </p:cNvPr>
          <p:cNvGrpSpPr/>
          <p:nvPr/>
        </p:nvGrpSpPr>
        <p:grpSpPr>
          <a:xfrm>
            <a:off x="4886960" y="4608195"/>
            <a:ext cx="2387600" cy="2249170"/>
            <a:chOff x="7696" y="7257"/>
            <a:chExt cx="3760" cy="3542"/>
          </a:xfrm>
        </p:grpSpPr>
        <p:sp>
          <p:nvSpPr>
            <p:cNvPr id="117" name="同侧圆角矩形 40">
              <a:extLst>
                <a:ext uri="{FF2B5EF4-FFF2-40B4-BE49-F238E27FC236}">
                  <a16:creationId xmlns:a16="http://schemas.microsoft.com/office/drawing/2014/main" id="{7C5AEE1F-4440-D405-43A2-121C48AA7DE4}"/>
                </a:ext>
              </a:extLst>
            </p:cNvPr>
            <p:cNvSpPr/>
            <p:nvPr/>
          </p:nvSpPr>
          <p:spPr>
            <a:xfrm rot="10800000">
              <a:off x="7696" y="7257"/>
              <a:ext cx="3761" cy="354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C007F">
                <a:alpha val="68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C3C4D1C7-2167-1503-C75D-56E80E09CA7F}"/>
                </a:ext>
              </a:extLst>
            </p:cNvPr>
            <p:cNvSpPr txBox="1"/>
            <p:nvPr/>
          </p:nvSpPr>
          <p:spPr>
            <a:xfrm>
              <a:off x="8265" y="8727"/>
              <a:ext cx="2624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Special report</a:t>
              </a: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62D71277-301A-481E-E5DD-5605E87DDA5A}"/>
                </a:ext>
              </a:extLst>
            </p:cNvPr>
            <p:cNvSpPr txBox="1"/>
            <p:nvPr/>
          </p:nvSpPr>
          <p:spPr>
            <a:xfrm>
              <a:off x="8265" y="9210"/>
              <a:ext cx="2624" cy="3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Special report</a:t>
              </a:r>
            </a:p>
          </p:txBody>
        </p:sp>
        <p:sp>
          <p:nvSpPr>
            <p:cNvPr id="120" name="矩形 119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0B30B7E5-7011-6E6A-5F62-F5B4C92182B7}"/>
                </a:ext>
              </a:extLst>
            </p:cNvPr>
            <p:cNvSpPr/>
            <p:nvPr/>
          </p:nvSpPr>
          <p:spPr>
            <a:xfrm>
              <a:off x="7988" y="9526"/>
              <a:ext cx="3178" cy="38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团队执行力增强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57B8828D-0D57-3934-E87E-336A63850DC2}"/>
                </a:ext>
              </a:extLst>
            </p:cNvPr>
            <p:cNvSpPr txBox="1"/>
            <p:nvPr/>
          </p:nvSpPr>
          <p:spPr>
            <a:xfrm>
              <a:off x="8265" y="8007"/>
              <a:ext cx="2624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35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9929C08E-A953-4F9D-198A-B7B82AB560AE}"/>
              </a:ext>
            </a:extLst>
          </p:cNvPr>
          <p:cNvGrpSpPr/>
          <p:nvPr/>
        </p:nvGrpSpPr>
        <p:grpSpPr>
          <a:xfrm>
            <a:off x="7345045" y="4608195"/>
            <a:ext cx="2387600" cy="2249170"/>
            <a:chOff x="11567" y="7257"/>
            <a:chExt cx="3760" cy="3542"/>
          </a:xfrm>
        </p:grpSpPr>
        <p:sp>
          <p:nvSpPr>
            <p:cNvPr id="123" name="同侧圆角矩形 41">
              <a:extLst>
                <a:ext uri="{FF2B5EF4-FFF2-40B4-BE49-F238E27FC236}">
                  <a16:creationId xmlns:a16="http://schemas.microsoft.com/office/drawing/2014/main" id="{14BBAC0A-A9B6-32E1-9B8D-913A7DF6BEB8}"/>
                </a:ext>
              </a:extLst>
            </p:cNvPr>
            <p:cNvSpPr/>
            <p:nvPr/>
          </p:nvSpPr>
          <p:spPr>
            <a:xfrm rot="10800000">
              <a:off x="11567" y="7257"/>
              <a:ext cx="3761" cy="354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C007F">
                <a:alpha val="68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1D59D742-A221-88D0-45B2-C0D7F24F0B73}"/>
                </a:ext>
              </a:extLst>
            </p:cNvPr>
            <p:cNvSpPr txBox="1"/>
            <p:nvPr/>
          </p:nvSpPr>
          <p:spPr>
            <a:xfrm>
              <a:off x="12128" y="8727"/>
              <a:ext cx="2624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Special report</a:t>
              </a: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B4B1F4F9-C808-C287-8C4B-08269ECC281D}"/>
                </a:ext>
              </a:extLst>
            </p:cNvPr>
            <p:cNvSpPr txBox="1"/>
            <p:nvPr/>
          </p:nvSpPr>
          <p:spPr>
            <a:xfrm>
              <a:off x="12128" y="9210"/>
              <a:ext cx="2624" cy="3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Special report</a:t>
              </a:r>
            </a:p>
          </p:txBody>
        </p:sp>
        <p:sp>
          <p:nvSpPr>
            <p:cNvPr id="126" name="矩形 125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729C3697-3E40-239E-DCF8-3DB146A97080}"/>
                </a:ext>
              </a:extLst>
            </p:cNvPr>
            <p:cNvSpPr/>
            <p:nvPr/>
          </p:nvSpPr>
          <p:spPr>
            <a:xfrm>
              <a:off x="11851" y="9526"/>
              <a:ext cx="3178" cy="38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内部晋升率增长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D8E0893D-5111-7D59-CC1B-4EC334C12BCF}"/>
                </a:ext>
              </a:extLst>
            </p:cNvPr>
            <p:cNvSpPr txBox="1"/>
            <p:nvPr/>
          </p:nvSpPr>
          <p:spPr>
            <a:xfrm>
              <a:off x="12128" y="8007"/>
              <a:ext cx="2624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28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</p:grpSp>
      <p:grpSp>
        <p:nvGrpSpPr>
          <p:cNvPr id="336" name="组合 335">
            <a:extLst>
              <a:ext uri="{FF2B5EF4-FFF2-40B4-BE49-F238E27FC236}">
                <a16:creationId xmlns:a16="http://schemas.microsoft.com/office/drawing/2014/main" id="{40E3DF11-4CD6-8634-5076-C5765A2AD001}"/>
              </a:ext>
            </a:extLst>
          </p:cNvPr>
          <p:cNvGrpSpPr/>
          <p:nvPr/>
        </p:nvGrpSpPr>
        <p:grpSpPr>
          <a:xfrm>
            <a:off x="9803130" y="4608195"/>
            <a:ext cx="2387600" cy="2249170"/>
            <a:chOff x="15438" y="7257"/>
            <a:chExt cx="3760" cy="3542"/>
          </a:xfrm>
        </p:grpSpPr>
        <p:sp>
          <p:nvSpPr>
            <p:cNvPr id="337" name="同侧圆角矩形 42">
              <a:extLst>
                <a:ext uri="{FF2B5EF4-FFF2-40B4-BE49-F238E27FC236}">
                  <a16:creationId xmlns:a16="http://schemas.microsoft.com/office/drawing/2014/main" id="{242A3147-B22B-492C-643E-0462788C4F4A}"/>
                </a:ext>
              </a:extLst>
            </p:cNvPr>
            <p:cNvSpPr/>
            <p:nvPr/>
          </p:nvSpPr>
          <p:spPr>
            <a:xfrm rot="10800000">
              <a:off x="15438" y="7257"/>
              <a:ext cx="3761" cy="354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C007F">
                <a:alpha val="68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38" name="文本框 337">
              <a:extLst>
                <a:ext uri="{FF2B5EF4-FFF2-40B4-BE49-F238E27FC236}">
                  <a16:creationId xmlns:a16="http://schemas.microsoft.com/office/drawing/2014/main" id="{16B2D41D-94DA-A756-061C-597AACC10F0B}"/>
                </a:ext>
              </a:extLst>
            </p:cNvPr>
            <p:cNvSpPr txBox="1"/>
            <p:nvPr/>
          </p:nvSpPr>
          <p:spPr>
            <a:xfrm>
              <a:off x="15991" y="8727"/>
              <a:ext cx="2624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Special report</a:t>
              </a:r>
            </a:p>
          </p:txBody>
        </p:sp>
        <p:sp>
          <p:nvSpPr>
            <p:cNvPr id="339" name="文本框 338">
              <a:extLst>
                <a:ext uri="{FF2B5EF4-FFF2-40B4-BE49-F238E27FC236}">
                  <a16:creationId xmlns:a16="http://schemas.microsoft.com/office/drawing/2014/main" id="{7175047D-5C53-D5E8-2D54-E93B8BD2AB30}"/>
                </a:ext>
              </a:extLst>
            </p:cNvPr>
            <p:cNvSpPr txBox="1"/>
            <p:nvPr/>
          </p:nvSpPr>
          <p:spPr>
            <a:xfrm>
              <a:off x="15991" y="9210"/>
              <a:ext cx="2624" cy="3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 Thin" charset="0"/>
                  <a:ea typeface="思源黑体 CN Light" panose="020B0300000000000000" charset="-122"/>
                  <a:cs typeface="Fluent Thin" charset="0"/>
                  <a:sym typeface="+mn-ea"/>
                </a:rPr>
                <a:t>Special report</a:t>
              </a:r>
            </a:p>
          </p:txBody>
        </p:sp>
        <p:sp>
          <p:nvSpPr>
            <p:cNvPr id="340" name="矩形 339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0C867170-C003-BA9E-882F-E48C679D63FB}"/>
                </a:ext>
              </a:extLst>
            </p:cNvPr>
            <p:cNvSpPr/>
            <p:nvPr/>
          </p:nvSpPr>
          <p:spPr>
            <a:xfrm>
              <a:off x="15714" y="9526"/>
              <a:ext cx="3178" cy="38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口碑好感度增加</a:t>
              </a:r>
            </a:p>
          </p:txBody>
        </p:sp>
        <p:sp>
          <p:nvSpPr>
            <p:cNvPr id="341" name="文本框 340">
              <a:extLst>
                <a:ext uri="{FF2B5EF4-FFF2-40B4-BE49-F238E27FC236}">
                  <a16:creationId xmlns:a16="http://schemas.microsoft.com/office/drawing/2014/main" id="{4CA3680F-0838-FC3D-E92E-7F3BEF9F5CFC}"/>
                </a:ext>
              </a:extLst>
            </p:cNvPr>
            <p:cNvSpPr txBox="1"/>
            <p:nvPr/>
          </p:nvSpPr>
          <p:spPr>
            <a:xfrm>
              <a:off x="15991" y="8007"/>
              <a:ext cx="2624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42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%</a:t>
              </a:r>
            </a:p>
          </p:txBody>
        </p:sp>
      </p:grpSp>
      <p:grpSp>
        <p:nvGrpSpPr>
          <p:cNvPr id="342" name="组合 341">
            <a:extLst>
              <a:ext uri="{FF2B5EF4-FFF2-40B4-BE49-F238E27FC236}">
                <a16:creationId xmlns:a16="http://schemas.microsoft.com/office/drawing/2014/main" id="{79B73048-EB46-D52E-3A93-BF2A28973529}"/>
              </a:ext>
            </a:extLst>
          </p:cNvPr>
          <p:cNvGrpSpPr/>
          <p:nvPr/>
        </p:nvGrpSpPr>
        <p:grpSpPr>
          <a:xfrm>
            <a:off x="302260" y="3686810"/>
            <a:ext cx="4456430" cy="1244600"/>
            <a:chOff x="476" y="5806"/>
            <a:chExt cx="7018" cy="1960"/>
          </a:xfrm>
        </p:grpSpPr>
        <p:sp>
          <p:nvSpPr>
            <p:cNvPr id="343" name="文本框 342">
              <a:extLst>
                <a:ext uri="{FF2B5EF4-FFF2-40B4-BE49-F238E27FC236}">
                  <a16:creationId xmlns:a16="http://schemas.microsoft.com/office/drawing/2014/main" id="{514F0BDC-ECA6-1BCF-95AB-F2B8477D16C5}"/>
                </a:ext>
              </a:extLst>
            </p:cNvPr>
            <p:cNvSpPr txBox="1"/>
            <p:nvPr/>
          </p:nvSpPr>
          <p:spPr>
            <a:xfrm>
              <a:off x="938" y="6451"/>
              <a:ext cx="2858" cy="375"/>
            </a:xfrm>
            <a:prstGeom prst="roundRect">
              <a:avLst>
                <a:gd name="adj" fmla="val 50000"/>
              </a:avLst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才尽其用</a:t>
              </a:r>
            </a:p>
          </p:txBody>
        </p:sp>
        <p:sp>
          <p:nvSpPr>
            <p:cNvPr id="344" name="文本框 343">
              <a:extLst>
                <a:ext uri="{FF2B5EF4-FFF2-40B4-BE49-F238E27FC236}">
                  <a16:creationId xmlns:a16="http://schemas.microsoft.com/office/drawing/2014/main" id="{D51B3031-FCE9-6965-9E93-97C55CE01716}"/>
                </a:ext>
              </a:extLst>
            </p:cNvPr>
            <p:cNvSpPr txBox="1"/>
            <p:nvPr/>
          </p:nvSpPr>
          <p:spPr>
            <a:xfrm>
              <a:off x="476" y="5973"/>
              <a:ext cx="340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Grouping form</a:t>
              </a:r>
            </a:p>
          </p:txBody>
        </p:sp>
        <p:sp>
          <p:nvSpPr>
            <p:cNvPr id="345" name="矩形 344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680714AB-9CAB-5815-AF8F-6E5C2CFEAB16}"/>
                </a:ext>
              </a:extLst>
            </p:cNvPr>
            <p:cNvSpPr/>
            <p:nvPr/>
          </p:nvSpPr>
          <p:spPr>
            <a:xfrm>
              <a:off x="476" y="6896"/>
              <a:ext cx="2472" cy="871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盘活人才存量，挖掘潜在价值空间</a:t>
              </a:r>
            </a:p>
          </p:txBody>
        </p:sp>
        <p:sp>
          <p:nvSpPr>
            <p:cNvPr id="346" name="文本框 345">
              <a:extLst>
                <a:ext uri="{FF2B5EF4-FFF2-40B4-BE49-F238E27FC236}">
                  <a16:creationId xmlns:a16="http://schemas.microsoft.com/office/drawing/2014/main" id="{70BDDAB6-CB4E-85FA-5B65-CF43DAEF7261}"/>
                </a:ext>
              </a:extLst>
            </p:cNvPr>
            <p:cNvSpPr txBox="1"/>
            <p:nvPr/>
          </p:nvSpPr>
          <p:spPr>
            <a:xfrm>
              <a:off x="4548" y="6451"/>
              <a:ext cx="2858" cy="375"/>
            </a:xfrm>
            <a:prstGeom prst="roundRect">
              <a:avLst>
                <a:gd name="adj" fmla="val 50000"/>
              </a:avLst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+mn-ea"/>
                </a:rPr>
                <a:t>组优效高</a:t>
              </a:r>
            </a:p>
          </p:txBody>
        </p:sp>
        <p:sp>
          <p:nvSpPr>
            <p:cNvPr id="347" name="文本框 346">
              <a:extLst>
                <a:ext uri="{FF2B5EF4-FFF2-40B4-BE49-F238E27FC236}">
                  <a16:creationId xmlns:a16="http://schemas.microsoft.com/office/drawing/2014/main" id="{48C8FF12-173A-D897-B826-421ECCFB37B5}"/>
                </a:ext>
              </a:extLst>
            </p:cNvPr>
            <p:cNvSpPr txBox="1"/>
            <p:nvPr/>
          </p:nvSpPr>
          <p:spPr>
            <a:xfrm>
              <a:off x="4086" y="5973"/>
              <a:ext cx="340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rPr>
                <a:t>Grouping form</a:t>
              </a:r>
            </a:p>
          </p:txBody>
        </p:sp>
        <p:sp>
          <p:nvSpPr>
            <p:cNvPr id="348" name="矩形 347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<a:extLst>
                <a:ext uri="{FF2B5EF4-FFF2-40B4-BE49-F238E27FC236}">
                  <a16:creationId xmlns:a16="http://schemas.microsoft.com/office/drawing/2014/main" id="{3A017029-BEFF-11A3-8659-038BA9A8F830}"/>
                </a:ext>
              </a:extLst>
            </p:cNvPr>
            <p:cNvSpPr/>
            <p:nvPr/>
          </p:nvSpPr>
          <p:spPr>
            <a:xfrm>
              <a:off x="4086" y="6896"/>
              <a:ext cx="2472" cy="871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" panose="020B0500000000000000" pitchFamily="34" charset="-122"/>
                </a:rPr>
                <a:t>优化组织架构，提升整体运营效能</a:t>
              </a:r>
            </a:p>
          </p:txBody>
        </p: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8659BF1A-EE7C-2D11-5553-7386D3A6248C}"/>
                </a:ext>
              </a:extLst>
            </p:cNvPr>
            <p:cNvCxnSpPr/>
            <p:nvPr/>
          </p:nvCxnSpPr>
          <p:spPr>
            <a:xfrm>
              <a:off x="3678" y="5806"/>
              <a:ext cx="0" cy="1916"/>
            </a:xfrm>
            <a:prstGeom prst="line">
              <a:avLst/>
            </a:prstGeom>
            <a:noFill/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miter lim="800000"/>
            </a:ln>
            <a:effectLst/>
          </p:spPr>
        </p:cxnSp>
        <p:grpSp>
          <p:nvGrpSpPr>
            <p:cNvPr id="350" name="组合 349">
              <a:extLst>
                <a:ext uri="{FF2B5EF4-FFF2-40B4-BE49-F238E27FC236}">
                  <a16:creationId xmlns:a16="http://schemas.microsoft.com/office/drawing/2014/main" id="{DC462081-85F4-6334-0B17-B80DAA310743}"/>
                </a:ext>
              </a:extLst>
            </p:cNvPr>
            <p:cNvGrpSpPr/>
            <p:nvPr/>
          </p:nvGrpSpPr>
          <p:grpSpPr>
            <a:xfrm>
              <a:off x="639" y="6471"/>
              <a:ext cx="326" cy="326"/>
              <a:chOff x="1712" y="10246"/>
              <a:chExt cx="798" cy="798"/>
            </a:xfrm>
          </p:grpSpPr>
          <p:sp>
            <p:nvSpPr>
              <p:cNvPr id="354" name="椭圆 353">
                <a:extLst>
                  <a:ext uri="{FF2B5EF4-FFF2-40B4-BE49-F238E27FC236}">
                    <a16:creationId xmlns:a16="http://schemas.microsoft.com/office/drawing/2014/main" id="{097901D1-B34E-F535-739F-3704FBE61ACD}"/>
                  </a:ext>
                </a:extLst>
              </p:cNvPr>
              <p:cNvSpPr/>
              <p:nvPr/>
            </p:nvSpPr>
            <p:spPr>
              <a:xfrm>
                <a:off x="1712" y="10246"/>
                <a:ext cx="798" cy="798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38100" dir="5400000" algn="t" rotWithShape="0">
                  <a:prstClr val="black">
                    <a:alpha val="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55" name="图片 83" descr="左_left">
                <a:extLst>
                  <a:ext uri="{FF2B5EF4-FFF2-40B4-BE49-F238E27FC236}">
                    <a16:creationId xmlns:a16="http://schemas.microsoft.com/office/drawing/2014/main" id="{B26B28BD-4653-4C5B-6AF9-9ABC30424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1804" y="10327"/>
                <a:ext cx="660" cy="660"/>
              </a:xfrm>
              <a:prstGeom prst="rect">
                <a:avLst/>
              </a:prstGeom>
            </p:spPr>
          </p:pic>
        </p:grpSp>
        <p:grpSp>
          <p:nvGrpSpPr>
            <p:cNvPr id="351" name="组合 350">
              <a:extLst>
                <a:ext uri="{FF2B5EF4-FFF2-40B4-BE49-F238E27FC236}">
                  <a16:creationId xmlns:a16="http://schemas.microsoft.com/office/drawing/2014/main" id="{011B6B18-1F9E-A427-D594-8DD34B48B4AF}"/>
                </a:ext>
              </a:extLst>
            </p:cNvPr>
            <p:cNvGrpSpPr/>
            <p:nvPr/>
          </p:nvGrpSpPr>
          <p:grpSpPr>
            <a:xfrm>
              <a:off x="4203" y="6471"/>
              <a:ext cx="326" cy="326"/>
              <a:chOff x="1712" y="10246"/>
              <a:chExt cx="798" cy="798"/>
            </a:xfrm>
          </p:grpSpPr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11CB70D8-8E2E-FEA9-86AB-0698F1F7BB28}"/>
                  </a:ext>
                </a:extLst>
              </p:cNvPr>
              <p:cNvSpPr/>
              <p:nvPr/>
            </p:nvSpPr>
            <p:spPr>
              <a:xfrm>
                <a:off x="1712" y="10246"/>
                <a:ext cx="798" cy="798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38100" dir="5400000" algn="t" rotWithShape="0">
                  <a:prstClr val="black">
                    <a:alpha val="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353" name="图片 86" descr="左_left">
                <a:extLst>
                  <a:ext uri="{FF2B5EF4-FFF2-40B4-BE49-F238E27FC236}">
                    <a16:creationId xmlns:a16="http://schemas.microsoft.com/office/drawing/2014/main" id="{C36EC4E0-69DE-B4EE-2BFA-7D168B079C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1804" y="10327"/>
                <a:ext cx="660" cy="660"/>
              </a:xfrm>
              <a:prstGeom prst="rect">
                <a:avLst/>
              </a:prstGeom>
            </p:spPr>
          </p:pic>
        </p:grpSp>
      </p:grp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892CE86E-D840-FB84-94B9-40DDFD321E77}"/>
              </a:ext>
            </a:extLst>
          </p:cNvPr>
          <p:cNvGrpSpPr/>
          <p:nvPr/>
        </p:nvGrpSpPr>
        <p:grpSpPr>
          <a:xfrm>
            <a:off x="0" y="2300605"/>
            <a:ext cx="5486400" cy="1006475"/>
            <a:chOff x="0" y="3623"/>
            <a:chExt cx="8640" cy="1585"/>
          </a:xfrm>
        </p:grpSpPr>
        <p:sp>
          <p:nvSpPr>
            <p:cNvPr id="357" name="同侧圆角矩形 27">
              <a:extLst>
                <a:ext uri="{FF2B5EF4-FFF2-40B4-BE49-F238E27FC236}">
                  <a16:creationId xmlns:a16="http://schemas.microsoft.com/office/drawing/2014/main" id="{80028F20-ABAE-50CC-F7AD-2F56BAA0C21C}"/>
                </a:ext>
              </a:extLst>
            </p:cNvPr>
            <p:cNvSpPr/>
            <p:nvPr/>
          </p:nvSpPr>
          <p:spPr>
            <a:xfrm rot="5400000">
              <a:off x="1552" y="2071"/>
              <a:ext cx="1584" cy="4689"/>
            </a:xfrm>
            <a:prstGeom prst="round2SameRect">
              <a:avLst>
                <a:gd name="adj1" fmla="val 0"/>
                <a:gd name="adj2" fmla="val 0"/>
              </a:avLst>
            </a:prstGeom>
            <a:blipFill rotWithShape="0">
              <a:blip r:embed="rId4" cstate="hqprint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8" name="同侧圆角矩形 29">
              <a:extLst>
                <a:ext uri="{FF2B5EF4-FFF2-40B4-BE49-F238E27FC236}">
                  <a16:creationId xmlns:a16="http://schemas.microsoft.com/office/drawing/2014/main" id="{B7D0543C-4493-0FDC-2C18-5FEB95D5EC53}"/>
                </a:ext>
              </a:extLst>
            </p:cNvPr>
            <p:cNvSpPr/>
            <p:nvPr/>
          </p:nvSpPr>
          <p:spPr>
            <a:xfrm rot="5400000">
              <a:off x="3048" y="576"/>
              <a:ext cx="1584" cy="7680"/>
            </a:xfrm>
            <a:prstGeom prst="round2SameRect">
              <a:avLst>
                <a:gd name="adj1" fmla="val 0"/>
                <a:gd name="adj2" fmla="val 0"/>
              </a:avLst>
            </a:prstGeom>
            <a:gradFill rotWithShape="1">
              <a:gsLst>
                <a:gs pos="0">
                  <a:srgbClr val="3C007F">
                    <a:satMod val="110000"/>
                    <a:lumMod val="100000"/>
                    <a:shade val="100000"/>
                    <a:alpha val="33000"/>
                  </a:srgbClr>
                </a:gs>
                <a:gs pos="60000">
                  <a:srgbClr val="3C007F">
                    <a:lumMod val="99000"/>
                    <a:satMod val="120000"/>
                    <a:shade val="78000"/>
                  </a:srgbClr>
                </a:gs>
              </a:gsLst>
              <a:lin ang="16200000" scaled="0"/>
            </a:gra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59" name="文本框 358">
              <a:extLst>
                <a:ext uri="{FF2B5EF4-FFF2-40B4-BE49-F238E27FC236}">
                  <a16:creationId xmlns:a16="http://schemas.microsoft.com/office/drawing/2014/main" id="{B02FD243-F44F-2E08-787A-68079E0EE08B}"/>
                </a:ext>
              </a:extLst>
            </p:cNvPr>
            <p:cNvSpPr txBox="1"/>
            <p:nvPr/>
          </p:nvSpPr>
          <p:spPr>
            <a:xfrm>
              <a:off x="4584" y="4671"/>
              <a:ext cx="244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管理成本降低</a:t>
              </a:r>
            </a:p>
          </p:txBody>
        </p:sp>
        <p:sp>
          <p:nvSpPr>
            <p:cNvPr id="360" name="文本框 359">
              <a:extLst>
                <a:ext uri="{FF2B5EF4-FFF2-40B4-BE49-F238E27FC236}">
                  <a16:creationId xmlns:a16="http://schemas.microsoft.com/office/drawing/2014/main" id="{6CAEF600-8078-EA65-6ADE-C101B36E1F32}"/>
                </a:ext>
              </a:extLst>
            </p:cNvPr>
            <p:cNvSpPr txBox="1"/>
            <p:nvPr/>
          </p:nvSpPr>
          <p:spPr>
            <a:xfrm>
              <a:off x="4584" y="3978"/>
              <a:ext cx="4056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32% 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 Thin" charset="0"/>
                  <a:ea typeface="思源黑体 CN" panose="020B0500000000000000" pitchFamily="34" charset="-122"/>
                  <a:cs typeface="Fluent Thin" charset="0"/>
                  <a:sym typeface="+mn-ea"/>
                </a:rPr>
                <a:t>Increased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0388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5283-EFF5-4360-4970-6ECBE831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 105">
            <a:extLst>
              <a:ext uri="{FF2B5EF4-FFF2-40B4-BE49-F238E27FC236}">
                <a16:creationId xmlns:a16="http://schemas.microsoft.com/office/drawing/2014/main" id="{CB48A9BF-605E-5372-ED25-181399346724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算力组网 全域协同破局</a:t>
            </a:r>
          </a:p>
        </p:txBody>
      </p:sp>
      <p:sp>
        <p:nvSpPr>
          <p:cNvPr id="119" name="矩形: 圆角 131">
            <a:extLst>
              <a:ext uri="{FF2B5EF4-FFF2-40B4-BE49-F238E27FC236}">
                <a16:creationId xmlns:a16="http://schemas.microsoft.com/office/drawing/2014/main" id="{7C6F82A0-30EC-A5C9-8464-BC48BBFDB2A4}"/>
              </a:ext>
            </a:extLst>
          </p:cNvPr>
          <p:cNvSpPr/>
          <p:nvPr/>
        </p:nvSpPr>
        <p:spPr>
          <a:xfrm>
            <a:off x="530225" y="4005351"/>
            <a:ext cx="2692400" cy="2535929"/>
          </a:xfrm>
          <a:prstGeom prst="rect">
            <a:avLst/>
          </a:prstGeo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241300" dist="368300" dir="5400000" sx="90000" sy="90000" algn="t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120" name="矩形: 圆角 131">
            <a:extLst>
              <a:ext uri="{FF2B5EF4-FFF2-40B4-BE49-F238E27FC236}">
                <a16:creationId xmlns:a16="http://schemas.microsoft.com/office/drawing/2014/main" id="{2FED1833-81A2-B6BF-09B4-FEBE9DD59FFD}"/>
              </a:ext>
            </a:extLst>
          </p:cNvPr>
          <p:cNvSpPr/>
          <p:nvPr/>
        </p:nvSpPr>
        <p:spPr>
          <a:xfrm>
            <a:off x="530225" y="1359842"/>
            <a:ext cx="2692400" cy="2535929"/>
          </a:xfrm>
          <a:prstGeom prst="rect">
            <a:avLst/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241300" dist="368300" dir="5400000" sx="90000" sy="90000" algn="t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en-ID" dirty="0">
              <a:solidFill>
                <a:srgbClr val="FFFFFF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AC258320-9A88-746D-86F2-56202BAC29D5}"/>
              </a:ext>
            </a:extLst>
          </p:cNvPr>
          <p:cNvGrpSpPr/>
          <p:nvPr/>
        </p:nvGrpSpPr>
        <p:grpSpPr>
          <a:xfrm>
            <a:off x="3222625" y="1359243"/>
            <a:ext cx="8403590" cy="2536527"/>
            <a:chOff x="5075" y="1647"/>
            <a:chExt cx="13234" cy="4236"/>
          </a:xfrm>
        </p:grpSpPr>
        <p:sp>
          <p:nvSpPr>
            <p:cNvPr id="122" name="矩形: 圆角 131">
              <a:extLst>
                <a:ext uri="{FF2B5EF4-FFF2-40B4-BE49-F238E27FC236}">
                  <a16:creationId xmlns:a16="http://schemas.microsoft.com/office/drawing/2014/main" id="{416CF333-ABC3-364A-5037-D7C542952D09}"/>
                </a:ext>
              </a:extLst>
            </p:cNvPr>
            <p:cNvSpPr/>
            <p:nvPr/>
          </p:nvSpPr>
          <p:spPr>
            <a:xfrm>
              <a:off x="5075" y="1647"/>
              <a:ext cx="13234" cy="423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F2F9383F-8318-C740-87D9-945C7C9EF03F}"/>
                </a:ext>
              </a:extLst>
            </p:cNvPr>
            <p:cNvSpPr txBox="1"/>
            <p:nvPr/>
          </p:nvSpPr>
          <p:spPr>
            <a:xfrm>
              <a:off x="6299" y="4295"/>
              <a:ext cx="50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攻坚跨域算力节点互联难题，搭建统一调度中枢，实现云端、边缘算力无缝协同，满足全域场景算力需求。</a:t>
              </a: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1E99B6A1-2C5A-F0F6-EB62-79E349695353}"/>
                </a:ext>
              </a:extLst>
            </p:cNvPr>
            <p:cNvSpPr txBox="1"/>
            <p:nvPr/>
          </p:nvSpPr>
          <p:spPr>
            <a:xfrm>
              <a:off x="6299" y="3727"/>
              <a:ext cx="368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算力组网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全域协同破局</a:t>
              </a: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4FE5A76F-D8F4-4BFB-D677-A949C6F2CF85}"/>
                </a:ext>
              </a:extLst>
            </p:cNvPr>
            <p:cNvSpPr txBox="1"/>
            <p:nvPr/>
          </p:nvSpPr>
          <p:spPr>
            <a:xfrm>
              <a:off x="6323" y="2526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数据文本</a:t>
              </a: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0739681D-C65F-F039-EC30-6A2A087FB086}"/>
                </a:ext>
              </a:extLst>
            </p:cNvPr>
            <p:cNvSpPr txBox="1"/>
            <p:nvPr/>
          </p:nvSpPr>
          <p:spPr>
            <a:xfrm>
              <a:off x="6299" y="2768"/>
              <a:ext cx="30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1203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W</a:t>
              </a:r>
            </a:p>
          </p:txBody>
        </p: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786828FB-FCB0-EA61-9B07-845CF5142ABA}"/>
                </a:ext>
              </a:extLst>
            </p:cNvPr>
            <p:cNvCxnSpPr/>
            <p:nvPr/>
          </p:nvCxnSpPr>
          <p:spPr>
            <a:xfrm>
              <a:off x="11692" y="2733"/>
              <a:ext cx="0" cy="2496"/>
            </a:xfrm>
            <a:prstGeom prst="line">
              <a:avLst/>
            </a:prstGeom>
            <a:noFill/>
            <a:ln w="12700" cap="flat" cmpd="sng" algn="ctr">
              <a:solidFill>
                <a:srgbClr val="FFFFFF">
                  <a:lumMod val="85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D33C8E09-9225-0BA2-3DD5-7FDC406A73E6}"/>
                </a:ext>
              </a:extLst>
            </p:cNvPr>
            <p:cNvSpPr txBox="1"/>
            <p:nvPr/>
          </p:nvSpPr>
          <p:spPr>
            <a:xfrm>
              <a:off x="12587" y="4295"/>
              <a:ext cx="50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破解算力资源供需错配痛点，建立动态调度机制，按需分配算力资源，提升全域算力利用率与响应速度。</a:t>
              </a: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DE1713A9-E610-EE61-0178-DC87B4610A6B}"/>
                </a:ext>
              </a:extLst>
            </p:cNvPr>
            <p:cNvSpPr txBox="1"/>
            <p:nvPr/>
          </p:nvSpPr>
          <p:spPr>
            <a:xfrm>
              <a:off x="12587" y="3727"/>
              <a:ext cx="368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节点互联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算力效能攻坚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E90A68C2-B181-15FF-A1C8-2A7702BE704B}"/>
                </a:ext>
              </a:extLst>
            </p:cNvPr>
            <p:cNvSpPr txBox="1"/>
            <p:nvPr/>
          </p:nvSpPr>
          <p:spPr>
            <a:xfrm>
              <a:off x="12611" y="2526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数据文本</a:t>
              </a: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E7A2457-9CF7-452F-6028-F0623A98F6B9}"/>
                </a:ext>
              </a:extLst>
            </p:cNvPr>
            <p:cNvSpPr txBox="1"/>
            <p:nvPr/>
          </p:nvSpPr>
          <p:spPr>
            <a:xfrm>
              <a:off x="12587" y="2768"/>
              <a:ext cx="30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1203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W</a:t>
              </a:r>
            </a:p>
          </p:txBody>
        </p:sp>
        <p:pic>
          <p:nvPicPr>
            <p:cNvPr id="132" name="图片 23" descr="左_left (1)">
              <a:extLst>
                <a:ext uri="{FF2B5EF4-FFF2-40B4-BE49-F238E27FC236}">
                  <a16:creationId xmlns:a16="http://schemas.microsoft.com/office/drawing/2014/main" id="{75194D76-4609-F990-4D84-D45FF7B8C3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915" y="3789"/>
              <a:ext cx="360" cy="360"/>
            </a:xfrm>
            <a:prstGeom prst="rect">
              <a:avLst/>
            </a:prstGeom>
          </p:spPr>
        </p:pic>
        <p:pic>
          <p:nvPicPr>
            <p:cNvPr id="133" name="图片 24" descr="左_left (1)">
              <a:extLst>
                <a:ext uri="{FF2B5EF4-FFF2-40B4-BE49-F238E27FC236}">
                  <a16:creationId xmlns:a16="http://schemas.microsoft.com/office/drawing/2014/main" id="{FD1FE06B-D333-7168-4465-52DBCB5BAB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2251" y="3789"/>
              <a:ext cx="360" cy="360"/>
            </a:xfrm>
            <a:prstGeom prst="rect">
              <a:avLst/>
            </a:prstGeom>
          </p:spPr>
        </p:pic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23862523-4FFD-553C-BC40-2BC0D9095967}"/>
              </a:ext>
            </a:extLst>
          </p:cNvPr>
          <p:cNvGrpSpPr/>
          <p:nvPr/>
        </p:nvGrpSpPr>
        <p:grpSpPr>
          <a:xfrm>
            <a:off x="3222625" y="4004752"/>
            <a:ext cx="8403590" cy="2536527"/>
            <a:chOff x="5075" y="6065"/>
            <a:chExt cx="13234" cy="4236"/>
          </a:xfrm>
        </p:grpSpPr>
        <p:sp>
          <p:nvSpPr>
            <p:cNvPr id="135" name="矩形: 圆角 131">
              <a:extLst>
                <a:ext uri="{FF2B5EF4-FFF2-40B4-BE49-F238E27FC236}">
                  <a16:creationId xmlns:a16="http://schemas.microsoft.com/office/drawing/2014/main" id="{F6B22F2C-E4E3-EBBA-6524-71ED71634D21}"/>
                </a:ext>
              </a:extLst>
            </p:cNvPr>
            <p:cNvSpPr/>
            <p:nvPr/>
          </p:nvSpPr>
          <p:spPr>
            <a:xfrm>
              <a:off x="5075" y="6065"/>
              <a:ext cx="13234" cy="423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482600" dist="2413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81049329-586F-F5ED-9503-05E65BAE3864}"/>
                </a:ext>
              </a:extLst>
            </p:cNvPr>
            <p:cNvSpPr txBox="1"/>
            <p:nvPr/>
          </p:nvSpPr>
          <p:spPr>
            <a:xfrm>
              <a:off x="6299" y="8679"/>
              <a:ext cx="50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突破异构算力兼容壁垒，打通不同架构算力设备接口，实现算力资源池化整合，夯实数智化转型根基。</a:t>
              </a: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530CECD9-9C68-0CBC-F26E-25386E0F3333}"/>
                </a:ext>
              </a:extLst>
            </p:cNvPr>
            <p:cNvSpPr txBox="1"/>
            <p:nvPr/>
          </p:nvSpPr>
          <p:spPr>
            <a:xfrm>
              <a:off x="6299" y="8111"/>
              <a:ext cx="368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资源池化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算力调度落地</a:t>
              </a: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D4A3FB71-9FD4-9003-BFB5-6317FFF32C10}"/>
                </a:ext>
              </a:extLst>
            </p:cNvPr>
            <p:cNvSpPr txBox="1"/>
            <p:nvPr/>
          </p:nvSpPr>
          <p:spPr>
            <a:xfrm>
              <a:off x="6323" y="6910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数据文本</a:t>
              </a: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86CA30DE-51E2-4576-0037-86471F74A5A4}"/>
                </a:ext>
              </a:extLst>
            </p:cNvPr>
            <p:cNvSpPr txBox="1"/>
            <p:nvPr/>
          </p:nvSpPr>
          <p:spPr>
            <a:xfrm>
              <a:off x="6299" y="7152"/>
              <a:ext cx="30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1203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W</a:t>
              </a:r>
            </a:p>
          </p:txBody>
        </p: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534A82AE-7839-7F23-271F-5FEE74552135}"/>
                </a:ext>
              </a:extLst>
            </p:cNvPr>
            <p:cNvCxnSpPr/>
            <p:nvPr/>
          </p:nvCxnSpPr>
          <p:spPr>
            <a:xfrm>
              <a:off x="11692" y="7117"/>
              <a:ext cx="0" cy="2496"/>
            </a:xfrm>
            <a:prstGeom prst="line">
              <a:avLst/>
            </a:prstGeom>
            <a:noFill/>
            <a:ln w="12700" cap="flat" cmpd="sng" algn="ctr">
              <a:solidFill>
                <a:srgbClr val="FFFFFF">
                  <a:lumMod val="85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52F0132D-7759-9E9E-CEC8-3AC6646B1A58}"/>
                </a:ext>
              </a:extLst>
            </p:cNvPr>
            <p:cNvSpPr txBox="1"/>
            <p:nvPr/>
          </p:nvSpPr>
          <p:spPr>
            <a:xfrm>
              <a:off x="12587" y="8679"/>
              <a:ext cx="50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攻克算力网络运维管理难题，搭建可视化监控平台，实时把控节点状态，保障全域算力网络稳定运行。</a:t>
              </a: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48762B63-5E39-C27D-1466-128199D269AE}"/>
                </a:ext>
              </a:extLst>
            </p:cNvPr>
            <p:cNvSpPr txBox="1"/>
            <p:nvPr/>
          </p:nvSpPr>
          <p:spPr>
            <a:xfrm>
              <a:off x="12587" y="8111"/>
              <a:ext cx="368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异构融合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筑牢算力底座</a:t>
              </a: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4A3086C7-6275-C354-001A-D554644ED56C}"/>
                </a:ext>
              </a:extLst>
            </p:cNvPr>
            <p:cNvSpPr txBox="1"/>
            <p:nvPr/>
          </p:nvSpPr>
          <p:spPr>
            <a:xfrm>
              <a:off x="12611" y="6910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数据文本</a:t>
              </a: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A623836E-E76E-3BFC-395F-916AAC708803}"/>
                </a:ext>
              </a:extLst>
            </p:cNvPr>
            <p:cNvSpPr txBox="1"/>
            <p:nvPr/>
          </p:nvSpPr>
          <p:spPr>
            <a:xfrm>
              <a:off x="12587" y="7152"/>
              <a:ext cx="30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1203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W</a:t>
              </a:r>
            </a:p>
          </p:txBody>
        </p:sp>
        <p:pic>
          <p:nvPicPr>
            <p:cNvPr id="145" name="图片 25" descr="左_left (1)">
              <a:extLst>
                <a:ext uri="{FF2B5EF4-FFF2-40B4-BE49-F238E27FC236}">
                  <a16:creationId xmlns:a16="http://schemas.microsoft.com/office/drawing/2014/main" id="{01C0F221-419A-E3EE-3140-081C27038B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915" y="8168"/>
              <a:ext cx="360" cy="360"/>
            </a:xfrm>
            <a:prstGeom prst="rect">
              <a:avLst/>
            </a:prstGeom>
          </p:spPr>
        </p:pic>
        <p:pic>
          <p:nvPicPr>
            <p:cNvPr id="146" name="图片 26" descr="左_left (1)">
              <a:extLst>
                <a:ext uri="{FF2B5EF4-FFF2-40B4-BE49-F238E27FC236}">
                  <a16:creationId xmlns:a16="http://schemas.microsoft.com/office/drawing/2014/main" id="{0C35A0C7-2772-9BB3-4CBF-F46B00D59D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2251" y="8168"/>
              <a:ext cx="360" cy="360"/>
            </a:xfrm>
            <a:prstGeom prst="rect">
              <a:avLst/>
            </a:prstGeom>
          </p:spPr>
        </p:pic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810C2BCC-C9BF-C9DE-241E-61480612190C}"/>
              </a:ext>
            </a:extLst>
          </p:cNvPr>
          <p:cNvGrpSpPr/>
          <p:nvPr/>
        </p:nvGrpSpPr>
        <p:grpSpPr>
          <a:xfrm>
            <a:off x="518795" y="4004752"/>
            <a:ext cx="2692400" cy="2538923"/>
            <a:chOff x="835" y="6065"/>
            <a:chExt cx="4240" cy="4240"/>
          </a:xfrm>
        </p:grpSpPr>
        <p:sp>
          <p:nvSpPr>
            <p:cNvPr id="148" name="矩形: 圆角 131">
              <a:extLst>
                <a:ext uri="{FF2B5EF4-FFF2-40B4-BE49-F238E27FC236}">
                  <a16:creationId xmlns:a16="http://schemas.microsoft.com/office/drawing/2014/main" id="{538B1BC3-D541-B3AB-699A-8562191116D0}"/>
                </a:ext>
              </a:extLst>
            </p:cNvPr>
            <p:cNvSpPr/>
            <p:nvPr/>
          </p:nvSpPr>
          <p:spPr>
            <a:xfrm flipV="1">
              <a:off x="835" y="6065"/>
              <a:ext cx="4240" cy="4241"/>
            </a:xfrm>
            <a:prstGeom prst="rect">
              <a:avLst/>
            </a:prstGeom>
            <a:gradFill>
              <a:gsLst>
                <a:gs pos="17000">
                  <a:srgbClr val="7928D5">
                    <a:alpha val="0"/>
                  </a:srgbClr>
                </a:gs>
                <a:gs pos="100000">
                  <a:srgbClr val="7928D5"/>
                </a:gs>
              </a:gsLst>
              <a:lin ang="936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55A4479C-B096-5D82-6A6C-BCD63B387BB5}"/>
                </a:ext>
              </a:extLst>
            </p:cNvPr>
            <p:cNvSpPr txBox="1"/>
            <p:nvPr/>
          </p:nvSpPr>
          <p:spPr>
            <a:xfrm>
              <a:off x="1093" y="6440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B426E4FA-EED8-C100-1D8A-8EB3A217D3B3}"/>
                </a:ext>
              </a:extLst>
            </p:cNvPr>
            <p:cNvSpPr txBox="1"/>
            <p:nvPr/>
          </p:nvSpPr>
          <p:spPr>
            <a:xfrm>
              <a:off x="1066" y="6834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5D81E70F-2E48-5586-8837-4A533B511582}"/>
              </a:ext>
            </a:extLst>
          </p:cNvPr>
          <p:cNvGrpSpPr/>
          <p:nvPr/>
        </p:nvGrpSpPr>
        <p:grpSpPr>
          <a:xfrm>
            <a:off x="518795" y="1359243"/>
            <a:ext cx="2692400" cy="2538923"/>
            <a:chOff x="835" y="1647"/>
            <a:chExt cx="4240" cy="4240"/>
          </a:xfrm>
        </p:grpSpPr>
        <p:sp>
          <p:nvSpPr>
            <p:cNvPr id="152" name="矩形: 圆角 131">
              <a:extLst>
                <a:ext uri="{FF2B5EF4-FFF2-40B4-BE49-F238E27FC236}">
                  <a16:creationId xmlns:a16="http://schemas.microsoft.com/office/drawing/2014/main" id="{AA5D7915-35B5-4685-A2D7-27DE35FACEB8}"/>
                </a:ext>
              </a:extLst>
            </p:cNvPr>
            <p:cNvSpPr/>
            <p:nvPr/>
          </p:nvSpPr>
          <p:spPr>
            <a:xfrm flipV="1">
              <a:off x="835" y="1647"/>
              <a:ext cx="4240" cy="4241"/>
            </a:xfrm>
            <a:prstGeom prst="rect">
              <a:avLst/>
            </a:prstGeom>
            <a:gradFill>
              <a:gsLst>
                <a:gs pos="17000">
                  <a:srgbClr val="7928D5">
                    <a:alpha val="0"/>
                  </a:srgbClr>
                </a:gs>
                <a:gs pos="100000">
                  <a:srgbClr val="7928D5"/>
                </a:gs>
              </a:gsLst>
              <a:lin ang="936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82600" dist="482600" dir="5400000" sx="91000" sy="91000" algn="t" rotWithShape="0">
                <a:prstClr val="black">
                  <a:alpha val="13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7A6B9859-75BE-57A0-A060-27118D010A58}"/>
                </a:ext>
              </a:extLst>
            </p:cNvPr>
            <p:cNvSpPr txBox="1"/>
            <p:nvPr/>
          </p:nvSpPr>
          <p:spPr>
            <a:xfrm>
              <a:off x="1093" y="2022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29124EA4-B590-6D3F-74A2-E013CD800E11}"/>
                </a:ext>
              </a:extLst>
            </p:cNvPr>
            <p:cNvSpPr txBox="1"/>
            <p:nvPr/>
          </p:nvSpPr>
          <p:spPr>
            <a:xfrm>
              <a:off x="1066" y="2416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7383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25062-F452-C0BD-47C1-FD44B0B1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36E824FF-CE1E-61F0-792F-3D8F9F358BD2}"/>
              </a:ext>
            </a:extLst>
          </p:cNvPr>
          <p:cNvGrpSpPr/>
          <p:nvPr/>
        </p:nvGrpSpPr>
        <p:grpSpPr>
          <a:xfrm>
            <a:off x="2700655" y="510540"/>
            <a:ext cx="6788150" cy="5920740"/>
            <a:chOff x="4253" y="804"/>
            <a:chExt cx="10690" cy="9324"/>
          </a:xfrm>
        </p:grpSpPr>
        <p:sp>
          <p:nvSpPr>
            <p:cNvPr id="288" name="任意多边形 84">
              <a:extLst>
                <a:ext uri="{FF2B5EF4-FFF2-40B4-BE49-F238E27FC236}">
                  <a16:creationId xmlns:a16="http://schemas.microsoft.com/office/drawing/2014/main" id="{967FA90E-93F7-0A69-2C3B-604049EB9858}"/>
                </a:ext>
              </a:extLst>
            </p:cNvPr>
            <p:cNvSpPr/>
            <p:nvPr/>
          </p:nvSpPr>
          <p:spPr>
            <a:xfrm rot="5400000" flipV="1">
              <a:off x="8627" y="3812"/>
              <a:ext cx="9324" cy="3308"/>
            </a:xfrm>
            <a:custGeom>
              <a:avLst/>
              <a:gdLst>
                <a:gd name="adj" fmla="val 50000"/>
                <a:gd name="a" fmla="pin 0 adj 100000"/>
                <a:gd name="x1" fmla="*/ w a 200000"/>
                <a:gd name="x2" fmla="*/ w a 100000"/>
                <a:gd name="x3" fmla="+- x1 wd2 0"/>
              </a:gdLst>
              <a:ahLst/>
              <a:cxnLst>
                <a:cxn ang="3">
                  <a:pos x="x2" y="t"/>
                </a:cxn>
                <a:cxn ang="cd2">
                  <a:pos x="x1" y="vc"/>
                </a:cxn>
                <a:cxn ang="cd4">
                  <a:pos x="l" y="b"/>
                </a:cxn>
                <a:cxn ang="cd4">
                  <a:pos x="x2" y="b"/>
                </a:cxn>
                <a:cxn ang="cd4">
                  <a:pos x="r" y="b"/>
                </a:cxn>
                <a:cxn ang="0">
                  <a:pos x="x3" y="vc"/>
                </a:cxn>
              </a:cxnLst>
              <a:rect l="l" t="t" r="r" b="b"/>
              <a:pathLst>
                <a:path w="9324" h="3308">
                  <a:moveTo>
                    <a:pt x="6154" y="0"/>
                  </a:moveTo>
                  <a:lnTo>
                    <a:pt x="9324" y="3308"/>
                  </a:lnTo>
                  <a:lnTo>
                    <a:pt x="0" y="3308"/>
                  </a:lnTo>
                  <a:lnTo>
                    <a:pt x="3166" y="5"/>
                  </a:lnTo>
                  <a:lnTo>
                    <a:pt x="3194" y="26"/>
                  </a:lnTo>
                  <a:cubicBezTo>
                    <a:pt x="3607" y="319"/>
                    <a:pt x="4112" y="492"/>
                    <a:pt x="4657" y="492"/>
                  </a:cubicBezTo>
                  <a:cubicBezTo>
                    <a:pt x="5202" y="492"/>
                    <a:pt x="5706" y="319"/>
                    <a:pt x="6119" y="26"/>
                  </a:cubicBezTo>
                  <a:lnTo>
                    <a:pt x="6154" y="0"/>
                  </a:lnTo>
                  <a:close/>
                </a:path>
              </a:pathLst>
            </a:custGeom>
            <a:gradFill rotWithShape="1">
              <a:gsLst>
                <a:gs pos="0">
                  <a:srgbClr val="1A0147">
                    <a:satMod val="110000"/>
                    <a:lumMod val="100000"/>
                    <a:shade val="100000"/>
                    <a:alpha val="0"/>
                  </a:srgbClr>
                </a:gs>
                <a:gs pos="100000">
                  <a:srgbClr val="1A0147">
                    <a:lumMod val="99000"/>
                    <a:satMod val="120000"/>
                    <a:shade val="78000"/>
                    <a:alpha val="13000"/>
                  </a:srgbClr>
                </a:gs>
              </a:gsLst>
              <a:lin ang="16200000" scaled="0"/>
            </a:gradFill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289" name="任意多边形 82">
              <a:extLst>
                <a:ext uri="{FF2B5EF4-FFF2-40B4-BE49-F238E27FC236}">
                  <a16:creationId xmlns:a16="http://schemas.microsoft.com/office/drawing/2014/main" id="{EE08FBC0-8924-0661-D245-527BFF003AA9}"/>
                </a:ext>
              </a:extLst>
            </p:cNvPr>
            <p:cNvSpPr/>
            <p:nvPr/>
          </p:nvSpPr>
          <p:spPr>
            <a:xfrm rot="5400000" flipH="1">
              <a:off x="1246" y="3811"/>
              <a:ext cx="9324" cy="3311"/>
            </a:xfrm>
            <a:custGeom>
              <a:avLst/>
              <a:gdLst>
                <a:gd name="adj" fmla="val 50000"/>
                <a:gd name="a" fmla="pin 0 adj 100000"/>
                <a:gd name="x1" fmla="*/ w a 200000"/>
                <a:gd name="x2" fmla="*/ w a 100000"/>
                <a:gd name="x3" fmla="+- x1 wd2 0"/>
              </a:gdLst>
              <a:ahLst/>
              <a:cxnLst>
                <a:cxn ang="3">
                  <a:pos x="x2" y="t"/>
                </a:cxn>
                <a:cxn ang="cd2">
                  <a:pos x="x1" y="vc"/>
                </a:cxn>
                <a:cxn ang="cd4">
                  <a:pos x="l" y="b"/>
                </a:cxn>
                <a:cxn ang="cd4">
                  <a:pos x="x2" y="b"/>
                </a:cxn>
                <a:cxn ang="cd4">
                  <a:pos x="r" y="b"/>
                </a:cxn>
                <a:cxn ang="0">
                  <a:pos x="x3" y="vc"/>
                </a:cxn>
              </a:cxnLst>
              <a:rect l="l" t="t" r="r" b="b"/>
              <a:pathLst>
                <a:path w="9324" h="3311">
                  <a:moveTo>
                    <a:pt x="3173" y="0"/>
                  </a:moveTo>
                  <a:lnTo>
                    <a:pt x="3205" y="24"/>
                  </a:lnTo>
                  <a:cubicBezTo>
                    <a:pt x="3618" y="317"/>
                    <a:pt x="4122" y="490"/>
                    <a:pt x="4667" y="490"/>
                  </a:cubicBezTo>
                  <a:cubicBezTo>
                    <a:pt x="5212" y="490"/>
                    <a:pt x="5717" y="317"/>
                    <a:pt x="6130" y="24"/>
                  </a:cubicBezTo>
                  <a:lnTo>
                    <a:pt x="6156" y="5"/>
                  </a:lnTo>
                  <a:lnTo>
                    <a:pt x="9324" y="3311"/>
                  </a:lnTo>
                  <a:lnTo>
                    <a:pt x="0" y="3311"/>
                  </a:lnTo>
                  <a:lnTo>
                    <a:pt x="3173" y="0"/>
                  </a:lnTo>
                  <a:close/>
                </a:path>
              </a:pathLst>
            </a:custGeom>
            <a:gradFill rotWithShape="1">
              <a:gsLst>
                <a:gs pos="0">
                  <a:srgbClr val="7928D5">
                    <a:satMod val="110000"/>
                    <a:lumMod val="100000"/>
                    <a:shade val="100000"/>
                    <a:alpha val="17000"/>
                  </a:srgbClr>
                </a:gs>
                <a:gs pos="100000">
                  <a:srgbClr val="7928D5">
                    <a:lumMod val="99000"/>
                    <a:satMod val="120000"/>
                    <a:shade val="78000"/>
                    <a:alpha val="0"/>
                  </a:srgbClr>
                </a:gs>
              </a:gsLst>
              <a:lin ang="5400000" scaled="0"/>
            </a:gradFill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</p:grpSp>
      <p:sp>
        <p:nvSpPr>
          <p:cNvPr id="290" name="椭圆 289">
            <a:extLst>
              <a:ext uri="{FF2B5EF4-FFF2-40B4-BE49-F238E27FC236}">
                <a16:creationId xmlns:a16="http://schemas.microsoft.com/office/drawing/2014/main" id="{1F92A8C1-5C7F-E2A8-1386-C320DF92E9C0}"/>
              </a:ext>
            </a:extLst>
          </p:cNvPr>
          <p:cNvSpPr/>
          <p:nvPr/>
        </p:nvSpPr>
        <p:spPr>
          <a:xfrm>
            <a:off x="3182620" y="3046095"/>
            <a:ext cx="828040" cy="828040"/>
          </a:xfrm>
          <a:prstGeom prst="ellipse">
            <a:avLst/>
          </a:prstGeom>
          <a:solidFill>
            <a:srgbClr val="7928D5"/>
          </a:solidFill>
          <a:ln>
            <a:noFill/>
          </a:ln>
          <a:effectLst>
            <a:outerShdw blurRad="482600" dist="482600" dir="1920000" algn="t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sp>
        <p:nvSpPr>
          <p:cNvPr id="291" name="椭圆 290">
            <a:extLst>
              <a:ext uri="{FF2B5EF4-FFF2-40B4-BE49-F238E27FC236}">
                <a16:creationId xmlns:a16="http://schemas.microsoft.com/office/drawing/2014/main" id="{3B3C93B2-C323-F866-A106-B7BF97B51197}"/>
              </a:ext>
            </a:extLst>
          </p:cNvPr>
          <p:cNvSpPr/>
          <p:nvPr/>
        </p:nvSpPr>
        <p:spPr>
          <a:xfrm>
            <a:off x="8181340" y="3046095"/>
            <a:ext cx="828040" cy="828040"/>
          </a:xfrm>
          <a:prstGeom prst="ellipse">
            <a:avLst/>
          </a:prstGeom>
          <a:solidFill>
            <a:srgbClr val="7928D5"/>
          </a:solidFill>
          <a:ln>
            <a:noFill/>
          </a:ln>
          <a:effectLst>
            <a:outerShdw blurRad="482600" dist="482600" dir="1920000" algn="t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思源黑体 CN"/>
              <a:cs typeface="思源黑体 CN" panose="020B0500000000000000" pitchFamily="34" charset="-122"/>
            </a:endParaRPr>
          </a:p>
        </p:txBody>
      </p: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9C14D647-7A7D-4F06-17C6-162040056F03}"/>
              </a:ext>
            </a:extLst>
          </p:cNvPr>
          <p:cNvGrpSpPr/>
          <p:nvPr/>
        </p:nvGrpSpPr>
        <p:grpSpPr>
          <a:xfrm>
            <a:off x="273050" y="-2312670"/>
            <a:ext cx="11663045" cy="11560810"/>
            <a:chOff x="430" y="-3642"/>
            <a:chExt cx="18367" cy="18206"/>
          </a:xfrm>
        </p:grpSpPr>
        <p:sp>
          <p:nvSpPr>
            <p:cNvPr id="293" name="椭圆 292">
              <a:extLst>
                <a:ext uri="{FF2B5EF4-FFF2-40B4-BE49-F238E27FC236}">
                  <a16:creationId xmlns:a16="http://schemas.microsoft.com/office/drawing/2014/main" id="{DBEAF2B8-2FAF-4379-1405-5919FF9921F9}"/>
                </a:ext>
              </a:extLst>
            </p:cNvPr>
            <p:cNvSpPr/>
            <p:nvPr/>
          </p:nvSpPr>
          <p:spPr>
            <a:xfrm>
              <a:off x="502" y="-3642"/>
              <a:ext cx="18204" cy="18206"/>
            </a:xfrm>
            <a:prstGeom prst="ellipse">
              <a:avLst/>
            </a:prstGeom>
            <a:noFill/>
            <a:ln w="6350" cap="flat" cmpd="sng" algn="ctr">
              <a:solidFill>
                <a:srgbClr val="0B4CA1">
                  <a:alpha val="52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294" name="组合 293">
              <a:extLst>
                <a:ext uri="{FF2B5EF4-FFF2-40B4-BE49-F238E27FC236}">
                  <a16:creationId xmlns:a16="http://schemas.microsoft.com/office/drawing/2014/main" id="{21035333-E1D9-E588-9D0F-C901E7389287}"/>
                </a:ext>
              </a:extLst>
            </p:cNvPr>
            <p:cNvGrpSpPr/>
            <p:nvPr/>
          </p:nvGrpSpPr>
          <p:grpSpPr>
            <a:xfrm>
              <a:off x="430" y="3400"/>
              <a:ext cx="3942" cy="4138"/>
              <a:chOff x="430" y="3400"/>
              <a:chExt cx="3942" cy="4138"/>
            </a:xfrm>
          </p:grpSpPr>
          <p:grpSp>
            <p:nvGrpSpPr>
              <p:cNvPr id="307" name="组合 306">
                <a:extLst>
                  <a:ext uri="{FF2B5EF4-FFF2-40B4-BE49-F238E27FC236}">
                    <a16:creationId xmlns:a16="http://schemas.microsoft.com/office/drawing/2014/main" id="{E1E86998-A631-E6DE-A69E-D5DE306653D9}"/>
                  </a:ext>
                </a:extLst>
              </p:cNvPr>
              <p:cNvGrpSpPr/>
              <p:nvPr/>
            </p:nvGrpSpPr>
            <p:grpSpPr>
              <a:xfrm>
                <a:off x="598" y="3400"/>
                <a:ext cx="3774" cy="813"/>
                <a:chOff x="598" y="3400"/>
                <a:chExt cx="3774" cy="813"/>
              </a:xfrm>
            </p:grpSpPr>
            <p:sp>
              <p:nvSpPr>
                <p:cNvPr id="316" name="文本框 315">
                  <a:extLst>
                    <a:ext uri="{FF2B5EF4-FFF2-40B4-BE49-F238E27FC236}">
                      <a16:creationId xmlns:a16="http://schemas.microsoft.com/office/drawing/2014/main" id="{C87E43AC-C75A-9460-F580-07E0ECB0138B}"/>
                    </a:ext>
                  </a:extLst>
                </p:cNvPr>
                <p:cNvSpPr txBox="1"/>
                <p:nvPr/>
              </p:nvSpPr>
              <p:spPr>
                <a:xfrm>
                  <a:off x="876" y="3731"/>
                  <a:ext cx="3496" cy="48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  <a:sym typeface="+mn-ea"/>
                    </a:rPr>
                    <a:t>客诉快速响应高效解决</a:t>
                  </a:r>
                </a:p>
              </p:txBody>
            </p:sp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F612BADF-B9F9-FB5C-C608-78667A2E0956}"/>
                    </a:ext>
                  </a:extLst>
                </p:cNvPr>
                <p:cNvSpPr txBox="1"/>
                <p:nvPr/>
              </p:nvSpPr>
              <p:spPr>
                <a:xfrm>
                  <a:off x="876" y="3400"/>
                  <a:ext cx="3281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  <a:alpha val="68000"/>
                        </a:srgbClr>
                      </a:solidFill>
                      <a:effectLst/>
                      <a:uLnTx/>
                      <a:uFillTx/>
                      <a:latin typeface="Fluent Thin" charset="0"/>
                      <a:ea typeface="思源黑体 CN" panose="020B0500000000000000" pitchFamily="34" charset="-122"/>
                      <a:cs typeface="Fluent Thin" charset="0"/>
                      <a:sym typeface="+mn-ea"/>
                    </a:rPr>
                    <a:t>客诉接收登记</a:t>
                  </a:r>
                </a:p>
              </p:txBody>
            </p:sp>
            <p:sp>
              <p:nvSpPr>
                <p:cNvPr id="318" name="椭圆 317">
                  <a:extLst>
                    <a:ext uri="{FF2B5EF4-FFF2-40B4-BE49-F238E27FC236}">
                      <a16:creationId xmlns:a16="http://schemas.microsoft.com/office/drawing/2014/main" id="{7D7DC3F8-58CC-FEE5-4A11-3A6E81ED8707}"/>
                    </a:ext>
                  </a:extLst>
                </p:cNvPr>
                <p:cNvSpPr/>
                <p:nvPr/>
              </p:nvSpPr>
              <p:spPr>
                <a:xfrm>
                  <a:off x="598" y="3563"/>
                  <a:ext cx="168" cy="168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rgbClr val="3C007F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</p:grpSp>
          <p:grpSp>
            <p:nvGrpSpPr>
              <p:cNvPr id="308" name="组合 307">
                <a:extLst>
                  <a:ext uri="{FF2B5EF4-FFF2-40B4-BE49-F238E27FC236}">
                    <a16:creationId xmlns:a16="http://schemas.microsoft.com/office/drawing/2014/main" id="{FF4EF399-C829-C3FE-5FEB-A965B0859CFF}"/>
                  </a:ext>
                </a:extLst>
              </p:cNvPr>
              <p:cNvGrpSpPr/>
              <p:nvPr/>
            </p:nvGrpSpPr>
            <p:grpSpPr>
              <a:xfrm>
                <a:off x="562" y="6726"/>
                <a:ext cx="3810" cy="813"/>
                <a:chOff x="562" y="6726"/>
                <a:chExt cx="3810" cy="813"/>
              </a:xfrm>
            </p:grpSpPr>
            <p:sp>
              <p:nvSpPr>
                <p:cNvPr id="313" name="文本框 312">
                  <a:extLst>
                    <a:ext uri="{FF2B5EF4-FFF2-40B4-BE49-F238E27FC236}">
                      <a16:creationId xmlns:a16="http://schemas.microsoft.com/office/drawing/2014/main" id="{BAC0B6BE-F78D-8633-9DF2-4F5F0D7494BC}"/>
                    </a:ext>
                  </a:extLst>
                </p:cNvPr>
                <p:cNvSpPr txBox="1"/>
                <p:nvPr/>
              </p:nvSpPr>
              <p:spPr>
                <a:xfrm>
                  <a:off x="876" y="7057"/>
                  <a:ext cx="3496" cy="48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  <a:sym typeface="+mn-ea"/>
                    </a:rPr>
                    <a:t>分析投诉根源彻底整改</a:t>
                  </a:r>
                </a:p>
              </p:txBody>
            </p:sp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4C80469B-CA12-E3BA-8780-6C918F36E860}"/>
                    </a:ext>
                  </a:extLst>
                </p:cNvPr>
                <p:cNvSpPr txBox="1"/>
                <p:nvPr/>
              </p:nvSpPr>
              <p:spPr>
                <a:xfrm>
                  <a:off x="876" y="6726"/>
                  <a:ext cx="3281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  <a:alpha val="68000"/>
                        </a:srgbClr>
                      </a:solidFill>
                      <a:effectLst/>
                      <a:uLnTx/>
                      <a:uFillTx/>
                      <a:latin typeface="Fluent Thin" charset="0"/>
                      <a:ea typeface="思源黑体 CN" panose="020B0500000000000000" pitchFamily="34" charset="-122"/>
                      <a:cs typeface="Fluent Thin" charset="0"/>
                      <a:sym typeface="+mn-ea"/>
                    </a:rPr>
                    <a:t>解决方案制定</a:t>
                  </a:r>
                </a:p>
              </p:txBody>
            </p:sp>
            <p:sp>
              <p:nvSpPr>
                <p:cNvPr id="315" name="椭圆 314">
                  <a:extLst>
                    <a:ext uri="{FF2B5EF4-FFF2-40B4-BE49-F238E27FC236}">
                      <a16:creationId xmlns:a16="http://schemas.microsoft.com/office/drawing/2014/main" id="{20A6BE03-4E9C-2E68-BB4C-EBA9A87C0676}"/>
                    </a:ext>
                  </a:extLst>
                </p:cNvPr>
                <p:cNvSpPr/>
                <p:nvPr/>
              </p:nvSpPr>
              <p:spPr>
                <a:xfrm>
                  <a:off x="562" y="6951"/>
                  <a:ext cx="168" cy="168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rgbClr val="3C007F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</p:grpSp>
          <p:grpSp>
            <p:nvGrpSpPr>
              <p:cNvPr id="309" name="组合 308">
                <a:extLst>
                  <a:ext uri="{FF2B5EF4-FFF2-40B4-BE49-F238E27FC236}">
                    <a16:creationId xmlns:a16="http://schemas.microsoft.com/office/drawing/2014/main" id="{6570E0FC-AF81-A22C-E072-0E486DB7A39E}"/>
                  </a:ext>
                </a:extLst>
              </p:cNvPr>
              <p:cNvGrpSpPr/>
              <p:nvPr/>
            </p:nvGrpSpPr>
            <p:grpSpPr>
              <a:xfrm>
                <a:off x="430" y="5063"/>
                <a:ext cx="3942" cy="813"/>
                <a:chOff x="430" y="5063"/>
                <a:chExt cx="3942" cy="813"/>
              </a:xfrm>
            </p:grpSpPr>
            <p:sp>
              <p:nvSpPr>
                <p:cNvPr id="310" name="文本框 309">
                  <a:extLst>
                    <a:ext uri="{FF2B5EF4-FFF2-40B4-BE49-F238E27FC236}">
                      <a16:creationId xmlns:a16="http://schemas.microsoft.com/office/drawing/2014/main" id="{081106B5-36AF-B18C-A5EB-56AF754B205D}"/>
                    </a:ext>
                  </a:extLst>
                </p:cNvPr>
                <p:cNvSpPr txBox="1"/>
                <p:nvPr/>
              </p:nvSpPr>
              <p:spPr>
                <a:xfrm>
                  <a:off x="876" y="5394"/>
                  <a:ext cx="3496" cy="48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思源黑体 CN Light" panose="020B0300000000000000" charset="-122"/>
                      <a:ea typeface="思源黑体 CN Light" panose="020B0300000000000000" charset="-122"/>
                      <a:cs typeface="思源黑体 CN Light" panose="020B0300000000000000" charset="-122"/>
                      <a:sym typeface="+mn-ea"/>
                    </a:rPr>
                    <a:t>全程跟踪进度及时反馈</a:t>
                  </a:r>
                </a:p>
              </p:txBody>
            </p:sp>
            <p:sp>
              <p:nvSpPr>
                <p:cNvPr id="311" name="文本框 310">
                  <a:extLst>
                    <a:ext uri="{FF2B5EF4-FFF2-40B4-BE49-F238E27FC236}">
                      <a16:creationId xmlns:a16="http://schemas.microsoft.com/office/drawing/2014/main" id="{21F199E7-1DBA-FBD5-2839-3CEC1E4096B5}"/>
                    </a:ext>
                  </a:extLst>
                </p:cNvPr>
                <p:cNvSpPr txBox="1"/>
                <p:nvPr/>
              </p:nvSpPr>
              <p:spPr>
                <a:xfrm>
                  <a:off x="876" y="5063"/>
                  <a:ext cx="3281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  <a:alpha val="68000"/>
                        </a:srgbClr>
                      </a:solidFill>
                      <a:effectLst/>
                      <a:uLnTx/>
                      <a:uFillTx/>
                      <a:latin typeface="Fluent Thin" charset="0"/>
                      <a:ea typeface="思源黑体 CN" panose="020B0500000000000000" pitchFamily="34" charset="-122"/>
                      <a:cs typeface="Fluent Thin" charset="0"/>
                      <a:sym typeface="+mn-ea"/>
                    </a:rPr>
                    <a:t>问题分析研判</a:t>
                  </a:r>
                </a:p>
              </p:txBody>
            </p:sp>
            <p:sp>
              <p:nvSpPr>
                <p:cNvPr id="312" name="椭圆 311">
                  <a:extLst>
                    <a:ext uri="{FF2B5EF4-FFF2-40B4-BE49-F238E27FC236}">
                      <a16:creationId xmlns:a16="http://schemas.microsoft.com/office/drawing/2014/main" id="{B38197D2-3FF3-048B-B8F2-B9B230F8A257}"/>
                    </a:ext>
                  </a:extLst>
                </p:cNvPr>
                <p:cNvSpPr/>
                <p:nvPr/>
              </p:nvSpPr>
              <p:spPr>
                <a:xfrm>
                  <a:off x="430" y="5257"/>
                  <a:ext cx="168" cy="168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rgbClr val="3C007F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思源黑体 CN"/>
                    <a:cs typeface="思源黑体 CN" panose="020B0500000000000000" pitchFamily="34" charset="-122"/>
                  </a:endParaRPr>
                </a:p>
              </p:txBody>
            </p:sp>
          </p:grpSp>
        </p:grp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4AD84918-0143-30CD-2F45-B1818D3CDBFD}"/>
                </a:ext>
              </a:extLst>
            </p:cNvPr>
            <p:cNvGrpSpPr/>
            <p:nvPr/>
          </p:nvGrpSpPr>
          <p:grpSpPr>
            <a:xfrm>
              <a:off x="14943" y="3400"/>
              <a:ext cx="3668" cy="813"/>
              <a:chOff x="14943" y="3400"/>
              <a:chExt cx="3668" cy="813"/>
            </a:xfrm>
          </p:grpSpPr>
          <p:sp>
            <p:nvSpPr>
              <p:cNvPr id="304" name="文本框 303">
                <a:extLst>
                  <a:ext uri="{FF2B5EF4-FFF2-40B4-BE49-F238E27FC236}">
                    <a16:creationId xmlns:a16="http://schemas.microsoft.com/office/drawing/2014/main" id="{05421225-366D-BC4F-5B61-60D5A92B8B7C}"/>
                  </a:ext>
                </a:extLst>
              </p:cNvPr>
              <p:cNvSpPr txBox="1"/>
              <p:nvPr/>
            </p:nvSpPr>
            <p:spPr>
              <a:xfrm>
                <a:off x="14943" y="3731"/>
                <a:ext cx="3496" cy="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建立处理标准规范流程</a:t>
                </a:r>
              </a:p>
            </p:txBody>
          </p:sp>
          <p:sp>
            <p:nvSpPr>
              <p:cNvPr id="305" name="文本框 304">
                <a:extLst>
                  <a:ext uri="{FF2B5EF4-FFF2-40B4-BE49-F238E27FC236}">
                    <a16:creationId xmlns:a16="http://schemas.microsoft.com/office/drawing/2014/main" id="{1793095F-940F-0CEA-4C5F-227BA36AD337}"/>
                  </a:ext>
                </a:extLst>
              </p:cNvPr>
              <p:cNvSpPr txBox="1"/>
              <p:nvPr/>
            </p:nvSpPr>
            <p:spPr>
              <a:xfrm>
                <a:off x="15158" y="3400"/>
                <a:ext cx="3281" cy="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68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 panose="020B0500000000000000" pitchFamily="34" charset="-122"/>
                    <a:cs typeface="Fluent Thin" charset="0"/>
                    <a:sym typeface="+mn-ea"/>
                  </a:rPr>
                  <a:t>执行整改措施</a:t>
                </a:r>
              </a:p>
            </p:txBody>
          </p:sp>
          <p:sp>
            <p:nvSpPr>
              <p:cNvPr id="306" name="椭圆 305">
                <a:extLst>
                  <a:ext uri="{FF2B5EF4-FFF2-40B4-BE49-F238E27FC236}">
                    <a16:creationId xmlns:a16="http://schemas.microsoft.com/office/drawing/2014/main" id="{9FE21087-6958-7B56-4594-01BE96A6A0F1}"/>
                  </a:ext>
                </a:extLst>
              </p:cNvPr>
              <p:cNvSpPr/>
              <p:nvPr/>
            </p:nvSpPr>
            <p:spPr>
              <a:xfrm>
                <a:off x="18443" y="3563"/>
                <a:ext cx="168" cy="168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3C007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</p:grpSp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CFE0A7D7-238A-F70B-35C2-5193CDD769F8}"/>
                </a:ext>
              </a:extLst>
            </p:cNvPr>
            <p:cNvGrpSpPr/>
            <p:nvPr/>
          </p:nvGrpSpPr>
          <p:grpSpPr>
            <a:xfrm>
              <a:off x="14943" y="6726"/>
              <a:ext cx="3704" cy="813"/>
              <a:chOff x="14943" y="6726"/>
              <a:chExt cx="3704" cy="813"/>
            </a:xfrm>
          </p:grpSpPr>
          <p:sp>
            <p:nvSpPr>
              <p:cNvPr id="301" name="文本框 300">
                <a:extLst>
                  <a:ext uri="{FF2B5EF4-FFF2-40B4-BE49-F238E27FC236}">
                    <a16:creationId xmlns:a16="http://schemas.microsoft.com/office/drawing/2014/main" id="{2C4409A8-A2FB-436C-A099-15A8D73D2C54}"/>
                  </a:ext>
                </a:extLst>
              </p:cNvPr>
              <p:cNvSpPr txBox="1"/>
              <p:nvPr/>
            </p:nvSpPr>
            <p:spPr>
              <a:xfrm>
                <a:off x="14943" y="7057"/>
                <a:ext cx="3496" cy="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总结经验教训持续优化</a:t>
                </a:r>
              </a:p>
            </p:txBody>
          </p:sp>
          <p:sp>
            <p:nvSpPr>
              <p:cNvPr id="302" name="文本框 301">
                <a:extLst>
                  <a:ext uri="{FF2B5EF4-FFF2-40B4-BE49-F238E27FC236}">
                    <a16:creationId xmlns:a16="http://schemas.microsoft.com/office/drawing/2014/main" id="{7D1294E1-FB1C-C9FD-516C-BE7E280E8A7A}"/>
                  </a:ext>
                </a:extLst>
              </p:cNvPr>
              <p:cNvSpPr txBox="1"/>
              <p:nvPr/>
            </p:nvSpPr>
            <p:spPr>
              <a:xfrm>
                <a:off x="15158" y="6726"/>
                <a:ext cx="3281" cy="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68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 panose="020B0500000000000000" pitchFamily="34" charset="-122"/>
                    <a:cs typeface="Fluent Thin" charset="0"/>
                    <a:sym typeface="+mn-ea"/>
                  </a:rPr>
                  <a:t>案例总结归档</a:t>
                </a:r>
              </a:p>
            </p:txBody>
          </p:sp>
          <p:sp>
            <p:nvSpPr>
              <p:cNvPr id="303" name="椭圆 302">
                <a:extLst>
                  <a:ext uri="{FF2B5EF4-FFF2-40B4-BE49-F238E27FC236}">
                    <a16:creationId xmlns:a16="http://schemas.microsoft.com/office/drawing/2014/main" id="{3C88BED4-0A22-0AB3-340E-784B073DF612}"/>
                  </a:ext>
                </a:extLst>
              </p:cNvPr>
              <p:cNvSpPr/>
              <p:nvPr/>
            </p:nvSpPr>
            <p:spPr>
              <a:xfrm>
                <a:off x="18479" y="6951"/>
                <a:ext cx="168" cy="168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3C007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</p:grpSp>
        <p:grpSp>
          <p:nvGrpSpPr>
            <p:cNvPr id="297" name="组合 296">
              <a:extLst>
                <a:ext uri="{FF2B5EF4-FFF2-40B4-BE49-F238E27FC236}">
                  <a16:creationId xmlns:a16="http://schemas.microsoft.com/office/drawing/2014/main" id="{7820988D-0D50-1BBF-C2B4-329A83CE91B5}"/>
                </a:ext>
              </a:extLst>
            </p:cNvPr>
            <p:cNvGrpSpPr/>
            <p:nvPr/>
          </p:nvGrpSpPr>
          <p:grpSpPr>
            <a:xfrm>
              <a:off x="14943" y="5063"/>
              <a:ext cx="3854" cy="813"/>
              <a:chOff x="14943" y="5063"/>
              <a:chExt cx="3854" cy="813"/>
            </a:xfrm>
          </p:grpSpPr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DB83341B-680C-D7A5-3C22-EF31E3CC4E66}"/>
                  </a:ext>
                </a:extLst>
              </p:cNvPr>
              <p:cNvSpPr txBox="1"/>
              <p:nvPr/>
            </p:nvSpPr>
            <p:spPr>
              <a:xfrm>
                <a:off x="14943" y="5394"/>
                <a:ext cx="3496" cy="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思源黑体 CN Light" panose="020B0300000000000000" charset="-122"/>
                    <a:ea typeface="思源黑体 CN Light" panose="020B0300000000000000" charset="-122"/>
                    <a:cs typeface="思源黑体 CN Light" panose="020B0300000000000000" charset="-122"/>
                    <a:sym typeface="+mn-ea"/>
                  </a:rPr>
                  <a:t>回访确认满意形成闭环</a:t>
                </a:r>
              </a:p>
            </p:txBody>
          </p:sp>
          <p:sp>
            <p:nvSpPr>
              <p:cNvPr id="299" name="文本框 298">
                <a:extLst>
                  <a:ext uri="{FF2B5EF4-FFF2-40B4-BE49-F238E27FC236}">
                    <a16:creationId xmlns:a16="http://schemas.microsoft.com/office/drawing/2014/main" id="{E9EFC693-97FC-50AE-87C8-4A8B23B3542D}"/>
                  </a:ext>
                </a:extLst>
              </p:cNvPr>
              <p:cNvSpPr txBox="1"/>
              <p:nvPr/>
            </p:nvSpPr>
            <p:spPr>
              <a:xfrm>
                <a:off x="15158" y="5063"/>
                <a:ext cx="3281" cy="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68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 panose="020B0500000000000000" pitchFamily="34" charset="-122"/>
                    <a:cs typeface="Fluent Thin" charset="0"/>
                    <a:sym typeface="+mn-ea"/>
                  </a:rPr>
                  <a:t>客户回访确认</a:t>
                </a:r>
              </a:p>
            </p:txBody>
          </p:sp>
          <p:sp>
            <p:nvSpPr>
              <p:cNvPr id="300" name="椭圆 299">
                <a:extLst>
                  <a:ext uri="{FF2B5EF4-FFF2-40B4-BE49-F238E27FC236}">
                    <a16:creationId xmlns:a16="http://schemas.microsoft.com/office/drawing/2014/main" id="{883C4FCD-C8DD-8A08-D47D-1DBE6211976C}"/>
                  </a:ext>
                </a:extLst>
              </p:cNvPr>
              <p:cNvSpPr/>
              <p:nvPr/>
            </p:nvSpPr>
            <p:spPr>
              <a:xfrm>
                <a:off x="18629" y="5257"/>
                <a:ext cx="168" cy="168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3C007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</p:grpSp>
      </p:grpSp>
      <p:grpSp>
        <p:nvGrpSpPr>
          <p:cNvPr id="319" name="组合 318">
            <a:extLst>
              <a:ext uri="{FF2B5EF4-FFF2-40B4-BE49-F238E27FC236}">
                <a16:creationId xmlns:a16="http://schemas.microsoft.com/office/drawing/2014/main" id="{5BC45DF2-7E04-605B-6A13-6DC1F8E0CF1F}"/>
              </a:ext>
            </a:extLst>
          </p:cNvPr>
          <p:cNvGrpSpPr/>
          <p:nvPr/>
        </p:nvGrpSpPr>
        <p:grpSpPr>
          <a:xfrm>
            <a:off x="3589655" y="958215"/>
            <a:ext cx="5017770" cy="5064760"/>
            <a:chOff x="5653" y="1509"/>
            <a:chExt cx="7902" cy="7976"/>
          </a:xfrm>
        </p:grpSpPr>
        <p:sp>
          <p:nvSpPr>
            <p:cNvPr id="320" name="椭圆 319">
              <a:extLst>
                <a:ext uri="{FF2B5EF4-FFF2-40B4-BE49-F238E27FC236}">
                  <a16:creationId xmlns:a16="http://schemas.microsoft.com/office/drawing/2014/main" id="{F9DDFAFB-3717-7BB9-683E-D4DC7BF7AC5D}"/>
                </a:ext>
              </a:extLst>
            </p:cNvPr>
            <p:cNvSpPr/>
            <p:nvPr/>
          </p:nvSpPr>
          <p:spPr>
            <a:xfrm>
              <a:off x="5653" y="1509"/>
              <a:ext cx="7902" cy="7903"/>
            </a:xfrm>
            <a:prstGeom prst="ellipse">
              <a:avLst/>
            </a:prstGeom>
            <a:noFill/>
            <a:ln w="6350" cap="flat" cmpd="sng" algn="ctr">
              <a:solidFill>
                <a:srgbClr val="0B4CA1">
                  <a:alpha val="52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321" name="组合 320">
              <a:extLst>
                <a:ext uri="{FF2B5EF4-FFF2-40B4-BE49-F238E27FC236}">
                  <a16:creationId xmlns:a16="http://schemas.microsoft.com/office/drawing/2014/main" id="{76D2F50A-E354-4088-A762-79518C4E6EBD}"/>
                </a:ext>
              </a:extLst>
            </p:cNvPr>
            <p:cNvGrpSpPr/>
            <p:nvPr/>
          </p:nvGrpSpPr>
          <p:grpSpPr>
            <a:xfrm>
              <a:off x="7062" y="7951"/>
              <a:ext cx="5002" cy="1534"/>
              <a:chOff x="7062" y="7951"/>
              <a:chExt cx="5002" cy="1534"/>
            </a:xfrm>
          </p:grpSpPr>
          <p:sp>
            <p:nvSpPr>
              <p:cNvPr id="322" name="椭圆 321">
                <a:extLst>
                  <a:ext uri="{FF2B5EF4-FFF2-40B4-BE49-F238E27FC236}">
                    <a16:creationId xmlns:a16="http://schemas.microsoft.com/office/drawing/2014/main" id="{CC7D9DF3-A861-146F-9E0D-AFDE717B7313}"/>
                  </a:ext>
                </a:extLst>
              </p:cNvPr>
              <p:cNvSpPr/>
              <p:nvPr/>
            </p:nvSpPr>
            <p:spPr>
              <a:xfrm>
                <a:off x="9516" y="9317"/>
                <a:ext cx="168" cy="168"/>
              </a:xfrm>
              <a:prstGeom prst="ellipse">
                <a:avLst/>
              </a:prstGeom>
              <a:solidFill>
                <a:srgbClr val="3C007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23" name="椭圆 322">
                <a:extLst>
                  <a:ext uri="{FF2B5EF4-FFF2-40B4-BE49-F238E27FC236}">
                    <a16:creationId xmlns:a16="http://schemas.microsoft.com/office/drawing/2014/main" id="{7BB8CB05-45E1-4D39-A63F-730990D2E667}"/>
                  </a:ext>
                </a:extLst>
              </p:cNvPr>
              <p:cNvSpPr/>
              <p:nvPr/>
            </p:nvSpPr>
            <p:spPr>
              <a:xfrm>
                <a:off x="11892" y="8537"/>
                <a:ext cx="168" cy="168"/>
              </a:xfrm>
              <a:prstGeom prst="ellipse">
                <a:avLst/>
              </a:prstGeom>
              <a:solidFill>
                <a:srgbClr val="3C007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24" name="椭圆 323">
                <a:extLst>
                  <a:ext uri="{FF2B5EF4-FFF2-40B4-BE49-F238E27FC236}">
                    <a16:creationId xmlns:a16="http://schemas.microsoft.com/office/drawing/2014/main" id="{11F8A9A6-CCF3-870A-62A4-A8EB899E7FF2}"/>
                  </a:ext>
                </a:extLst>
              </p:cNvPr>
              <p:cNvSpPr/>
              <p:nvPr/>
            </p:nvSpPr>
            <p:spPr>
              <a:xfrm>
                <a:off x="7140" y="8537"/>
                <a:ext cx="168" cy="168"/>
              </a:xfrm>
              <a:prstGeom prst="ellipse">
                <a:avLst/>
              </a:prstGeom>
              <a:solidFill>
                <a:srgbClr val="3C007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25" name="文本框 324">
                <a:extLst>
                  <a:ext uri="{FF2B5EF4-FFF2-40B4-BE49-F238E27FC236}">
                    <a16:creationId xmlns:a16="http://schemas.microsoft.com/office/drawing/2014/main" id="{5AB7A928-003C-ACC3-9ACE-809DAA17CBFD}"/>
                  </a:ext>
                </a:extLst>
              </p:cNvPr>
              <p:cNvSpPr txBox="1"/>
              <p:nvPr/>
            </p:nvSpPr>
            <p:spPr>
              <a:xfrm>
                <a:off x="8890" y="8897"/>
                <a:ext cx="1422" cy="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7-2.8</a:t>
                </a:r>
                <a:r>
                  <a:rPr kumimoji="0" lang="zh-CN" alt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天</a:t>
                </a:r>
              </a:p>
            </p:txBody>
          </p:sp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CC26C9F6-0618-A68D-49AD-EBFD09C4F76E}"/>
                  </a:ext>
                </a:extLst>
              </p:cNvPr>
              <p:cNvSpPr txBox="1"/>
              <p:nvPr/>
            </p:nvSpPr>
            <p:spPr>
              <a:xfrm>
                <a:off x="8779" y="8632"/>
                <a:ext cx="1642" cy="3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68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 panose="020B0500000000000000" pitchFamily="34" charset="-122"/>
                    <a:cs typeface="Fluent Thin" charset="0"/>
                    <a:sym typeface="+mn-ea"/>
                  </a:rPr>
                  <a:t>问题解决周期</a:t>
                </a:r>
              </a:p>
            </p:txBody>
          </p:sp>
          <p:sp>
            <p:nvSpPr>
              <p:cNvPr id="327" name="文本框 326">
                <a:extLst>
                  <a:ext uri="{FF2B5EF4-FFF2-40B4-BE49-F238E27FC236}">
                    <a16:creationId xmlns:a16="http://schemas.microsoft.com/office/drawing/2014/main" id="{C580D77E-A8DF-AADA-32D2-F84A8E4CDFB2}"/>
                  </a:ext>
                </a:extLst>
              </p:cNvPr>
              <p:cNvSpPr txBox="1"/>
              <p:nvPr/>
            </p:nvSpPr>
            <p:spPr>
              <a:xfrm>
                <a:off x="7062" y="8216"/>
                <a:ext cx="1422" cy="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24h-5h</a:t>
                </a:r>
              </a:p>
            </p:txBody>
          </p:sp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67F5EE45-FF1B-AF5E-57D5-8BBF7BEC3055}"/>
                  </a:ext>
                </a:extLst>
              </p:cNvPr>
              <p:cNvSpPr txBox="1"/>
              <p:nvPr/>
            </p:nvSpPr>
            <p:spPr>
              <a:xfrm>
                <a:off x="7062" y="7951"/>
                <a:ext cx="1250" cy="3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68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 panose="020B0500000000000000" pitchFamily="34" charset="-122"/>
                    <a:cs typeface="Fluent Thin" charset="0"/>
                    <a:sym typeface="+mn-ea"/>
                  </a:rPr>
                  <a:t>时间缩短到</a:t>
                </a:r>
              </a:p>
            </p:txBody>
          </p:sp>
          <p:sp>
            <p:nvSpPr>
              <p:cNvPr id="329" name="文本框 328">
                <a:extLst>
                  <a:ext uri="{FF2B5EF4-FFF2-40B4-BE49-F238E27FC236}">
                    <a16:creationId xmlns:a16="http://schemas.microsoft.com/office/drawing/2014/main" id="{A3421C2E-7A3B-B59C-19F0-1F6E51C2FCBB}"/>
                  </a:ext>
                </a:extLst>
              </p:cNvPr>
              <p:cNvSpPr txBox="1"/>
              <p:nvPr/>
            </p:nvSpPr>
            <p:spPr>
              <a:xfrm>
                <a:off x="10058" y="8216"/>
                <a:ext cx="2006" cy="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38.2%-2.1%</a:t>
                </a:r>
              </a:p>
            </p:txBody>
          </p:sp>
          <p:sp>
            <p:nvSpPr>
              <p:cNvPr id="330" name="文本框 329">
                <a:extLst>
                  <a:ext uri="{FF2B5EF4-FFF2-40B4-BE49-F238E27FC236}">
                    <a16:creationId xmlns:a16="http://schemas.microsoft.com/office/drawing/2014/main" id="{5B1EBE91-EF48-11C0-1351-F342DF9C8A5B}"/>
                  </a:ext>
                </a:extLst>
              </p:cNvPr>
              <p:cNvSpPr txBox="1"/>
              <p:nvPr/>
            </p:nvSpPr>
            <p:spPr>
              <a:xfrm>
                <a:off x="10312" y="7951"/>
                <a:ext cx="1752" cy="3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68000"/>
                      </a:srgbClr>
                    </a:solidFill>
                    <a:effectLst/>
                    <a:uLnTx/>
                    <a:uFillTx/>
                    <a:latin typeface="Fluent Thin" charset="0"/>
                    <a:ea typeface="思源黑体 CN" panose="020B0500000000000000" pitchFamily="34" charset="-122"/>
                    <a:cs typeface="Fluent Thin" charset="0"/>
                    <a:sym typeface="+mn-ea"/>
                  </a:rPr>
                  <a:t>年度客诉总量</a:t>
                </a:r>
              </a:p>
            </p:txBody>
          </p:sp>
        </p:grpSp>
      </p:grpSp>
      <p:grpSp>
        <p:nvGrpSpPr>
          <p:cNvPr id="334" name="组合 333">
            <a:extLst>
              <a:ext uri="{FF2B5EF4-FFF2-40B4-BE49-F238E27FC236}">
                <a16:creationId xmlns:a16="http://schemas.microsoft.com/office/drawing/2014/main" id="{B4930878-9CF3-7E52-0C1F-814ADDCA0467}"/>
              </a:ext>
            </a:extLst>
          </p:cNvPr>
          <p:cNvGrpSpPr/>
          <p:nvPr/>
        </p:nvGrpSpPr>
        <p:grpSpPr>
          <a:xfrm>
            <a:off x="3027680" y="2890520"/>
            <a:ext cx="1137920" cy="1137920"/>
            <a:chOff x="4768" y="4552"/>
            <a:chExt cx="1792" cy="1792"/>
          </a:xfrm>
        </p:grpSpPr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6842949F-E549-225A-DEEE-AB86CD9FC989}"/>
                </a:ext>
              </a:extLst>
            </p:cNvPr>
            <p:cNvSpPr/>
            <p:nvPr/>
          </p:nvSpPr>
          <p:spPr>
            <a:xfrm>
              <a:off x="4768" y="4552"/>
              <a:ext cx="1792" cy="1792"/>
            </a:xfrm>
            <a:prstGeom prst="ellipse">
              <a:avLst/>
            </a:prstGeom>
            <a:solidFill>
              <a:srgbClr val="3C007F"/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36" name="文本框 335">
              <a:extLst>
                <a:ext uri="{FF2B5EF4-FFF2-40B4-BE49-F238E27FC236}">
                  <a16:creationId xmlns:a16="http://schemas.microsoft.com/office/drawing/2014/main" id="{196354D1-168E-D957-37C0-C17C33065D69}"/>
                </a:ext>
              </a:extLst>
            </p:cNvPr>
            <p:cNvSpPr txBox="1"/>
            <p:nvPr/>
          </p:nvSpPr>
          <p:spPr>
            <a:xfrm>
              <a:off x="5230" y="5084"/>
              <a:ext cx="868" cy="72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速接速办</a:t>
              </a:r>
            </a:p>
          </p:txBody>
        </p:sp>
      </p:grp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908F3EFC-ED9B-20C6-F811-6BA3CA36BB1A}"/>
              </a:ext>
            </a:extLst>
          </p:cNvPr>
          <p:cNvGrpSpPr/>
          <p:nvPr/>
        </p:nvGrpSpPr>
        <p:grpSpPr>
          <a:xfrm>
            <a:off x="8026400" y="2890520"/>
            <a:ext cx="1137920" cy="1137920"/>
            <a:chOff x="12640" y="4552"/>
            <a:chExt cx="1792" cy="1792"/>
          </a:xfrm>
        </p:grpSpPr>
        <p:sp>
          <p:nvSpPr>
            <p:cNvPr id="338" name="椭圆 337">
              <a:extLst>
                <a:ext uri="{FF2B5EF4-FFF2-40B4-BE49-F238E27FC236}">
                  <a16:creationId xmlns:a16="http://schemas.microsoft.com/office/drawing/2014/main" id="{C1CC98B8-E7F7-F708-ED4C-B2EDBF8F8EC2}"/>
                </a:ext>
              </a:extLst>
            </p:cNvPr>
            <p:cNvSpPr/>
            <p:nvPr/>
          </p:nvSpPr>
          <p:spPr>
            <a:xfrm>
              <a:off x="12640" y="4552"/>
              <a:ext cx="1792" cy="1792"/>
            </a:xfrm>
            <a:prstGeom prst="ellipse">
              <a:avLst/>
            </a:prstGeom>
            <a:solidFill>
              <a:srgbClr val="1A0147"/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sp>
          <p:nvSpPr>
            <p:cNvPr id="339" name="文本框 338">
              <a:extLst>
                <a:ext uri="{FF2B5EF4-FFF2-40B4-BE49-F238E27FC236}">
                  <a16:creationId xmlns:a16="http://schemas.microsoft.com/office/drawing/2014/main" id="{7A54D5A9-EB2A-ABA3-6DE0-50C2EA8D4B4D}"/>
                </a:ext>
              </a:extLst>
            </p:cNvPr>
            <p:cNvSpPr txBox="1"/>
            <p:nvPr/>
          </p:nvSpPr>
          <p:spPr>
            <a:xfrm>
              <a:off x="13102" y="5084"/>
              <a:ext cx="868" cy="72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彻查彻改</a:t>
              </a:r>
            </a:p>
          </p:txBody>
        </p:sp>
      </p:grpSp>
      <p:grpSp>
        <p:nvGrpSpPr>
          <p:cNvPr id="340" name="组合 339">
            <a:extLst>
              <a:ext uri="{FF2B5EF4-FFF2-40B4-BE49-F238E27FC236}">
                <a16:creationId xmlns:a16="http://schemas.microsoft.com/office/drawing/2014/main" id="{89C0B0B6-FF2C-505F-C3AD-6B633561A5B8}"/>
              </a:ext>
            </a:extLst>
          </p:cNvPr>
          <p:cNvGrpSpPr/>
          <p:nvPr/>
        </p:nvGrpSpPr>
        <p:grpSpPr>
          <a:xfrm>
            <a:off x="4491990" y="1863725"/>
            <a:ext cx="3208020" cy="3208020"/>
            <a:chOff x="7074" y="2935"/>
            <a:chExt cx="5052" cy="5052"/>
          </a:xfrm>
        </p:grpSpPr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9BFA6474-2AF7-68DA-B1F3-25CAAB318BCA}"/>
                </a:ext>
              </a:extLst>
            </p:cNvPr>
            <p:cNvSpPr/>
            <p:nvPr/>
          </p:nvSpPr>
          <p:spPr>
            <a:xfrm>
              <a:off x="7074" y="2935"/>
              <a:ext cx="5052" cy="5052"/>
            </a:xfrm>
            <a:prstGeom prst="ellipse">
              <a:avLst/>
            </a:prstGeom>
            <a:solidFill>
              <a:srgbClr val="7928D5">
                <a:alpha val="7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思源黑体 CN"/>
                <a:cs typeface="思源黑体 CN" panose="020B0500000000000000" pitchFamily="34" charset="-122"/>
              </a:endParaRPr>
            </a:p>
          </p:txBody>
        </p:sp>
        <p:grpSp>
          <p:nvGrpSpPr>
            <p:cNvPr id="342" name="组合 341">
              <a:extLst>
                <a:ext uri="{FF2B5EF4-FFF2-40B4-BE49-F238E27FC236}">
                  <a16:creationId xmlns:a16="http://schemas.microsoft.com/office/drawing/2014/main" id="{50814AF5-3EA0-DB35-6EAE-BB2B89CC7DA5}"/>
                </a:ext>
              </a:extLst>
            </p:cNvPr>
            <p:cNvGrpSpPr/>
            <p:nvPr/>
          </p:nvGrpSpPr>
          <p:grpSpPr>
            <a:xfrm>
              <a:off x="7714" y="3639"/>
              <a:ext cx="3772" cy="3644"/>
              <a:chOff x="7714" y="3639"/>
              <a:chExt cx="3772" cy="3644"/>
            </a:xfrm>
          </p:grpSpPr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AA763F96-EF21-ACC2-1841-BE850F2E9260}"/>
                  </a:ext>
                </a:extLst>
              </p:cNvPr>
              <p:cNvSpPr/>
              <p:nvPr/>
            </p:nvSpPr>
            <p:spPr>
              <a:xfrm>
                <a:off x="7778" y="3639"/>
                <a:ext cx="3644" cy="3644"/>
              </a:xfrm>
              <a:prstGeom prst="ellipse">
                <a:avLst/>
              </a:prstGeom>
              <a:solidFill>
                <a:srgbClr val="7928D5"/>
              </a:solidFill>
              <a:ln>
                <a:noFill/>
              </a:ln>
              <a:effectLst>
                <a:outerShdw blurRad="482600" dist="482600" dir="1920000" algn="t" rotWithShape="0">
                  <a:prstClr val="black">
                    <a:alpha val="13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FA44001C-4ABF-BFD4-3227-7D5891DEF930}"/>
                  </a:ext>
                </a:extLst>
              </p:cNvPr>
              <p:cNvSpPr txBox="1"/>
              <p:nvPr/>
            </p:nvSpPr>
            <p:spPr>
              <a:xfrm>
                <a:off x="8549" y="5063"/>
                <a:ext cx="2102" cy="62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ea"/>
                  </a:rPr>
                  <a:t>闭环提质</a:t>
                </a:r>
              </a:p>
            </p:txBody>
          </p:sp>
          <p:sp>
            <p:nvSpPr>
              <p:cNvPr id="345" name="文本框 344">
                <a:extLst>
                  <a:ext uri="{FF2B5EF4-FFF2-40B4-BE49-F238E27FC236}">
                    <a16:creationId xmlns:a16="http://schemas.microsoft.com/office/drawing/2014/main" id="{1B110D34-E8D2-28E8-5FE1-7C8452F16127}"/>
                  </a:ext>
                </a:extLst>
              </p:cNvPr>
              <p:cNvSpPr txBox="1"/>
              <p:nvPr/>
            </p:nvSpPr>
            <p:spPr>
              <a:xfrm>
                <a:off x="7714" y="5720"/>
                <a:ext cx="3772" cy="38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luent" charset="0"/>
                    <a:ea typeface="思源黑体 CN" panose="020B0500000000000000" pitchFamily="34" charset="-122"/>
                    <a:cs typeface="Fluent" charset="0"/>
                    <a:sym typeface="+mn-ea"/>
                  </a:rPr>
                  <a:t>Closed-loop quality improvement</a:t>
                </a:r>
              </a:p>
            </p:txBody>
          </p:sp>
          <p:pic>
            <p:nvPicPr>
              <p:cNvPr id="346" name="图片 26" descr="无穷尽_endless">
                <a:extLst>
                  <a:ext uri="{FF2B5EF4-FFF2-40B4-BE49-F238E27FC236}">
                    <a16:creationId xmlns:a16="http://schemas.microsoft.com/office/drawing/2014/main" id="{36B0A8EA-736D-1021-CEF9-04CF64FDC1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222" y="4307"/>
                <a:ext cx="756" cy="756"/>
              </a:xfrm>
              <a:prstGeom prst="rect">
                <a:avLst/>
              </a:prstGeom>
            </p:spPr>
          </p:pic>
        </p:grpSp>
      </p:grp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5768360-877B-B9AD-899C-57B53A0483CD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算力组网 全域协同破局</a:t>
            </a:r>
          </a:p>
        </p:txBody>
      </p:sp>
    </p:spTree>
    <p:extLst>
      <p:ext uri="{BB962C8B-B14F-4D97-AF65-F5344CB8AC3E}">
        <p14:creationId xmlns:p14="http://schemas.microsoft.com/office/powerpoint/2010/main" val="2666967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42B3993-5A5C-4D64-3C1A-C2100DED3A33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算力组网 全域协同破局</a:t>
            </a:r>
          </a:p>
        </p:txBody>
      </p:sp>
      <p:sp>
        <p:nvSpPr>
          <p:cNvPr id="113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<a:extLst>
              <a:ext uri="{FF2B5EF4-FFF2-40B4-BE49-F238E27FC236}">
                <a16:creationId xmlns:a16="http://schemas.microsoft.com/office/drawing/2014/main" id="{E32AF834-C0F3-5015-7F60-A02B7722621C}"/>
              </a:ext>
            </a:extLst>
          </p:cNvPr>
          <p:cNvSpPr/>
          <p:nvPr/>
        </p:nvSpPr>
        <p:spPr>
          <a:xfrm rot="5400000">
            <a:off x="3735964" y="2065464"/>
            <a:ext cx="4700361" cy="338475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482600" dist="482600" dir="5400000" sx="91000" sy="91000" algn="t" rotWithShape="0">
              <a:prstClr val="black">
                <a:alpha val="13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ID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rPr>
              <a:t>.</a:t>
            </a:r>
          </a:p>
        </p:txBody>
      </p:sp>
      <p:sp>
        <p:nvSpPr>
          <p:cNvPr id="114" name="Text Placeholder 383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<a:extLst>
              <a:ext uri="{FF2B5EF4-FFF2-40B4-BE49-F238E27FC236}">
                <a16:creationId xmlns:a16="http://schemas.microsoft.com/office/drawing/2014/main" id="{E6AA352B-AFF2-8338-DA11-78F10403C13E}"/>
              </a:ext>
            </a:extLst>
          </p:cNvPr>
          <p:cNvSpPr txBox="1"/>
          <p:nvPr/>
        </p:nvSpPr>
        <p:spPr>
          <a:xfrm rot="5400000">
            <a:off x="4264661" y="2595523"/>
            <a:ext cx="3641604" cy="3384750"/>
          </a:xfrm>
          <a:prstGeom prst="rect">
            <a:avLst/>
          </a:prstGeom>
          <a:solidFill>
            <a:srgbClr val="FFFFFF">
              <a:lumMod val="95000"/>
            </a:srgb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defRPr lang="en-US" sz="1200" kern="1200" spc="0" baseline="0" dirty="0">
                <a:noFill/>
                <a:latin typeface="+mn-lt"/>
                <a:ea typeface="Work Sans"/>
                <a:cs typeface="Work Sans"/>
              </a:defRPr>
            </a:lvl1pPr>
            <a:lvl2pPr marL="0" indent="0" algn="l" defTabSz="44704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805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447040" rtl="0" eaLnBrk="1" latinLnBrk="0" hangingPunct="1">
              <a:lnSpc>
                <a:spcPct val="150000"/>
              </a:lnSpc>
              <a:spcBef>
                <a:spcPts val="495"/>
              </a:spcBef>
              <a:buSzPct val="100000"/>
              <a:buFontTx/>
              <a:buNone/>
              <a:defRPr sz="10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50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2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06780" rtl="0" eaLnBrk="1" fontAlgn="auto" latinLnBrk="0" hangingPunct="1">
              <a:lnSpc>
                <a:spcPct val="9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defRPr sz="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9070" indent="0" algn="l" defTabSz="906780" rtl="0" eaLnBrk="1" latinLnBrk="0" hangingPunct="1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None/>
              <a:defRPr sz="17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ea"/>
                <a:sym typeface="+mn-lt"/>
              </a:rPr>
              <a:t>.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+mn-ea"/>
              <a:sym typeface="+mn-lt"/>
            </a:endParaRPr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3D8BB4AB-26C5-B15B-AB5F-83C07770F12C}"/>
              </a:ext>
            </a:extLst>
          </p:cNvPr>
          <p:cNvGrpSpPr/>
          <p:nvPr/>
        </p:nvGrpSpPr>
        <p:grpSpPr>
          <a:xfrm>
            <a:off x="4601228" y="1772500"/>
            <a:ext cx="2971195" cy="486456"/>
            <a:chOff x="7406" y="3719"/>
            <a:chExt cx="4361" cy="714"/>
          </a:xfrm>
        </p:grpSpPr>
        <p:sp>
          <p:nvSpPr>
            <p:cNvPr id="116" name="Text Placeholder 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F1FC8B0B-2868-BBC2-86C4-8A56A773A4A1}"/>
                </a:ext>
              </a:extLst>
            </p:cNvPr>
            <p:cNvSpPr txBox="1"/>
            <p:nvPr/>
          </p:nvSpPr>
          <p:spPr>
            <a:xfrm>
              <a:off x="10117" y="3719"/>
              <a:ext cx="1650" cy="3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sz="1800" b="0" kern="1200" spc="0" baseline="0">
                  <a:solidFill>
                    <a:schemeClr val="tx1"/>
                  </a:solidFill>
                  <a:latin typeface="+mn-lt"/>
                  <a:ea typeface="Work Sans"/>
                  <a:cs typeface="Work Sans"/>
                  <a:sym typeface="Work Sans"/>
                </a:defRPr>
              </a:lvl1pPr>
              <a:lvl2pPr marL="0" indent="0" algn="l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l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>
                  <a:solidFill>
                    <a:srgbClr val="000000"/>
                  </a:solidFill>
                  <a:latin typeface="Fluent" charset="0"/>
                  <a:ea typeface="思源黑体 CN"/>
                  <a:cs typeface="Fluent" charset="0"/>
                  <a:sym typeface="+mn-lt"/>
                </a:rPr>
                <a:t>39.00</a:t>
              </a:r>
              <a:endParaRPr lang="en-US" sz="1600" dirty="0">
                <a:solidFill>
                  <a:srgbClr val="000000"/>
                </a:solidFill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117" name="Text Placeholder 206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137D80B2-C5E9-1F84-7B39-6F23712E778A}"/>
                </a:ext>
              </a:extLst>
            </p:cNvPr>
            <p:cNvSpPr txBox="1"/>
            <p:nvPr/>
          </p:nvSpPr>
          <p:spPr>
            <a:xfrm>
              <a:off x="10117" y="4115"/>
              <a:ext cx="1650" cy="25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lang="en-US" sz="900" b="0" i="0" kern="1200" spc="0" baseline="0" smtClean="0">
                  <a:solidFill>
                    <a:schemeClr val="tx1">
                      <a:lumMod val="95000"/>
                      <a:lumOff val="5000"/>
                      <a:alpha val="4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0" indent="0" algn="ctr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ctr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ctr" defTabSz="90678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ctr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>
                  <a:solidFill>
                    <a:srgbClr val="000000">
                      <a:lumMod val="95000"/>
                      <a:lumOff val="5000"/>
                      <a:alpha val="40000"/>
                    </a:srgbClr>
                  </a:solidFill>
                  <a:latin typeface="Fluent" charset="0"/>
                  <a:ea typeface="思源黑体 CN"/>
                  <a:cs typeface="Fluent" charset="0"/>
                  <a:sym typeface="+mn-lt"/>
                </a:rPr>
                <a:t>关键文本</a:t>
              </a:r>
              <a:endParaRPr dirty="0">
                <a:solidFill>
                  <a:srgbClr val="000000">
                    <a:lumMod val="95000"/>
                    <a:lumOff val="5000"/>
                    <a:alpha val="40000"/>
                  </a:srgbClr>
                </a:solidFill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C2B25822-936E-8B87-07C9-C093256BE396}"/>
                </a:ext>
              </a:extLst>
            </p:cNvPr>
            <p:cNvSpPr txBox="1"/>
            <p:nvPr/>
          </p:nvSpPr>
          <p:spPr>
            <a:xfrm>
              <a:off x="7406" y="3719"/>
              <a:ext cx="323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0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30190A1-F5B3-C117-DD9D-19899C02406E}"/>
                </a:ext>
              </a:extLst>
            </p:cNvPr>
            <p:cNvSpPr txBox="1"/>
            <p:nvPr/>
          </p:nvSpPr>
          <p:spPr>
            <a:xfrm>
              <a:off x="7406" y="4071"/>
              <a:ext cx="234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900" dirty="0">
                  <a:solidFill>
                    <a:srgbClr val="000000">
                      <a:alpha val="44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</p:grpSp>
      <p:sp>
        <p:nvSpPr>
          <p:cNvPr id="120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<a:extLst>
              <a:ext uri="{FF2B5EF4-FFF2-40B4-BE49-F238E27FC236}">
                <a16:creationId xmlns:a16="http://schemas.microsoft.com/office/drawing/2014/main" id="{560AE9F9-37F8-E8B1-C856-75A0A53DBD63}"/>
              </a:ext>
            </a:extLst>
          </p:cNvPr>
          <p:cNvSpPr/>
          <p:nvPr/>
        </p:nvSpPr>
        <p:spPr>
          <a:xfrm rot="5400000">
            <a:off x="7256295" y="2066145"/>
            <a:ext cx="4700361" cy="338475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482600" dist="482600" dir="5400000" sx="91000" sy="91000" algn="t" rotWithShape="0">
              <a:prstClr val="black">
                <a:alpha val="13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ID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rPr>
              <a:t>.</a:t>
            </a:r>
          </a:p>
        </p:txBody>
      </p:sp>
      <p:sp>
        <p:nvSpPr>
          <p:cNvPr id="121" name="Text Placeholder 383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<a:extLst>
              <a:ext uri="{FF2B5EF4-FFF2-40B4-BE49-F238E27FC236}">
                <a16:creationId xmlns:a16="http://schemas.microsoft.com/office/drawing/2014/main" id="{E0A36A22-C704-0313-86F0-AEAC0972A448}"/>
              </a:ext>
            </a:extLst>
          </p:cNvPr>
          <p:cNvSpPr txBox="1"/>
          <p:nvPr/>
        </p:nvSpPr>
        <p:spPr>
          <a:xfrm rot="5400000">
            <a:off x="7786354" y="2595523"/>
            <a:ext cx="3641604" cy="3384750"/>
          </a:xfrm>
          <a:prstGeom prst="rect">
            <a:avLst/>
          </a:prstGeom>
          <a:solidFill>
            <a:srgbClr val="FFFFFF">
              <a:lumMod val="95000"/>
            </a:srgb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defRPr lang="en-US" sz="1200" kern="1200" spc="0" baseline="0" dirty="0">
                <a:noFill/>
                <a:latin typeface="+mn-lt"/>
                <a:ea typeface="Work Sans"/>
                <a:cs typeface="Work Sans"/>
              </a:defRPr>
            </a:lvl1pPr>
            <a:lvl2pPr marL="0" indent="0" algn="l" defTabSz="44704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805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447040" rtl="0" eaLnBrk="1" latinLnBrk="0" hangingPunct="1">
              <a:lnSpc>
                <a:spcPct val="150000"/>
              </a:lnSpc>
              <a:spcBef>
                <a:spcPts val="495"/>
              </a:spcBef>
              <a:buSzPct val="100000"/>
              <a:buFontTx/>
              <a:buNone/>
              <a:defRPr sz="10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50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2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06780" rtl="0" eaLnBrk="1" fontAlgn="auto" latinLnBrk="0" hangingPunct="1">
              <a:lnSpc>
                <a:spcPct val="9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defRPr sz="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9070" indent="0" algn="l" defTabSz="906780" rtl="0" eaLnBrk="1" latinLnBrk="0" hangingPunct="1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None/>
              <a:defRPr sz="17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ea"/>
                <a:sym typeface="+mn-lt"/>
              </a:rPr>
              <a:t>.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+mn-ea"/>
              <a:sym typeface="+mn-lt"/>
            </a:endParaRPr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3D291E6C-3B45-6B99-3C88-61400C8E57BD}"/>
              </a:ext>
            </a:extLst>
          </p:cNvPr>
          <p:cNvGrpSpPr/>
          <p:nvPr/>
        </p:nvGrpSpPr>
        <p:grpSpPr>
          <a:xfrm>
            <a:off x="8122240" y="1773182"/>
            <a:ext cx="2970513" cy="486456"/>
            <a:chOff x="12574" y="3720"/>
            <a:chExt cx="4360" cy="714"/>
          </a:xfrm>
        </p:grpSpPr>
        <p:sp>
          <p:nvSpPr>
            <p:cNvPr id="123" name="Text Placeholder 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D0C66DCC-9AAE-5AE3-0E5E-2EEFAF19B7A3}"/>
                </a:ext>
              </a:extLst>
            </p:cNvPr>
            <p:cNvSpPr txBox="1"/>
            <p:nvPr/>
          </p:nvSpPr>
          <p:spPr>
            <a:xfrm>
              <a:off x="15284" y="3720"/>
              <a:ext cx="1650" cy="3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sz="1800" b="0" kern="1200" spc="0" baseline="0">
                  <a:solidFill>
                    <a:schemeClr val="tx1"/>
                  </a:solidFill>
                  <a:latin typeface="+mn-lt"/>
                  <a:ea typeface="Work Sans"/>
                  <a:cs typeface="Work Sans"/>
                  <a:sym typeface="Work Sans"/>
                </a:defRPr>
              </a:lvl1pPr>
              <a:lvl2pPr marL="0" indent="0" algn="l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l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>
                  <a:solidFill>
                    <a:srgbClr val="000000"/>
                  </a:solidFill>
                  <a:latin typeface="Fluent" charset="0"/>
                  <a:ea typeface="思源黑体 CN"/>
                  <a:cs typeface="Fluent" charset="0"/>
                  <a:sym typeface="+mn-lt"/>
                </a:rPr>
                <a:t>39.00</a:t>
              </a:r>
              <a:endParaRPr lang="en-US" sz="1600" dirty="0">
                <a:solidFill>
                  <a:srgbClr val="000000"/>
                </a:solidFill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124" name="Text Placeholder 206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214C717A-8639-1544-790A-F27BA2B54338}"/>
                </a:ext>
              </a:extLst>
            </p:cNvPr>
            <p:cNvSpPr txBox="1"/>
            <p:nvPr/>
          </p:nvSpPr>
          <p:spPr>
            <a:xfrm>
              <a:off x="15284" y="4116"/>
              <a:ext cx="1650" cy="25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lang="en-US" sz="900" b="0" i="0" kern="1200" spc="0" baseline="0" smtClean="0">
                  <a:solidFill>
                    <a:schemeClr val="tx1">
                      <a:lumMod val="95000"/>
                      <a:lumOff val="5000"/>
                      <a:alpha val="4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0" indent="0" algn="ctr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ctr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ctr" defTabSz="90678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ctr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>
                  <a:solidFill>
                    <a:srgbClr val="000000">
                      <a:lumMod val="95000"/>
                      <a:lumOff val="5000"/>
                      <a:alpha val="40000"/>
                    </a:srgbClr>
                  </a:solidFill>
                  <a:latin typeface="Fluent" charset="0"/>
                  <a:ea typeface="思源黑体 CN"/>
                  <a:cs typeface="Fluent" charset="0"/>
                  <a:sym typeface="+mn-lt"/>
                </a:rPr>
                <a:t>关键文本</a:t>
              </a:r>
              <a:endParaRPr dirty="0">
                <a:solidFill>
                  <a:srgbClr val="000000">
                    <a:lumMod val="95000"/>
                    <a:lumOff val="5000"/>
                    <a:alpha val="40000"/>
                  </a:srgbClr>
                </a:solidFill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906439B6-AD50-5831-35A5-50FE32CF3A21}"/>
                </a:ext>
              </a:extLst>
            </p:cNvPr>
            <p:cNvSpPr txBox="1"/>
            <p:nvPr/>
          </p:nvSpPr>
          <p:spPr>
            <a:xfrm>
              <a:off x="12574" y="3720"/>
              <a:ext cx="323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0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C1F0D984-2F5A-E12B-06C2-0991AE6ACDE1}"/>
                </a:ext>
              </a:extLst>
            </p:cNvPr>
            <p:cNvSpPr txBox="1"/>
            <p:nvPr/>
          </p:nvSpPr>
          <p:spPr>
            <a:xfrm>
              <a:off x="12574" y="4072"/>
              <a:ext cx="234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900" dirty="0">
                  <a:solidFill>
                    <a:srgbClr val="000000">
                      <a:alpha val="44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</p:grpSp>
      <p:sp>
        <p:nvSpPr>
          <p:cNvPr id="127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<a:extLst>
              <a:ext uri="{FF2B5EF4-FFF2-40B4-BE49-F238E27FC236}">
                <a16:creationId xmlns:a16="http://schemas.microsoft.com/office/drawing/2014/main" id="{5E8A3ED8-807B-4A3C-DC41-5130553FDE7F}"/>
              </a:ext>
            </a:extLst>
          </p:cNvPr>
          <p:cNvSpPr/>
          <p:nvPr/>
        </p:nvSpPr>
        <p:spPr>
          <a:xfrm rot="5400000">
            <a:off x="234710" y="2066145"/>
            <a:ext cx="4700361" cy="338475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482600" dist="482600" dir="5400000" sx="91000" sy="91000" algn="t" rotWithShape="0">
              <a:prstClr val="black">
                <a:alpha val="13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ID" dirty="0">
                <a:solidFill>
                  <a:srgbClr val="FFFF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+mn-lt"/>
              </a:rPr>
              <a:t>.</a:t>
            </a:r>
          </a:p>
        </p:txBody>
      </p:sp>
      <p:sp>
        <p:nvSpPr>
          <p:cNvPr id="128" name="Text Placeholder 383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<a:extLst>
              <a:ext uri="{FF2B5EF4-FFF2-40B4-BE49-F238E27FC236}">
                <a16:creationId xmlns:a16="http://schemas.microsoft.com/office/drawing/2014/main" id="{01624930-479A-2574-E79C-C958F6AB5F07}"/>
              </a:ext>
            </a:extLst>
          </p:cNvPr>
          <p:cNvSpPr txBox="1"/>
          <p:nvPr/>
        </p:nvSpPr>
        <p:spPr>
          <a:xfrm rot="5400000">
            <a:off x="763406" y="2595523"/>
            <a:ext cx="3641604" cy="3384750"/>
          </a:xfrm>
          <a:prstGeom prst="rect">
            <a:avLst/>
          </a:prstGeom>
          <a:solidFill>
            <a:srgbClr val="FFFFFF">
              <a:lumMod val="95000"/>
            </a:srgb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defRPr lang="en-US" sz="1200" kern="1200" spc="0" baseline="0" dirty="0">
                <a:noFill/>
                <a:latin typeface="+mn-lt"/>
                <a:ea typeface="Work Sans"/>
                <a:cs typeface="Work Sans"/>
              </a:defRPr>
            </a:lvl1pPr>
            <a:lvl2pPr marL="0" indent="0" algn="l" defTabSz="44704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805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447040" rtl="0" eaLnBrk="1" latinLnBrk="0" hangingPunct="1">
              <a:lnSpc>
                <a:spcPct val="150000"/>
              </a:lnSpc>
              <a:spcBef>
                <a:spcPts val="495"/>
              </a:spcBef>
              <a:buSzPct val="100000"/>
              <a:buFontTx/>
              <a:buNone/>
              <a:defRPr sz="10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50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SzPct val="100000"/>
              <a:buFontTx/>
              <a:buNone/>
              <a:defRPr sz="12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06780" rtl="0" eaLnBrk="1" latinLnBrk="0" hangingPunct="1">
              <a:lnSpc>
                <a:spcPct val="100000"/>
              </a:lnSpc>
              <a:spcBef>
                <a:spcPts val="495"/>
              </a:spcBef>
              <a:buFontTx/>
              <a:buNone/>
              <a:defRPr sz="800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06780" rtl="0" eaLnBrk="1" fontAlgn="auto" latinLnBrk="0" hangingPunct="1">
              <a:lnSpc>
                <a:spcPct val="9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defRPr sz="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9070" indent="0" algn="l" defTabSz="906780" rtl="0" eaLnBrk="1" latinLnBrk="0" hangingPunct="1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None/>
              <a:defRPr sz="17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678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ea"/>
                <a:sym typeface="+mn-lt"/>
              </a:rPr>
              <a:t>.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+mn-ea"/>
              <a:sym typeface="+mn-lt"/>
            </a:endParaRP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720A5592-E8E5-7F40-DA33-196DAC6715E9}"/>
              </a:ext>
            </a:extLst>
          </p:cNvPr>
          <p:cNvGrpSpPr/>
          <p:nvPr/>
        </p:nvGrpSpPr>
        <p:grpSpPr>
          <a:xfrm>
            <a:off x="1100655" y="1773182"/>
            <a:ext cx="2970513" cy="486456"/>
            <a:chOff x="2268" y="3720"/>
            <a:chExt cx="4360" cy="714"/>
          </a:xfrm>
        </p:grpSpPr>
        <p:sp>
          <p:nvSpPr>
            <p:cNvPr id="130" name="Text Placeholder 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2C706A39-7782-3113-4A2E-D85E5A8A3898}"/>
                </a:ext>
              </a:extLst>
            </p:cNvPr>
            <p:cNvSpPr txBox="1"/>
            <p:nvPr/>
          </p:nvSpPr>
          <p:spPr>
            <a:xfrm>
              <a:off x="4978" y="3720"/>
              <a:ext cx="1650" cy="3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sz="1800" b="0" kern="1200" spc="0" baseline="0">
                  <a:solidFill>
                    <a:schemeClr val="tx1"/>
                  </a:solidFill>
                  <a:latin typeface="+mn-lt"/>
                  <a:ea typeface="Work Sans"/>
                  <a:cs typeface="Work Sans"/>
                  <a:sym typeface="Work Sans"/>
                </a:defRPr>
              </a:lvl1pPr>
              <a:lvl2pPr marL="0" indent="0" algn="l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l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>
                  <a:solidFill>
                    <a:srgbClr val="000000"/>
                  </a:solidFill>
                  <a:latin typeface="Fluent" charset="0"/>
                  <a:ea typeface="思源黑体 CN"/>
                  <a:cs typeface="Fluent" charset="0"/>
                  <a:sym typeface="+mn-lt"/>
                </a:rPr>
                <a:t>39.00</a:t>
              </a:r>
              <a:endParaRPr lang="en-US" sz="1600" dirty="0">
                <a:solidFill>
                  <a:srgbClr val="000000"/>
                </a:solidFill>
                <a:latin typeface="Fluent" charset="0"/>
                <a:ea typeface="思源黑体 CN"/>
                <a:cs typeface="Fluent" charset="0"/>
                <a:sym typeface="+mn-lt"/>
              </a:endParaRPr>
            </a:p>
          </p:txBody>
        </p:sp>
        <p:sp>
          <p:nvSpPr>
            <p:cNvPr id="131" name="Text Placeholder 206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<a:extLst>
                <a:ext uri="{FF2B5EF4-FFF2-40B4-BE49-F238E27FC236}">
                  <a16:creationId xmlns:a16="http://schemas.microsoft.com/office/drawing/2014/main" id="{EAD72770-2C09-F10D-6177-99A8E9F9B897}"/>
                </a:ext>
              </a:extLst>
            </p:cNvPr>
            <p:cNvSpPr txBox="1"/>
            <p:nvPr/>
          </p:nvSpPr>
          <p:spPr>
            <a:xfrm>
              <a:off x="4978" y="4116"/>
              <a:ext cx="1650" cy="25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r" defTabSz="90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 lang="en-US" sz="900" b="0" i="0" kern="1200" spc="0" baseline="0" smtClean="0">
                  <a:solidFill>
                    <a:schemeClr val="tx1">
                      <a:lumMod val="95000"/>
                      <a:lumOff val="5000"/>
                      <a:alpha val="4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0" indent="0" algn="ctr" defTabSz="44704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805" b="1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0" indent="0" algn="ctr" defTabSz="44704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0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ctr" defTabSz="906780" rtl="0" eaLnBrk="1" latinLnBrk="0" hangingPunct="1">
                <a:lnSpc>
                  <a:spcPct val="150000"/>
                </a:lnSpc>
                <a:spcBef>
                  <a:spcPts val="495"/>
                </a:spcBef>
                <a:buSzPct val="100000"/>
                <a:buFontTx/>
                <a:buNone/>
                <a:defRPr sz="1505" b="1" kern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0" indent="0" algn="ctr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SzPct val="100000"/>
                <a:buFontTx/>
                <a:buNone/>
                <a:defRPr sz="1205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06780" rtl="0" eaLnBrk="1" latinLnBrk="0" hangingPunct="1">
                <a:lnSpc>
                  <a:spcPct val="100000"/>
                </a:lnSpc>
                <a:spcBef>
                  <a:spcPts val="495"/>
                </a:spcBef>
                <a:buFontTx/>
                <a:buNone/>
                <a:defRPr sz="800" b="1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marR="0" indent="0" algn="l" defTabSz="906780" rtl="0" eaLnBrk="1" fontAlgn="auto" latinLnBrk="0" hangingPunct="1">
                <a:lnSpc>
                  <a:spcPct val="90000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defRPr sz="8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9070" indent="0" algn="l" defTabSz="906780" rtl="0" eaLnBrk="1" latinLnBrk="0" hangingPunct="1">
                <a:lnSpc>
                  <a:spcPct val="90000"/>
                </a:lnSpc>
                <a:spcBef>
                  <a:spcPts val="495"/>
                </a:spcBef>
                <a:buFont typeface="Arial" panose="020B0604020202020204" pitchFamily="34" charset="0"/>
                <a:buNone/>
                <a:defRPr sz="17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>
                  <a:solidFill>
                    <a:srgbClr val="000000">
                      <a:lumMod val="95000"/>
                      <a:lumOff val="5000"/>
                      <a:alpha val="40000"/>
                    </a:srgbClr>
                  </a:solidFill>
                  <a:latin typeface="Fluent" charset="0"/>
                  <a:ea typeface="思源黑体 CN"/>
                  <a:cs typeface="Fluent" charset="0"/>
                  <a:sym typeface="+mn-lt"/>
                </a:rPr>
                <a:t>关键文本</a:t>
              </a: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E30CEE8D-A507-D614-4EEF-9046C5D06902}"/>
                </a:ext>
              </a:extLst>
            </p:cNvPr>
            <p:cNvSpPr txBox="1"/>
            <p:nvPr/>
          </p:nvSpPr>
          <p:spPr>
            <a:xfrm>
              <a:off x="2268" y="3720"/>
              <a:ext cx="323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000" dirty="0">
                  <a:solidFill>
                    <a:srgbClr val="00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44269EDB-FD33-D72A-F695-BA4B2504AFAE}"/>
                </a:ext>
              </a:extLst>
            </p:cNvPr>
            <p:cNvSpPr txBox="1"/>
            <p:nvPr/>
          </p:nvSpPr>
          <p:spPr>
            <a:xfrm>
              <a:off x="2268" y="4072"/>
              <a:ext cx="234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900" dirty="0">
                  <a:solidFill>
                    <a:srgbClr val="000000">
                      <a:alpha val="44000"/>
                    </a:srgb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关键文本信息替换</a:t>
              </a: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36A76E52-6FC3-467B-A496-D3347A9E4BE6}"/>
              </a:ext>
            </a:extLst>
          </p:cNvPr>
          <p:cNvGrpSpPr/>
          <p:nvPr/>
        </p:nvGrpSpPr>
        <p:grpSpPr>
          <a:xfrm>
            <a:off x="4601228" y="4156405"/>
            <a:ext cx="3010029" cy="1843626"/>
            <a:chOff x="7406" y="7218"/>
            <a:chExt cx="4418" cy="2706"/>
          </a:xfrm>
        </p:grpSpPr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7CC05A57-9F75-4DB4-F0E6-0A54EB1C9595}"/>
                </a:ext>
              </a:extLst>
            </p:cNvPr>
            <p:cNvSpPr txBox="1"/>
            <p:nvPr/>
          </p:nvSpPr>
          <p:spPr>
            <a:xfrm>
              <a:off x="7406" y="7680"/>
              <a:ext cx="4419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破解算力资源闲置与过载并存痛点，上线智能调度系统，动态匹配业务需求，最大化释放算力价值。</a:t>
              </a: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0A3BAE7C-C97B-5518-4719-E86DF931FCB7}"/>
                </a:ext>
              </a:extLst>
            </p:cNvPr>
            <p:cNvSpPr txBox="1"/>
            <p:nvPr/>
          </p:nvSpPr>
          <p:spPr>
            <a:xfrm>
              <a:off x="7406" y="7218"/>
              <a:ext cx="32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算力调度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动态弹性适配</a:t>
              </a: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DF3372C2-E024-BA17-FEE9-AEBC5AEC7829}"/>
                </a:ext>
              </a:extLst>
            </p:cNvPr>
            <p:cNvSpPr txBox="1"/>
            <p:nvPr/>
          </p:nvSpPr>
          <p:spPr>
            <a:xfrm>
              <a:off x="7598" y="8975"/>
              <a:ext cx="2072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关键文本信息</a:t>
              </a: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4F771449-F624-7BD8-BE22-EE5FAD7893CB}"/>
                </a:ext>
              </a:extLst>
            </p:cNvPr>
            <p:cNvSpPr txBox="1"/>
            <p:nvPr/>
          </p:nvSpPr>
          <p:spPr>
            <a:xfrm>
              <a:off x="7598" y="9296"/>
              <a:ext cx="188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3503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W</a:t>
              </a:r>
            </a:p>
          </p:txBody>
        </p: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DDAA6240-2150-52A4-E532-0C74DD09B5DA}"/>
                </a:ext>
              </a:extLst>
            </p:cNvPr>
            <p:cNvCxnSpPr/>
            <p:nvPr/>
          </p:nvCxnSpPr>
          <p:spPr>
            <a:xfrm>
              <a:off x="7598" y="9048"/>
              <a:ext cx="0" cy="686"/>
            </a:xfrm>
            <a:prstGeom prst="line">
              <a:avLst/>
            </a:prstGeom>
            <a:noFill/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</p:cxn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8B60D04B-4C44-0C35-5536-1E8FEE45D773}"/>
              </a:ext>
            </a:extLst>
          </p:cNvPr>
          <p:cNvGrpSpPr/>
          <p:nvPr/>
        </p:nvGrpSpPr>
        <p:grpSpPr>
          <a:xfrm>
            <a:off x="8122240" y="4157087"/>
            <a:ext cx="3010029" cy="1844307"/>
            <a:chOff x="12574" y="7219"/>
            <a:chExt cx="4418" cy="2707"/>
          </a:xfrm>
        </p:grpSpPr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5811245B-B1AD-5A9D-5B67-9F0A62E4498A}"/>
                </a:ext>
              </a:extLst>
            </p:cNvPr>
            <p:cNvSpPr txBox="1"/>
            <p:nvPr/>
          </p:nvSpPr>
          <p:spPr>
            <a:xfrm>
              <a:off x="12574" y="7681"/>
              <a:ext cx="4419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突破算力网络高成本运维瓶颈，优化节点部署策略，降低设备能耗与管理成本，实现算力网络轻量化运营。</a:t>
              </a: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0FB355FF-669A-532F-27E8-B1BDD6F486A8}"/>
                </a:ext>
              </a:extLst>
            </p:cNvPr>
            <p:cNvSpPr txBox="1"/>
            <p:nvPr/>
          </p:nvSpPr>
          <p:spPr>
            <a:xfrm>
              <a:off x="12574" y="7219"/>
              <a:ext cx="32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全域组网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算力按需供给</a:t>
              </a: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4A41F0F5-7C38-0B08-0919-295D08E1F251}"/>
                </a:ext>
              </a:extLst>
            </p:cNvPr>
            <p:cNvSpPr txBox="1"/>
            <p:nvPr/>
          </p:nvSpPr>
          <p:spPr>
            <a:xfrm>
              <a:off x="12766" y="8976"/>
              <a:ext cx="2072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关键文本信息</a:t>
              </a: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44C4F990-F1C7-59FC-49F0-DF117A6A657D}"/>
                </a:ext>
              </a:extLst>
            </p:cNvPr>
            <p:cNvSpPr txBox="1"/>
            <p:nvPr/>
          </p:nvSpPr>
          <p:spPr>
            <a:xfrm>
              <a:off x="12766" y="9298"/>
              <a:ext cx="188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9703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W</a:t>
              </a:r>
            </a:p>
          </p:txBody>
        </p: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3C061FEE-C7ED-0333-49D3-9DC483E58F9D}"/>
                </a:ext>
              </a:extLst>
            </p:cNvPr>
            <p:cNvCxnSpPr/>
            <p:nvPr/>
          </p:nvCxnSpPr>
          <p:spPr>
            <a:xfrm>
              <a:off x="12766" y="9048"/>
              <a:ext cx="0" cy="686"/>
            </a:xfrm>
            <a:prstGeom prst="line">
              <a:avLst/>
            </a:prstGeom>
            <a:noFill/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</p:cxn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65789251-A236-2DCF-6261-3283CF5FF734}"/>
              </a:ext>
            </a:extLst>
          </p:cNvPr>
          <p:cNvGrpSpPr/>
          <p:nvPr/>
        </p:nvGrpSpPr>
        <p:grpSpPr>
          <a:xfrm>
            <a:off x="1100655" y="4157087"/>
            <a:ext cx="3010029" cy="1844307"/>
            <a:chOff x="2268" y="7219"/>
            <a:chExt cx="4418" cy="2707"/>
          </a:xfrm>
        </p:grpSpPr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BE7603B1-1E9B-74F9-57FB-EF989D629F6A}"/>
                </a:ext>
              </a:extLst>
            </p:cNvPr>
            <p:cNvSpPr txBox="1"/>
            <p:nvPr/>
          </p:nvSpPr>
          <p:spPr>
            <a:xfrm>
              <a:off x="2268" y="7681"/>
              <a:ext cx="4419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攻坚算力节点地域分布分散难题，构建一体化组网架构，实现跨区域算力高效流转，夯实数智场景底座。</a:t>
              </a: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36649FA1-A14B-68DA-D418-1582B6820270}"/>
                </a:ext>
              </a:extLst>
            </p:cNvPr>
            <p:cNvSpPr txBox="1"/>
            <p:nvPr/>
          </p:nvSpPr>
          <p:spPr>
            <a:xfrm>
              <a:off x="2268" y="7219"/>
              <a:ext cx="32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智算筑基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节点深度协同</a:t>
              </a: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C9985B68-BE98-FF94-BE60-403BB937AFD8}"/>
                </a:ext>
              </a:extLst>
            </p:cNvPr>
            <p:cNvSpPr txBox="1"/>
            <p:nvPr/>
          </p:nvSpPr>
          <p:spPr>
            <a:xfrm>
              <a:off x="2458" y="8976"/>
              <a:ext cx="2072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关键文本信息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4551B964-7191-4B72-A1C8-02349508F822}"/>
                </a:ext>
              </a:extLst>
            </p:cNvPr>
            <p:cNvSpPr txBox="1"/>
            <p:nvPr/>
          </p:nvSpPr>
          <p:spPr>
            <a:xfrm>
              <a:off x="2458" y="9298"/>
              <a:ext cx="188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1203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W</a:t>
              </a:r>
            </a:p>
          </p:txBody>
        </p: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69BE4072-6E3D-94F5-3934-0482314A4CDC}"/>
                </a:ext>
              </a:extLst>
            </p:cNvPr>
            <p:cNvCxnSpPr/>
            <p:nvPr/>
          </p:nvCxnSpPr>
          <p:spPr>
            <a:xfrm>
              <a:off x="2458" y="9048"/>
              <a:ext cx="0" cy="686"/>
            </a:xfrm>
            <a:prstGeom prst="line">
              <a:avLst/>
            </a:prstGeom>
            <a:noFill/>
            <a:ln w="12700" cap="flat" cmpd="sng" algn="ctr">
              <a:solidFill>
                <a:srgbClr val="7928D5"/>
              </a:solidFill>
              <a:prstDash val="solid"/>
              <a:miter lim="800000"/>
            </a:ln>
            <a:effectLst/>
          </p:spPr>
        </p:cxnSp>
      </p:grpSp>
      <p:pic>
        <p:nvPicPr>
          <p:cNvPr id="152" name="图片 151" descr="15">
            <a:extLst>
              <a:ext uri="{FF2B5EF4-FFF2-40B4-BE49-F238E27FC236}">
                <a16:creationId xmlns:a16="http://schemas.microsoft.com/office/drawing/2014/main" id="{66B15CF8-FE8F-C30F-05F8-8ABDDC62EA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467" y="2637765"/>
            <a:ext cx="2811087" cy="1152096"/>
          </a:xfrm>
          <a:prstGeom prst="rect">
            <a:avLst/>
          </a:prstGeom>
          <a:effectLst>
            <a:outerShdw blurRad="304800" dist="279400" dir="5400000" sx="95000" sy="95000" algn="t" rotWithShape="0">
              <a:prstClr val="black">
                <a:alpha val="17000"/>
              </a:prstClr>
            </a:outerShdw>
          </a:effectLst>
        </p:spPr>
      </p:pic>
      <p:pic>
        <p:nvPicPr>
          <p:cNvPr id="153" name="图片 152" descr="16">
            <a:extLst>
              <a:ext uri="{FF2B5EF4-FFF2-40B4-BE49-F238E27FC236}">
                <a16:creationId xmlns:a16="http://schemas.microsoft.com/office/drawing/2014/main" id="{DA21D20B-6581-B1CA-88E4-7AF16C5714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0833" y="2637765"/>
            <a:ext cx="2811087" cy="1152096"/>
          </a:xfrm>
          <a:prstGeom prst="rect">
            <a:avLst/>
          </a:prstGeom>
          <a:effectLst>
            <a:outerShdw blurRad="304800" dist="279400" dir="5400000" sx="95000" sy="95000" algn="t" rotWithShape="0">
              <a:prstClr val="black">
                <a:alpha val="17000"/>
              </a:prstClr>
            </a:outerShdw>
          </a:effectLst>
        </p:spPr>
      </p:pic>
      <p:pic>
        <p:nvPicPr>
          <p:cNvPr id="154" name="图片 153" descr="14">
            <a:extLst>
              <a:ext uri="{FF2B5EF4-FFF2-40B4-BE49-F238E27FC236}">
                <a16:creationId xmlns:a16="http://schemas.microsoft.com/office/drawing/2014/main" id="{6C7B8492-D385-677C-E8E1-01DCB8F2D9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722" y="2637765"/>
            <a:ext cx="2811087" cy="1152096"/>
          </a:xfrm>
          <a:prstGeom prst="rect">
            <a:avLst/>
          </a:prstGeom>
          <a:effectLst>
            <a:outerShdw blurRad="304800" dist="279400" dir="5400000" sx="95000" sy="95000" algn="t" rotWithShape="0">
              <a:prstClr val="black">
                <a:alpha val="17000"/>
              </a:prst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A942-9630-2A75-F85D-47E591D6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C271FB8-9605-08EE-3DFB-30F8866C08E4}"/>
              </a:ext>
            </a:extLst>
          </p:cNvPr>
          <p:cNvSpPr txBox="1"/>
          <p:nvPr/>
        </p:nvSpPr>
        <p:spPr>
          <a:xfrm>
            <a:off x="2524126" y="484126"/>
            <a:ext cx="7143115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算力网络拓扑优化 </a:t>
            </a:r>
          </a:p>
        </p:txBody>
      </p: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FDE842CE-870F-BBA9-39B5-D75B8D8A8C7D}"/>
              </a:ext>
            </a:extLst>
          </p:cNvPr>
          <p:cNvGrpSpPr/>
          <p:nvPr/>
        </p:nvGrpSpPr>
        <p:grpSpPr>
          <a:xfrm>
            <a:off x="558800" y="1948180"/>
            <a:ext cx="11057890" cy="2195830"/>
            <a:chOff x="880" y="3068"/>
            <a:chExt cx="17414" cy="3458"/>
          </a:xfrm>
        </p:grpSpPr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F3530C1C-43A4-70E1-9DCF-FE6A3BF34AF1}"/>
                </a:ext>
              </a:extLst>
            </p:cNvPr>
            <p:cNvGrpSpPr/>
            <p:nvPr/>
          </p:nvGrpSpPr>
          <p:grpSpPr>
            <a:xfrm>
              <a:off x="880" y="3068"/>
              <a:ext cx="5724" cy="3459"/>
              <a:chOff x="880" y="3068"/>
              <a:chExt cx="5724" cy="3459"/>
            </a:xfrm>
          </p:grpSpPr>
          <p:sp>
            <p:nvSpPr>
              <p:cNvPr id="185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  <a:extLst>
                  <a:ext uri="{FF2B5EF4-FFF2-40B4-BE49-F238E27FC236}">
                    <a16:creationId xmlns:a16="http://schemas.microsoft.com/office/drawing/2014/main" id="{46241FE6-73F7-CDAD-2344-0E0C7DC337D1}"/>
                  </a:ext>
                </a:extLst>
              </p:cNvPr>
              <p:cNvSpPr/>
              <p:nvPr/>
            </p:nvSpPr>
            <p:spPr>
              <a:xfrm rot="5400000">
                <a:off x="2021" y="1927"/>
                <a:ext cx="3443" cy="5725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>
                <a:outerShdw blurRad="482600" dist="241300" dir="5400000" sx="91000" sy="91000" algn="t" rotWithShape="0">
                  <a:prstClr val="black">
                    <a:alpha val="13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lt"/>
                  </a:rPr>
                  <a:t>.</a:t>
                </a:r>
              </a:p>
            </p:txBody>
          </p:sp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013E4CA2-BF49-A1CF-B62A-1057A6816309}"/>
                  </a:ext>
                </a:extLst>
              </p:cNvPr>
              <p:cNvSpPr txBox="1"/>
              <p:nvPr/>
            </p:nvSpPr>
            <p:spPr>
              <a:xfrm>
                <a:off x="1097" y="4834"/>
                <a:ext cx="5292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重构算力网络拓扑架构，删减冗余中转节点，缩短数据传输路径，降低调度时延。</a:t>
                </a:r>
              </a:p>
            </p:txBody>
          </p: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B8E333AD-6771-4874-79B8-0683114BFA64}"/>
                  </a:ext>
                </a:extLst>
              </p:cNvPr>
              <p:cNvSpPr txBox="1"/>
              <p:nvPr/>
            </p:nvSpPr>
            <p:spPr>
              <a:xfrm>
                <a:off x="1468" y="4383"/>
                <a:ext cx="454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拓扑重构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降延增效</a:t>
                </a:r>
              </a:p>
            </p:txBody>
          </p:sp>
          <p:sp>
            <p:nvSpPr>
              <p:cNvPr id="188" name="矩形 187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  <a:extLst>
                  <a:ext uri="{FF2B5EF4-FFF2-40B4-BE49-F238E27FC236}">
                    <a16:creationId xmlns:a16="http://schemas.microsoft.com/office/drawing/2014/main" id="{05684752-8AF5-7144-743D-70A94E88DD42}"/>
                  </a:ext>
                </a:extLst>
              </p:cNvPr>
              <p:cNvSpPr/>
              <p:nvPr/>
            </p:nvSpPr>
            <p:spPr>
              <a:xfrm>
                <a:off x="1780" y="6017"/>
                <a:ext cx="3924" cy="386"/>
              </a:xfrm>
              <a:prstGeom prst="rect">
                <a:avLst/>
              </a:prstGeom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47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  <a:sym typeface="+mn-ea"/>
                  </a:rPr>
                  <a:t>Text placeholder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endParaRPr>
              </a:p>
            </p:txBody>
          </p:sp>
          <p:sp>
            <p:nvSpPr>
              <p:cNvPr id="189" name="任意多边形 140">
                <a:extLst>
                  <a:ext uri="{FF2B5EF4-FFF2-40B4-BE49-F238E27FC236}">
                    <a16:creationId xmlns:a16="http://schemas.microsoft.com/office/drawing/2014/main" id="{0F5E55C4-656C-26DE-A31A-6D0B99E15880}"/>
                  </a:ext>
                </a:extLst>
              </p:cNvPr>
              <p:cNvSpPr/>
              <p:nvPr/>
            </p:nvSpPr>
            <p:spPr>
              <a:xfrm>
                <a:off x="2670" y="6467"/>
                <a:ext cx="2146" cy="60"/>
              </a:xfrm>
              <a:custGeom>
                <a:avLst/>
                <a:gdLst>
                  <a:gd name="adj" fmla="val 50000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62" h="60">
                    <a:moveTo>
                      <a:pt x="0" y="60"/>
                    </a:moveTo>
                    <a:cubicBezTo>
                      <a:pt x="0" y="29"/>
                      <a:pt x="32" y="-2"/>
                      <a:pt x="63" y="0"/>
                    </a:cubicBezTo>
                    <a:lnTo>
                      <a:pt x="1799" y="0"/>
                    </a:lnTo>
                    <a:cubicBezTo>
                      <a:pt x="1834" y="-2"/>
                      <a:pt x="1862" y="32"/>
                      <a:pt x="1862" y="60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7928D5">
                  <a:alpha val="94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  <a:sym typeface="+mn-ea"/>
                </a:endParaRPr>
              </a:p>
            </p:txBody>
          </p:sp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E15E098D-034C-10E5-3ADD-0B809C2F94F7}"/>
                  </a:ext>
                </a:extLst>
              </p:cNvPr>
              <p:cNvSpPr/>
              <p:nvPr/>
            </p:nvSpPr>
            <p:spPr>
              <a:xfrm>
                <a:off x="3266" y="3392"/>
                <a:ext cx="862" cy="862"/>
              </a:xfrm>
              <a:prstGeom prst="ellipse">
                <a:avLst/>
              </a:prstGeom>
              <a:solidFill>
                <a:srgbClr val="7928D5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B9010A89-5C1B-D7CD-891A-6BD77CC237A7}"/>
                  </a:ext>
                </a:extLst>
              </p:cNvPr>
              <p:cNvSpPr/>
              <p:nvPr/>
            </p:nvSpPr>
            <p:spPr>
              <a:xfrm>
                <a:off x="3310" y="3437"/>
                <a:ext cx="774" cy="77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06400" dist="152400" dir="5400000" sx="81000" sy="81000" algn="t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192" name="图片 26" descr="左_left (1)">
                <a:extLst>
                  <a:ext uri="{FF2B5EF4-FFF2-40B4-BE49-F238E27FC236}">
                    <a16:creationId xmlns:a16="http://schemas.microsoft.com/office/drawing/2014/main" id="{A0895417-8F89-6F70-8642-B3630D5D9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16200000">
                <a:off x="3517" y="3680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284560BD-2355-D75E-BFE7-EED0C04EA5EC}"/>
                </a:ext>
              </a:extLst>
            </p:cNvPr>
            <p:cNvGrpSpPr/>
            <p:nvPr/>
          </p:nvGrpSpPr>
          <p:grpSpPr>
            <a:xfrm>
              <a:off x="6725" y="3068"/>
              <a:ext cx="5724" cy="3459"/>
              <a:chOff x="6725" y="3068"/>
              <a:chExt cx="5724" cy="3459"/>
            </a:xfrm>
          </p:grpSpPr>
          <p:sp>
            <p:nvSpPr>
              <p:cNvPr id="177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  <a:extLst>
                  <a:ext uri="{FF2B5EF4-FFF2-40B4-BE49-F238E27FC236}">
                    <a16:creationId xmlns:a16="http://schemas.microsoft.com/office/drawing/2014/main" id="{8A6CC65F-CBC8-7BE7-FDE2-33083D9F83D7}"/>
                  </a:ext>
                </a:extLst>
              </p:cNvPr>
              <p:cNvSpPr/>
              <p:nvPr/>
            </p:nvSpPr>
            <p:spPr>
              <a:xfrm rot="5400000">
                <a:off x="7866" y="1927"/>
                <a:ext cx="3443" cy="5725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>
                <a:outerShdw blurRad="482600" dist="241300" dir="5400000" sx="91000" sy="91000" algn="t" rotWithShape="0">
                  <a:prstClr val="black">
                    <a:alpha val="13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lt"/>
                  </a:rPr>
                  <a:t>.</a:t>
                </a:r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20857270-BABE-D0CE-247D-EE62EEB33CCA}"/>
                  </a:ext>
                </a:extLst>
              </p:cNvPr>
              <p:cNvSpPr txBox="1"/>
              <p:nvPr/>
            </p:nvSpPr>
            <p:spPr>
              <a:xfrm>
                <a:off x="6942" y="4834"/>
                <a:ext cx="5292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精简算力节点连接链路，优化关键路径带宽，平衡全网负载，避免局部算力拥堵。</a:t>
                </a: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052D27AE-6D09-BD53-769F-D8E3DB349AD9}"/>
                  </a:ext>
                </a:extLst>
              </p:cNvPr>
              <p:cNvSpPr txBox="1"/>
              <p:nvPr/>
            </p:nvSpPr>
            <p:spPr>
              <a:xfrm>
                <a:off x="7315" y="4383"/>
                <a:ext cx="454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链路精简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算力稳流</a:t>
                </a:r>
              </a:p>
            </p:txBody>
          </p:sp>
          <p:sp>
            <p:nvSpPr>
              <p:cNvPr id="180" name="矩形 179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  <a:extLst>
                  <a:ext uri="{FF2B5EF4-FFF2-40B4-BE49-F238E27FC236}">
                    <a16:creationId xmlns:a16="http://schemas.microsoft.com/office/drawing/2014/main" id="{6186A238-2C1B-EBCF-9007-765258F51F6E}"/>
                  </a:ext>
                </a:extLst>
              </p:cNvPr>
              <p:cNvSpPr/>
              <p:nvPr/>
            </p:nvSpPr>
            <p:spPr>
              <a:xfrm>
                <a:off x="7626" y="6017"/>
                <a:ext cx="3924" cy="386"/>
              </a:xfrm>
              <a:prstGeom prst="rect">
                <a:avLst/>
              </a:prstGeom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47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  <a:sym typeface="+mn-ea"/>
                  </a:rPr>
                  <a:t>Text placeholder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endParaRPr>
              </a:p>
            </p:txBody>
          </p:sp>
          <p:sp>
            <p:nvSpPr>
              <p:cNvPr id="181" name="任意多边形 69">
                <a:extLst>
                  <a:ext uri="{FF2B5EF4-FFF2-40B4-BE49-F238E27FC236}">
                    <a16:creationId xmlns:a16="http://schemas.microsoft.com/office/drawing/2014/main" id="{759BC94F-5749-D905-FB82-3EB82AAC38D1}"/>
                  </a:ext>
                </a:extLst>
              </p:cNvPr>
              <p:cNvSpPr/>
              <p:nvPr/>
            </p:nvSpPr>
            <p:spPr>
              <a:xfrm>
                <a:off x="8516" y="6467"/>
                <a:ext cx="2146" cy="60"/>
              </a:xfrm>
              <a:custGeom>
                <a:avLst/>
                <a:gdLst>
                  <a:gd name="adj" fmla="val 50000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62" h="60">
                    <a:moveTo>
                      <a:pt x="0" y="60"/>
                    </a:moveTo>
                    <a:cubicBezTo>
                      <a:pt x="0" y="29"/>
                      <a:pt x="32" y="-2"/>
                      <a:pt x="63" y="0"/>
                    </a:cubicBezTo>
                    <a:lnTo>
                      <a:pt x="1799" y="0"/>
                    </a:lnTo>
                    <a:cubicBezTo>
                      <a:pt x="1834" y="-2"/>
                      <a:pt x="1862" y="32"/>
                      <a:pt x="1862" y="60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7928D5">
                  <a:alpha val="94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  <a:sym typeface="+mn-ea"/>
                </a:endParaRPr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365FCCF8-9232-5F28-DD2F-E5E5D198DE84}"/>
                  </a:ext>
                </a:extLst>
              </p:cNvPr>
              <p:cNvSpPr/>
              <p:nvPr/>
            </p:nvSpPr>
            <p:spPr>
              <a:xfrm>
                <a:off x="9156" y="3392"/>
                <a:ext cx="862" cy="862"/>
              </a:xfrm>
              <a:prstGeom prst="ellipse">
                <a:avLst/>
              </a:prstGeom>
              <a:solidFill>
                <a:srgbClr val="7928D5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3FC035FB-D355-BE74-93BB-DA5FDDF36F77}"/>
                  </a:ext>
                </a:extLst>
              </p:cNvPr>
              <p:cNvSpPr/>
              <p:nvPr/>
            </p:nvSpPr>
            <p:spPr>
              <a:xfrm>
                <a:off x="9200" y="3437"/>
                <a:ext cx="774" cy="77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06400" dist="152400" dir="5400000" sx="81000" sy="81000" algn="t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184" name="图片 27" descr="左_left (1)">
                <a:extLst>
                  <a:ext uri="{FF2B5EF4-FFF2-40B4-BE49-F238E27FC236}">
                    <a16:creationId xmlns:a16="http://schemas.microsoft.com/office/drawing/2014/main" id="{0121B526-FA15-5D71-F36F-F9F3B3247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16200000">
                <a:off x="9407" y="3680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0EF5C427-6FED-DE5C-27F2-E54A1B20D692}"/>
                </a:ext>
              </a:extLst>
            </p:cNvPr>
            <p:cNvGrpSpPr/>
            <p:nvPr/>
          </p:nvGrpSpPr>
          <p:grpSpPr>
            <a:xfrm>
              <a:off x="12570" y="3068"/>
              <a:ext cx="5724" cy="3459"/>
              <a:chOff x="12570" y="3068"/>
              <a:chExt cx="5724" cy="3459"/>
            </a:xfrm>
          </p:grpSpPr>
          <p:sp>
            <p:nvSpPr>
              <p:cNvPr id="169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  <a:extLst>
                  <a:ext uri="{FF2B5EF4-FFF2-40B4-BE49-F238E27FC236}">
                    <a16:creationId xmlns:a16="http://schemas.microsoft.com/office/drawing/2014/main" id="{78329FC2-4F33-3F70-0101-B483098BB6F6}"/>
                  </a:ext>
                </a:extLst>
              </p:cNvPr>
              <p:cNvSpPr/>
              <p:nvPr/>
            </p:nvSpPr>
            <p:spPr>
              <a:xfrm rot="5400000">
                <a:off x="13711" y="1927"/>
                <a:ext cx="3443" cy="5725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>
                <a:outerShdw blurRad="482600" dist="241300" dir="5400000" sx="91000" sy="91000" algn="t" rotWithShape="0">
                  <a:prstClr val="black">
                    <a:alpha val="13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lt"/>
                  </a:rPr>
                  <a:t>.</a:t>
                </a:r>
              </a:p>
            </p:txBody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2A3B5460-2F9E-895A-561A-0FDD3436847A}"/>
                  </a:ext>
                </a:extLst>
              </p:cNvPr>
              <p:cNvSpPr txBox="1"/>
              <p:nvPr/>
            </p:nvSpPr>
            <p:spPr>
              <a:xfrm>
                <a:off x="12787" y="4834"/>
                <a:ext cx="5292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采用扁平化拓扑设计，减少层级交互环节，提升跨域算力协同效率与响应速度。</a:t>
                </a:r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D171131A-9A75-1997-4E32-EFE23719C524}"/>
                  </a:ext>
                </a:extLst>
              </p:cNvPr>
              <p:cNvSpPr txBox="1"/>
              <p:nvPr/>
            </p:nvSpPr>
            <p:spPr>
              <a:xfrm>
                <a:off x="13159" y="4383"/>
                <a:ext cx="454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架构优化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网络提速</a:t>
                </a:r>
              </a:p>
            </p:txBody>
          </p:sp>
          <p:sp>
            <p:nvSpPr>
              <p:cNvPr id="172" name="矩形 171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  <a:extLst>
                  <a:ext uri="{FF2B5EF4-FFF2-40B4-BE49-F238E27FC236}">
                    <a16:creationId xmlns:a16="http://schemas.microsoft.com/office/drawing/2014/main" id="{9DFCC969-714C-B54F-5C28-72BF26E2F6CD}"/>
                  </a:ext>
                </a:extLst>
              </p:cNvPr>
              <p:cNvSpPr/>
              <p:nvPr/>
            </p:nvSpPr>
            <p:spPr>
              <a:xfrm>
                <a:off x="13470" y="6017"/>
                <a:ext cx="3924" cy="386"/>
              </a:xfrm>
              <a:prstGeom prst="rect">
                <a:avLst/>
              </a:prstGeom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47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  <a:sym typeface="+mn-ea"/>
                  </a:rPr>
                  <a:t>Text placeholder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endParaRPr>
              </a:p>
            </p:txBody>
          </p:sp>
          <p:sp>
            <p:nvSpPr>
              <p:cNvPr id="173" name="任意多边形 93">
                <a:extLst>
                  <a:ext uri="{FF2B5EF4-FFF2-40B4-BE49-F238E27FC236}">
                    <a16:creationId xmlns:a16="http://schemas.microsoft.com/office/drawing/2014/main" id="{47F976A3-3BC9-E9E9-816D-053C6451D660}"/>
                  </a:ext>
                </a:extLst>
              </p:cNvPr>
              <p:cNvSpPr/>
              <p:nvPr/>
            </p:nvSpPr>
            <p:spPr>
              <a:xfrm>
                <a:off x="14361" y="6467"/>
                <a:ext cx="2146" cy="60"/>
              </a:xfrm>
              <a:custGeom>
                <a:avLst/>
                <a:gdLst>
                  <a:gd name="adj" fmla="val 50000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62" h="60">
                    <a:moveTo>
                      <a:pt x="0" y="60"/>
                    </a:moveTo>
                    <a:cubicBezTo>
                      <a:pt x="0" y="29"/>
                      <a:pt x="32" y="-2"/>
                      <a:pt x="63" y="0"/>
                    </a:cubicBezTo>
                    <a:lnTo>
                      <a:pt x="1799" y="0"/>
                    </a:lnTo>
                    <a:cubicBezTo>
                      <a:pt x="1834" y="-2"/>
                      <a:pt x="1862" y="32"/>
                      <a:pt x="1862" y="60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7928D5">
                  <a:alpha val="94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  <a:sym typeface="+mn-ea"/>
                </a:endParaRPr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209756B8-7DCA-D3FF-05CB-A3B6368E78A7}"/>
                  </a:ext>
                </a:extLst>
              </p:cNvPr>
              <p:cNvSpPr/>
              <p:nvPr/>
            </p:nvSpPr>
            <p:spPr>
              <a:xfrm>
                <a:off x="15002" y="3392"/>
                <a:ext cx="862" cy="862"/>
              </a:xfrm>
              <a:prstGeom prst="ellipse">
                <a:avLst/>
              </a:prstGeom>
              <a:solidFill>
                <a:srgbClr val="7928D5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18A7CF32-9A6D-4A7B-68FD-3D56BDD4938B}"/>
                  </a:ext>
                </a:extLst>
              </p:cNvPr>
              <p:cNvSpPr/>
              <p:nvPr/>
            </p:nvSpPr>
            <p:spPr>
              <a:xfrm>
                <a:off x="15046" y="3437"/>
                <a:ext cx="774" cy="77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06400" dist="152400" dir="5400000" sx="81000" sy="81000" algn="t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176" name="图片 28" descr="左_left (1)">
                <a:extLst>
                  <a:ext uri="{FF2B5EF4-FFF2-40B4-BE49-F238E27FC236}">
                    <a16:creationId xmlns:a16="http://schemas.microsoft.com/office/drawing/2014/main" id="{E7E5FCF2-AB51-8FF1-9A30-2EE6C9F3D6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16200000">
                <a:off x="15254" y="3680"/>
                <a:ext cx="360" cy="360"/>
              </a:xfrm>
              <a:prstGeom prst="rect">
                <a:avLst/>
              </a:prstGeom>
            </p:spPr>
          </p:pic>
        </p:grp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747B8B99-6B47-D65F-D1B8-A18C723C3080}"/>
              </a:ext>
            </a:extLst>
          </p:cNvPr>
          <p:cNvGrpSpPr/>
          <p:nvPr/>
        </p:nvGrpSpPr>
        <p:grpSpPr>
          <a:xfrm>
            <a:off x="558800" y="4203700"/>
            <a:ext cx="11057890" cy="2195830"/>
            <a:chOff x="880" y="6620"/>
            <a:chExt cx="17414" cy="3458"/>
          </a:xfrm>
        </p:grpSpPr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D3771AE7-96F5-F052-30A1-03E41DCED80B}"/>
                </a:ext>
              </a:extLst>
            </p:cNvPr>
            <p:cNvGrpSpPr/>
            <p:nvPr/>
          </p:nvGrpSpPr>
          <p:grpSpPr>
            <a:xfrm>
              <a:off x="880" y="6620"/>
              <a:ext cx="5724" cy="3459"/>
              <a:chOff x="880" y="6620"/>
              <a:chExt cx="5724" cy="3459"/>
            </a:xfrm>
          </p:grpSpPr>
          <p:sp>
            <p:nvSpPr>
              <p:cNvPr id="213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  <a:extLst>
                  <a:ext uri="{FF2B5EF4-FFF2-40B4-BE49-F238E27FC236}">
                    <a16:creationId xmlns:a16="http://schemas.microsoft.com/office/drawing/2014/main" id="{74B0CB06-E4E1-6862-5527-BA93F0C2F6D6}"/>
                  </a:ext>
                </a:extLst>
              </p:cNvPr>
              <p:cNvSpPr/>
              <p:nvPr/>
            </p:nvSpPr>
            <p:spPr>
              <a:xfrm rot="5400000">
                <a:off x="2021" y="5479"/>
                <a:ext cx="3443" cy="5725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>
                <a:outerShdw blurRad="482600" dist="241300" dir="5400000" sx="91000" sy="91000" algn="t" rotWithShape="0">
                  <a:prstClr val="black">
                    <a:alpha val="13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lt"/>
                  </a:rPr>
                  <a:t>.</a:t>
                </a:r>
              </a:p>
            </p:txBody>
          </p:sp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C4F3B2A3-F83B-D195-0488-FA7A2D212689}"/>
                  </a:ext>
                </a:extLst>
              </p:cNvPr>
              <p:cNvSpPr txBox="1"/>
              <p:nvPr/>
            </p:nvSpPr>
            <p:spPr>
              <a:xfrm>
                <a:off x="1097" y="8386"/>
                <a:ext cx="5292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针对业务需求调整拓扑布局，实现算力就近调度，让资源供给更贴合场景需求。</a:t>
                </a:r>
              </a:p>
            </p:txBody>
          </p:sp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E478B031-1DED-6CA7-6788-E6EDA1004C35}"/>
                  </a:ext>
                </a:extLst>
              </p:cNvPr>
              <p:cNvSpPr txBox="1"/>
              <p:nvPr/>
            </p:nvSpPr>
            <p:spPr>
              <a:xfrm>
                <a:off x="1468" y="7935"/>
                <a:ext cx="454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节点互联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路径最短</a:t>
                </a:r>
              </a:p>
            </p:txBody>
          </p:sp>
          <p:sp>
            <p:nvSpPr>
              <p:cNvPr id="216" name="矩形 215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  <a:extLst>
                  <a:ext uri="{FF2B5EF4-FFF2-40B4-BE49-F238E27FC236}">
                    <a16:creationId xmlns:a16="http://schemas.microsoft.com/office/drawing/2014/main" id="{A6782AF3-F07E-8E61-4EE5-BCF2B4D99A9D}"/>
                  </a:ext>
                </a:extLst>
              </p:cNvPr>
              <p:cNvSpPr/>
              <p:nvPr/>
            </p:nvSpPr>
            <p:spPr>
              <a:xfrm>
                <a:off x="1780" y="9569"/>
                <a:ext cx="3924" cy="386"/>
              </a:xfrm>
              <a:prstGeom prst="rect">
                <a:avLst/>
              </a:prstGeom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47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  <a:sym typeface="+mn-ea"/>
                  </a:rPr>
                  <a:t>Text placeholder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endParaRPr>
              </a:p>
            </p:txBody>
          </p:sp>
          <p:sp>
            <p:nvSpPr>
              <p:cNvPr id="217" name="任意多边形 104">
                <a:extLst>
                  <a:ext uri="{FF2B5EF4-FFF2-40B4-BE49-F238E27FC236}">
                    <a16:creationId xmlns:a16="http://schemas.microsoft.com/office/drawing/2014/main" id="{8428D206-E8CD-441C-D0F7-1508FF69B33C}"/>
                  </a:ext>
                </a:extLst>
              </p:cNvPr>
              <p:cNvSpPr/>
              <p:nvPr/>
            </p:nvSpPr>
            <p:spPr>
              <a:xfrm>
                <a:off x="2671" y="10019"/>
                <a:ext cx="2146" cy="60"/>
              </a:xfrm>
              <a:custGeom>
                <a:avLst/>
                <a:gdLst>
                  <a:gd name="adj" fmla="val 50000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62" h="60">
                    <a:moveTo>
                      <a:pt x="0" y="60"/>
                    </a:moveTo>
                    <a:cubicBezTo>
                      <a:pt x="0" y="29"/>
                      <a:pt x="32" y="-2"/>
                      <a:pt x="63" y="0"/>
                    </a:cubicBezTo>
                    <a:lnTo>
                      <a:pt x="1799" y="0"/>
                    </a:lnTo>
                    <a:cubicBezTo>
                      <a:pt x="1834" y="-2"/>
                      <a:pt x="1862" y="32"/>
                      <a:pt x="1862" y="60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7928D5">
                  <a:alpha val="94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  <a:sym typeface="+mn-ea"/>
                </a:endParaRPr>
              </a:p>
            </p:txBody>
          </p:sp>
          <p:sp>
            <p:nvSpPr>
              <p:cNvPr id="218" name="椭圆 217">
                <a:extLst>
                  <a:ext uri="{FF2B5EF4-FFF2-40B4-BE49-F238E27FC236}">
                    <a16:creationId xmlns:a16="http://schemas.microsoft.com/office/drawing/2014/main" id="{2304FBF5-FC85-E430-3CA2-A3BF353BFDFD}"/>
                  </a:ext>
                </a:extLst>
              </p:cNvPr>
              <p:cNvSpPr/>
              <p:nvPr/>
            </p:nvSpPr>
            <p:spPr>
              <a:xfrm>
                <a:off x="3266" y="6980"/>
                <a:ext cx="862" cy="862"/>
              </a:xfrm>
              <a:prstGeom prst="ellipse">
                <a:avLst/>
              </a:prstGeom>
              <a:solidFill>
                <a:srgbClr val="7928D5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0D465E56-D05D-8F57-B049-A4F3CBC023F8}"/>
                  </a:ext>
                </a:extLst>
              </p:cNvPr>
              <p:cNvSpPr/>
              <p:nvPr/>
            </p:nvSpPr>
            <p:spPr>
              <a:xfrm>
                <a:off x="3310" y="7025"/>
                <a:ext cx="774" cy="77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06400" dist="152400" dir="5400000" sx="81000" sy="81000" algn="t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220" name="图片 29" descr="左_left (1)">
                <a:extLst>
                  <a:ext uri="{FF2B5EF4-FFF2-40B4-BE49-F238E27FC236}">
                    <a16:creationId xmlns:a16="http://schemas.microsoft.com/office/drawing/2014/main" id="{E117827F-2978-D55F-DC7F-5204430B5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16200000">
                <a:off x="3517" y="7232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00BABA13-C534-CC81-5F5E-10CFC83E90ED}"/>
                </a:ext>
              </a:extLst>
            </p:cNvPr>
            <p:cNvGrpSpPr/>
            <p:nvPr/>
          </p:nvGrpSpPr>
          <p:grpSpPr>
            <a:xfrm>
              <a:off x="6725" y="6620"/>
              <a:ext cx="5724" cy="3459"/>
              <a:chOff x="6725" y="6620"/>
              <a:chExt cx="5724" cy="3459"/>
            </a:xfrm>
          </p:grpSpPr>
          <p:sp>
            <p:nvSpPr>
              <p:cNvPr id="205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  <a:extLst>
                  <a:ext uri="{FF2B5EF4-FFF2-40B4-BE49-F238E27FC236}">
                    <a16:creationId xmlns:a16="http://schemas.microsoft.com/office/drawing/2014/main" id="{CA85DBF2-FF6B-6594-2E0D-396AD21DF649}"/>
                  </a:ext>
                </a:extLst>
              </p:cNvPr>
              <p:cNvSpPr/>
              <p:nvPr/>
            </p:nvSpPr>
            <p:spPr>
              <a:xfrm rot="5400000">
                <a:off x="7866" y="5479"/>
                <a:ext cx="3443" cy="5725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>
                <a:outerShdw blurRad="482600" dist="241300" dir="5400000" sx="91000" sy="91000" algn="t" rotWithShape="0">
                  <a:prstClr val="black">
                    <a:alpha val="13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lt"/>
                  </a:rPr>
                  <a:t>.</a:t>
                </a:r>
              </a:p>
            </p:txBody>
          </p:sp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C82CE985-1234-E03F-BE0E-4E4206A7534B}"/>
                  </a:ext>
                </a:extLst>
              </p:cNvPr>
              <p:cNvSpPr txBox="1"/>
              <p:nvPr/>
            </p:nvSpPr>
            <p:spPr>
              <a:xfrm>
                <a:off x="6942" y="8386"/>
                <a:ext cx="5292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动态优化算力网络拓扑，适配业务增长变化，保障全域算力长期稳定高效运行。</a:t>
                </a:r>
              </a:p>
            </p:txBody>
          </p:sp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5CAD5A66-499F-FCD0-CA21-BD2E6B6B5A88}"/>
                  </a:ext>
                </a:extLst>
              </p:cNvPr>
              <p:cNvSpPr txBox="1"/>
              <p:nvPr/>
            </p:nvSpPr>
            <p:spPr>
              <a:xfrm>
                <a:off x="7315" y="7935"/>
                <a:ext cx="454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拓扑适配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负载均衡</a:t>
                </a:r>
              </a:p>
            </p:txBody>
          </p:sp>
          <p:sp>
            <p:nvSpPr>
              <p:cNvPr id="208" name="矩形 207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  <a:extLst>
                  <a:ext uri="{FF2B5EF4-FFF2-40B4-BE49-F238E27FC236}">
                    <a16:creationId xmlns:a16="http://schemas.microsoft.com/office/drawing/2014/main" id="{A82B8FB8-32BA-6D35-79AC-758B1BB867EE}"/>
                  </a:ext>
                </a:extLst>
              </p:cNvPr>
              <p:cNvSpPr/>
              <p:nvPr/>
            </p:nvSpPr>
            <p:spPr>
              <a:xfrm>
                <a:off x="7626" y="9569"/>
                <a:ext cx="3924" cy="386"/>
              </a:xfrm>
              <a:prstGeom prst="rect">
                <a:avLst/>
              </a:prstGeom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47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  <a:sym typeface="+mn-ea"/>
                  </a:rPr>
                  <a:t>Text placeholder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endParaRPr>
              </a:p>
            </p:txBody>
          </p:sp>
          <p:sp>
            <p:nvSpPr>
              <p:cNvPr id="209" name="任意多边形 110">
                <a:extLst>
                  <a:ext uri="{FF2B5EF4-FFF2-40B4-BE49-F238E27FC236}">
                    <a16:creationId xmlns:a16="http://schemas.microsoft.com/office/drawing/2014/main" id="{174BFF4C-9892-65D6-A557-7DFF28C33525}"/>
                  </a:ext>
                </a:extLst>
              </p:cNvPr>
              <p:cNvSpPr/>
              <p:nvPr/>
            </p:nvSpPr>
            <p:spPr>
              <a:xfrm>
                <a:off x="8516" y="10019"/>
                <a:ext cx="2146" cy="60"/>
              </a:xfrm>
              <a:custGeom>
                <a:avLst/>
                <a:gdLst>
                  <a:gd name="adj" fmla="val 50000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62" h="60">
                    <a:moveTo>
                      <a:pt x="0" y="60"/>
                    </a:moveTo>
                    <a:cubicBezTo>
                      <a:pt x="0" y="29"/>
                      <a:pt x="32" y="-2"/>
                      <a:pt x="63" y="0"/>
                    </a:cubicBezTo>
                    <a:lnTo>
                      <a:pt x="1799" y="0"/>
                    </a:lnTo>
                    <a:cubicBezTo>
                      <a:pt x="1834" y="-2"/>
                      <a:pt x="1862" y="32"/>
                      <a:pt x="1862" y="60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7928D5">
                  <a:alpha val="94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  <a:sym typeface="+mn-ea"/>
                </a:endParaRPr>
              </a:p>
            </p:txBody>
          </p:sp>
          <p:sp>
            <p:nvSpPr>
              <p:cNvPr id="210" name="椭圆 209">
                <a:extLst>
                  <a:ext uri="{FF2B5EF4-FFF2-40B4-BE49-F238E27FC236}">
                    <a16:creationId xmlns:a16="http://schemas.microsoft.com/office/drawing/2014/main" id="{025B6DA7-63A1-18C5-DB6F-7E4C50526861}"/>
                  </a:ext>
                </a:extLst>
              </p:cNvPr>
              <p:cNvSpPr/>
              <p:nvPr/>
            </p:nvSpPr>
            <p:spPr>
              <a:xfrm>
                <a:off x="9156" y="6980"/>
                <a:ext cx="862" cy="862"/>
              </a:xfrm>
              <a:prstGeom prst="ellipse">
                <a:avLst/>
              </a:prstGeom>
              <a:solidFill>
                <a:srgbClr val="7928D5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11" name="椭圆 210">
                <a:extLst>
                  <a:ext uri="{FF2B5EF4-FFF2-40B4-BE49-F238E27FC236}">
                    <a16:creationId xmlns:a16="http://schemas.microsoft.com/office/drawing/2014/main" id="{5631414D-0E33-FDD9-3583-4EE148DEE1BE}"/>
                  </a:ext>
                </a:extLst>
              </p:cNvPr>
              <p:cNvSpPr/>
              <p:nvPr/>
            </p:nvSpPr>
            <p:spPr>
              <a:xfrm>
                <a:off x="9200" y="7025"/>
                <a:ext cx="774" cy="77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06400" dist="152400" dir="5400000" sx="81000" sy="81000" algn="t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212" name="图片 30" descr="左_left (1)">
                <a:extLst>
                  <a:ext uri="{FF2B5EF4-FFF2-40B4-BE49-F238E27FC236}">
                    <a16:creationId xmlns:a16="http://schemas.microsoft.com/office/drawing/2014/main" id="{CE95E6B4-56B0-8A23-1934-5E1ECC6BCE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16200000">
                <a:off x="9407" y="7232"/>
                <a:ext cx="360" cy="360"/>
              </a:xfrm>
              <a:prstGeom prst="rect">
                <a:avLst/>
              </a:prstGeom>
            </p:spPr>
          </p:pic>
        </p:grp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2815B875-CCE1-6A64-C274-928C3909CD17}"/>
                </a:ext>
              </a:extLst>
            </p:cNvPr>
            <p:cNvGrpSpPr/>
            <p:nvPr/>
          </p:nvGrpSpPr>
          <p:grpSpPr>
            <a:xfrm>
              <a:off x="12570" y="6620"/>
              <a:ext cx="5724" cy="3459"/>
              <a:chOff x="12570" y="6620"/>
              <a:chExt cx="5724" cy="3459"/>
            </a:xfrm>
          </p:grpSpPr>
          <p:sp>
            <p:nvSpPr>
              <p:cNvPr id="197" name="Text Placeholder 221" descr="e7d195523061f1c029d8a470330beef7eecbf578a74c67be34E755975358C32C42B60046E65E5AB2B817CFACDA70963A03272FA99D31C85E250EFEC4061BFB07F05F931B289192FCB8E0285A555C1F23098C289FBCD0DBAAC58625F2456B42CE7D03585A7B51D11E883EE08457623CA7224953F5BF35148DF607C1AC27020F133A962209C404E498417F71D47D031E8F">
                <a:extLst>
                  <a:ext uri="{FF2B5EF4-FFF2-40B4-BE49-F238E27FC236}">
                    <a16:creationId xmlns:a16="http://schemas.microsoft.com/office/drawing/2014/main" id="{6D153BCF-5CFD-FE01-90DB-5FB38B811A6F}"/>
                  </a:ext>
                </a:extLst>
              </p:cNvPr>
              <p:cNvSpPr/>
              <p:nvPr/>
            </p:nvSpPr>
            <p:spPr>
              <a:xfrm rot="5400000">
                <a:off x="13711" y="5479"/>
                <a:ext cx="3443" cy="5725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>
                <a:outerShdw blurRad="482600" dist="241300" dir="5400000" sx="91000" sy="91000" algn="t" rotWithShape="0">
                  <a:prstClr val="black">
                    <a:alpha val="13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+mn-lt"/>
                  </a:rPr>
                  <a:t>.</a:t>
                </a:r>
              </a:p>
            </p:txBody>
          </p: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961F11BF-A001-1F40-A1AB-A1CAACA9BD04}"/>
                  </a:ext>
                </a:extLst>
              </p:cNvPr>
              <p:cNvSpPr txBox="1"/>
              <p:nvPr/>
            </p:nvSpPr>
            <p:spPr>
              <a:xfrm>
                <a:off x="12787" y="8386"/>
                <a:ext cx="5292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6323B">
                        <a:alpha val="71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" panose="020B0500000000000000" pitchFamily="34" charset="-122"/>
                    <a:sym typeface="思源黑体 CN" panose="020B0500000000000000" pitchFamily="34" charset="-122"/>
                  </a:rPr>
                  <a:t>升级算力节点互联模式，打通异构网络壁垒，实现算力资源无差别高效流转。</a:t>
                </a:r>
              </a:p>
            </p:txBody>
          </p:sp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8F10692B-362E-ECAE-066F-EC6DB84E01B4}"/>
                  </a:ext>
                </a:extLst>
              </p:cNvPr>
              <p:cNvSpPr txBox="1"/>
              <p:nvPr/>
            </p:nvSpPr>
            <p:spPr>
              <a:xfrm>
                <a:off x="13159" y="7935"/>
                <a:ext cx="454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网络调优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 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思源黑体 CN" panose="020B0500000000000000" pitchFamily="34" charset="-122"/>
                    <a:ea typeface="思源黑体 CN" panose="020B0500000000000000" pitchFamily="34" charset="-122"/>
                    <a:cs typeface="思源黑体 CN Light" panose="020B0300000000000000" charset="-122"/>
                    <a:sym typeface="+mn-ea"/>
                  </a:rPr>
                  <a:t>算力畅通</a:t>
                </a:r>
              </a:p>
            </p:txBody>
          </p:sp>
          <p:sp>
            <p:nvSpPr>
              <p:cNvPr id="200" name="矩形 199" descr="e7d195523061f1c003d7160bb3852330e69e1b47c664ea0314E9593E18313AD830F940F1AC53C40C0B8B3D93D4DFF44B590F8D4A945ADE53F5D61968231FCAE157B0D7022AA0681C03E9FB4B1E3862D096C6A9163449C7E1C28FE765D4B8ADC4D4BCF2FD61FED7DD3115C38ED8C6CEAD060F8ED053D5A43118059C120E477407C78F96F6011B11BA">
                <a:extLst>
                  <a:ext uri="{FF2B5EF4-FFF2-40B4-BE49-F238E27FC236}">
                    <a16:creationId xmlns:a16="http://schemas.microsoft.com/office/drawing/2014/main" id="{A41C8901-B794-6244-F1BC-DE91C501C5A1}"/>
                  </a:ext>
                </a:extLst>
              </p:cNvPr>
              <p:cNvSpPr/>
              <p:nvPr/>
            </p:nvSpPr>
            <p:spPr>
              <a:xfrm>
                <a:off x="13470" y="9569"/>
                <a:ext cx="3924" cy="386"/>
              </a:xfrm>
              <a:prstGeom prst="rect">
                <a:avLst/>
              </a:prstGeom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  <a:alpha val="47000"/>
                      </a:srgbClr>
                    </a:solidFill>
                    <a:effectLst/>
                    <a:uLnTx/>
                    <a:uFillTx/>
                    <a:latin typeface="Fluent" charset="0"/>
                    <a:ea typeface="思源黑体 CN"/>
                    <a:cs typeface="Fluent" charset="0"/>
                    <a:sym typeface="+mn-ea"/>
                  </a:rPr>
                  <a:t>Text placeholder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  <a:alpha val="47000"/>
                    </a:srgbClr>
                  </a:solidFill>
                  <a:effectLst/>
                  <a:uLnTx/>
                  <a:uFillTx/>
                  <a:latin typeface="Fluent" charset="0"/>
                  <a:ea typeface="思源黑体 CN Light" panose="020B0300000000000000" charset="-122"/>
                  <a:cs typeface="Fluent" charset="0"/>
                  <a:sym typeface="+mn-ea"/>
                </a:endParaRPr>
              </a:p>
            </p:txBody>
          </p:sp>
          <p:sp>
            <p:nvSpPr>
              <p:cNvPr id="201" name="任意多边形 118">
                <a:extLst>
                  <a:ext uri="{FF2B5EF4-FFF2-40B4-BE49-F238E27FC236}">
                    <a16:creationId xmlns:a16="http://schemas.microsoft.com/office/drawing/2014/main" id="{9E73F516-E5A4-1627-D0DF-3BC5E086A5B9}"/>
                  </a:ext>
                </a:extLst>
              </p:cNvPr>
              <p:cNvSpPr/>
              <p:nvPr/>
            </p:nvSpPr>
            <p:spPr>
              <a:xfrm>
                <a:off x="14361" y="10019"/>
                <a:ext cx="2146" cy="60"/>
              </a:xfrm>
              <a:custGeom>
                <a:avLst/>
                <a:gdLst>
                  <a:gd name="adj" fmla="val 50000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62" h="60">
                    <a:moveTo>
                      <a:pt x="0" y="60"/>
                    </a:moveTo>
                    <a:cubicBezTo>
                      <a:pt x="0" y="29"/>
                      <a:pt x="32" y="-2"/>
                      <a:pt x="63" y="0"/>
                    </a:cubicBezTo>
                    <a:lnTo>
                      <a:pt x="1799" y="0"/>
                    </a:lnTo>
                    <a:cubicBezTo>
                      <a:pt x="1834" y="-2"/>
                      <a:pt x="1862" y="32"/>
                      <a:pt x="1862" y="60"/>
                    </a:cubicBez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7928D5">
                  <a:alpha val="94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  <a:sym typeface="+mn-ea"/>
                </a:endParaRPr>
              </a:p>
            </p:txBody>
          </p:sp>
          <p:sp>
            <p:nvSpPr>
              <p:cNvPr id="202" name="椭圆 201">
                <a:extLst>
                  <a:ext uri="{FF2B5EF4-FFF2-40B4-BE49-F238E27FC236}">
                    <a16:creationId xmlns:a16="http://schemas.microsoft.com/office/drawing/2014/main" id="{3C891998-EF23-DA3B-1E7F-0515531F187E}"/>
                  </a:ext>
                </a:extLst>
              </p:cNvPr>
              <p:cNvSpPr/>
              <p:nvPr/>
            </p:nvSpPr>
            <p:spPr>
              <a:xfrm>
                <a:off x="15002" y="6980"/>
                <a:ext cx="862" cy="862"/>
              </a:xfrm>
              <a:prstGeom prst="ellipse">
                <a:avLst/>
              </a:prstGeom>
              <a:solidFill>
                <a:srgbClr val="7928D5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CC64D750-5922-B877-182C-2DED985ACBB8}"/>
                  </a:ext>
                </a:extLst>
              </p:cNvPr>
              <p:cNvSpPr/>
              <p:nvPr/>
            </p:nvSpPr>
            <p:spPr>
              <a:xfrm>
                <a:off x="15046" y="7025"/>
                <a:ext cx="774" cy="77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noFill/>
                <a:prstDash val="solid"/>
                <a:miter lim="800000"/>
              </a:ln>
              <a:effectLst>
                <a:outerShdw blurRad="406400" dist="152400" dir="5400000" sx="81000" sy="81000" algn="t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思源黑体 CN"/>
                  <a:cs typeface="思源黑体 CN" panose="020B0500000000000000" pitchFamily="34" charset="-122"/>
                </a:endParaRPr>
              </a:p>
            </p:txBody>
          </p:sp>
          <p:pic>
            <p:nvPicPr>
              <p:cNvPr id="204" name="图片 31" descr="左_left (1)">
                <a:extLst>
                  <a:ext uri="{FF2B5EF4-FFF2-40B4-BE49-F238E27FC236}">
                    <a16:creationId xmlns:a16="http://schemas.microsoft.com/office/drawing/2014/main" id="{15E679EC-7465-8729-E76B-A40151ED6F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16200000">
                <a:off x="15254" y="7232"/>
                <a:ext cx="360" cy="360"/>
              </a:xfrm>
              <a:prstGeom prst="rect">
                <a:avLst/>
              </a:prstGeom>
            </p:spPr>
          </p:pic>
        </p:grpSp>
      </p:grpSp>
      <p:sp>
        <p:nvSpPr>
          <p:cNvPr id="222" name="文本框 221">
            <a:extLst>
              <a:ext uri="{FF2B5EF4-FFF2-40B4-BE49-F238E27FC236}">
                <a16:creationId xmlns:a16="http://schemas.microsoft.com/office/drawing/2014/main" id="{ED6E13B0-4E72-C9EB-B1F0-68FADD8EC5AA}"/>
              </a:ext>
            </a:extLst>
          </p:cNvPr>
          <p:cNvSpPr txBox="1"/>
          <p:nvPr/>
        </p:nvSpPr>
        <p:spPr>
          <a:xfrm>
            <a:off x="474980" y="1403985"/>
            <a:ext cx="1100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solidFill>
                  <a:srgbClr val="26323B">
                    <a:alpha val="71000"/>
                  </a:srgb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多情景分析法覆盖不同发展可能性，量化关键变量影响。为决策提供多元支撑，助力避开不确定性陷阱，让布局更具韧性。多情景分析法覆盖不同发展可能性，量化关键变量影响</a:t>
            </a:r>
          </a:p>
        </p:txBody>
      </p:sp>
    </p:spTree>
    <p:extLst>
      <p:ext uri="{BB962C8B-B14F-4D97-AF65-F5344CB8AC3E}">
        <p14:creationId xmlns:p14="http://schemas.microsoft.com/office/powerpoint/2010/main" val="816831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E398A-88AB-3D86-3760-E8D0E85B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7403A1EB-B46E-6CBC-0C8B-7EA55126B838}"/>
              </a:ext>
            </a:extLst>
          </p:cNvPr>
          <p:cNvGrpSpPr/>
          <p:nvPr/>
        </p:nvGrpSpPr>
        <p:grpSpPr>
          <a:xfrm>
            <a:off x="6772275" y="-1905"/>
            <a:ext cx="2708910" cy="6859905"/>
            <a:chOff x="10665" y="-3"/>
            <a:chExt cx="4266" cy="10803"/>
          </a:xfrm>
        </p:grpSpPr>
        <p:sp>
          <p:nvSpPr>
            <p:cNvPr id="185" name="矩形: 圆角 131">
              <a:extLst>
                <a:ext uri="{FF2B5EF4-FFF2-40B4-BE49-F238E27FC236}">
                  <a16:creationId xmlns:a16="http://schemas.microsoft.com/office/drawing/2014/main" id="{E18FE911-03A9-33AA-5307-1A29790862CE}"/>
                </a:ext>
              </a:extLst>
            </p:cNvPr>
            <p:cNvSpPr/>
            <p:nvPr/>
          </p:nvSpPr>
          <p:spPr>
            <a:xfrm>
              <a:off x="10665" y="5400"/>
              <a:ext cx="4266" cy="5401"/>
            </a:xfrm>
            <a:prstGeom prst="rect">
              <a:avLst/>
            </a:prstGeom>
            <a:solidFill>
              <a:srgbClr val="FFFFFF">
                <a:alpha val="5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86" name="矩形: 圆角 131">
              <a:extLst>
                <a:ext uri="{FF2B5EF4-FFF2-40B4-BE49-F238E27FC236}">
                  <a16:creationId xmlns:a16="http://schemas.microsoft.com/office/drawing/2014/main" id="{390CE6E0-2F13-2BA0-0084-15767D2E94EF}"/>
                </a:ext>
              </a:extLst>
            </p:cNvPr>
            <p:cNvSpPr/>
            <p:nvPr/>
          </p:nvSpPr>
          <p:spPr>
            <a:xfrm>
              <a:off x="10665" y="-1"/>
              <a:ext cx="4266" cy="5401"/>
            </a:xfrm>
            <a:prstGeom prst="rect">
              <a:avLst/>
            </a:prstGeom>
            <a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87" name="矩形: 圆角 131">
              <a:extLst>
                <a:ext uri="{FF2B5EF4-FFF2-40B4-BE49-F238E27FC236}">
                  <a16:creationId xmlns:a16="http://schemas.microsoft.com/office/drawing/2014/main" id="{13644472-CC90-3343-BB5B-C9254F6B60D6}"/>
                </a:ext>
              </a:extLst>
            </p:cNvPr>
            <p:cNvSpPr/>
            <p:nvPr/>
          </p:nvSpPr>
          <p:spPr>
            <a:xfrm>
              <a:off x="10665" y="-3"/>
              <a:ext cx="4266" cy="5401"/>
            </a:xfrm>
            <a:prstGeom prst="rect">
              <a:avLst/>
            </a:prstGeom>
            <a:solidFill>
              <a:srgbClr val="211235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6FFC8949-C8C9-294B-A000-DDD464C1969D}"/>
                </a:ext>
              </a:extLst>
            </p:cNvPr>
            <p:cNvSpPr txBox="1"/>
            <p:nvPr/>
          </p:nvSpPr>
          <p:spPr>
            <a:xfrm>
              <a:off x="11288" y="8584"/>
              <a:ext cx="3019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建立云边算力联动机制，按需分配计算任务，实现云端统筹、边缘执行的高效模式。</a:t>
              </a: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9AFF6DA2-46A1-74F8-5EDF-817727D6F1DF}"/>
                </a:ext>
              </a:extLst>
            </p:cNvPr>
            <p:cNvSpPr txBox="1"/>
            <p:nvPr/>
          </p:nvSpPr>
          <p:spPr>
            <a:xfrm>
              <a:off x="11288" y="8016"/>
              <a:ext cx="30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边云联动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全域组网</a:t>
              </a: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EE9EBB3B-0014-F159-4975-57C413D6C771}"/>
                </a:ext>
              </a:extLst>
            </p:cNvPr>
            <p:cNvSpPr txBox="1"/>
            <p:nvPr/>
          </p:nvSpPr>
          <p:spPr>
            <a:xfrm>
              <a:off x="11312" y="6954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75364B43-2F1A-D63C-594B-5E37577FF7A2}"/>
                </a:ext>
              </a:extLst>
            </p:cNvPr>
            <p:cNvSpPr txBox="1"/>
            <p:nvPr/>
          </p:nvSpPr>
          <p:spPr>
            <a:xfrm>
              <a:off x="11288" y="7196"/>
              <a:ext cx="30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Fluent" charset="0"/>
                  <a:sym typeface="+mn-ea"/>
                </a:rPr>
                <a:t>算力利用率提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F6EE3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40%</a:t>
              </a: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71036B93-5CB3-5297-80EC-8ACA2CA051EA}"/>
                </a:ext>
              </a:extLst>
            </p:cNvPr>
            <p:cNvSpPr txBox="1"/>
            <p:nvPr/>
          </p:nvSpPr>
          <p:spPr>
            <a:xfrm>
              <a:off x="10921" y="401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E8D9007E-CB94-0D4A-A96D-29D9D8DBD91B}"/>
                </a:ext>
              </a:extLst>
            </p:cNvPr>
            <p:cNvSpPr txBox="1"/>
            <p:nvPr/>
          </p:nvSpPr>
          <p:spPr>
            <a:xfrm>
              <a:off x="10894" y="795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8FBF0B1A-208A-CB9B-1341-54C97BD382E6}"/>
              </a:ext>
            </a:extLst>
          </p:cNvPr>
          <p:cNvGrpSpPr/>
          <p:nvPr/>
        </p:nvGrpSpPr>
        <p:grpSpPr>
          <a:xfrm>
            <a:off x="4063365" y="-635"/>
            <a:ext cx="2709545" cy="6858635"/>
            <a:chOff x="6399" y="-1"/>
            <a:chExt cx="4267" cy="10801"/>
          </a:xfrm>
        </p:grpSpPr>
        <p:sp>
          <p:nvSpPr>
            <p:cNvPr id="195" name="矩形: 圆角 131">
              <a:extLst>
                <a:ext uri="{FF2B5EF4-FFF2-40B4-BE49-F238E27FC236}">
                  <a16:creationId xmlns:a16="http://schemas.microsoft.com/office/drawing/2014/main" id="{EE492ABC-1BCB-32BD-DF60-0CEFFB516048}"/>
                </a:ext>
              </a:extLst>
            </p:cNvPr>
            <p:cNvSpPr/>
            <p:nvPr/>
          </p:nvSpPr>
          <p:spPr>
            <a:xfrm>
              <a:off x="6399" y="-1"/>
              <a:ext cx="4266" cy="5401"/>
            </a:xfrm>
            <a:prstGeom prst="rect">
              <a:avLst/>
            </a:prstGeom>
            <a:solidFill>
              <a:srgbClr val="FFFFFF">
                <a:alpha val="5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96" name="矩形: 圆角 131">
              <a:extLst>
                <a:ext uri="{FF2B5EF4-FFF2-40B4-BE49-F238E27FC236}">
                  <a16:creationId xmlns:a16="http://schemas.microsoft.com/office/drawing/2014/main" id="{1B8558D4-685D-AD05-FB65-2FF2CA07CD28}"/>
                </a:ext>
              </a:extLst>
            </p:cNvPr>
            <p:cNvSpPr/>
            <p:nvPr/>
          </p:nvSpPr>
          <p:spPr>
            <a:xfrm>
              <a:off x="6400" y="5400"/>
              <a:ext cx="4266" cy="5401"/>
            </a:xfrm>
            <a:prstGeom prst="rect">
              <a:avLst/>
            </a:prstGeom>
            <a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97" name="矩形: 圆角 131">
              <a:extLst>
                <a:ext uri="{FF2B5EF4-FFF2-40B4-BE49-F238E27FC236}">
                  <a16:creationId xmlns:a16="http://schemas.microsoft.com/office/drawing/2014/main" id="{47D75D84-F75E-4D63-594B-1DAFA0998C78}"/>
                </a:ext>
              </a:extLst>
            </p:cNvPr>
            <p:cNvSpPr/>
            <p:nvPr/>
          </p:nvSpPr>
          <p:spPr>
            <a:xfrm>
              <a:off x="6400" y="5398"/>
              <a:ext cx="4266" cy="5401"/>
            </a:xfrm>
            <a:prstGeom prst="rect">
              <a:avLst/>
            </a:prstGeom>
            <a:solidFill>
              <a:srgbClr val="7928D5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269D0662-F648-4C6B-F7EB-00E9E81835B2}"/>
                </a:ext>
              </a:extLst>
            </p:cNvPr>
            <p:cNvSpPr txBox="1"/>
            <p:nvPr/>
          </p:nvSpPr>
          <p:spPr>
            <a:xfrm>
              <a:off x="6916" y="3208"/>
              <a:ext cx="3019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搭建云边算力协同通道，整合云端海量算力与边缘节点资源，提升算力响应效率。</a:t>
              </a:r>
            </a:p>
          </p:txBody>
        </p: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0B322B0C-B238-C803-FF8B-33EADD615D19}"/>
                </a:ext>
              </a:extLst>
            </p:cNvPr>
            <p:cNvSpPr txBox="1"/>
            <p:nvPr/>
          </p:nvSpPr>
          <p:spPr>
            <a:xfrm>
              <a:off x="6916" y="2640"/>
              <a:ext cx="30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云边协同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算力互通</a:t>
              </a:r>
            </a:p>
          </p:txBody>
        </p: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781E460D-FA52-CF0C-39CC-7D82E36D82E6}"/>
                </a:ext>
              </a:extLst>
            </p:cNvPr>
            <p:cNvSpPr txBox="1"/>
            <p:nvPr/>
          </p:nvSpPr>
          <p:spPr>
            <a:xfrm>
              <a:off x="6940" y="1578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9BB4277B-1753-869F-9F9A-E12D97C95980}"/>
                </a:ext>
              </a:extLst>
            </p:cNvPr>
            <p:cNvSpPr txBox="1"/>
            <p:nvPr/>
          </p:nvSpPr>
          <p:spPr>
            <a:xfrm>
              <a:off x="6916" y="1820"/>
              <a:ext cx="30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Fluent" charset="0"/>
                  <a:sym typeface="+mn-ea"/>
                </a:rPr>
                <a:t>时延降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Fluent" charset="0"/>
                  <a:sym typeface="+mn-ea"/>
                </a:rPr>
                <a:t>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30%+</a:t>
              </a:r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7EF683B0-20FE-7936-3493-DAE997E53287}"/>
                </a:ext>
              </a:extLst>
            </p:cNvPr>
            <p:cNvSpPr txBox="1"/>
            <p:nvPr/>
          </p:nvSpPr>
          <p:spPr>
            <a:xfrm>
              <a:off x="6796" y="5670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9AC6639E-9BB1-3102-274E-B98D7A6B1AA3}"/>
                </a:ext>
              </a:extLst>
            </p:cNvPr>
            <p:cNvSpPr txBox="1"/>
            <p:nvPr/>
          </p:nvSpPr>
          <p:spPr>
            <a:xfrm>
              <a:off x="6769" y="6064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9AC438BA-391F-6315-31C7-0F23C08ED78F}"/>
              </a:ext>
            </a:extLst>
          </p:cNvPr>
          <p:cNvGrpSpPr/>
          <p:nvPr/>
        </p:nvGrpSpPr>
        <p:grpSpPr>
          <a:xfrm>
            <a:off x="9481185" y="-635"/>
            <a:ext cx="2709545" cy="6858635"/>
            <a:chOff x="14931" y="-1"/>
            <a:chExt cx="4267" cy="10801"/>
          </a:xfrm>
        </p:grpSpPr>
        <p:sp>
          <p:nvSpPr>
            <p:cNvPr id="205" name="矩形: 圆角 131">
              <a:extLst>
                <a:ext uri="{FF2B5EF4-FFF2-40B4-BE49-F238E27FC236}">
                  <a16:creationId xmlns:a16="http://schemas.microsoft.com/office/drawing/2014/main" id="{90B93F0D-81EC-7A43-7C99-D18C1E17A218}"/>
                </a:ext>
              </a:extLst>
            </p:cNvPr>
            <p:cNvSpPr/>
            <p:nvPr/>
          </p:nvSpPr>
          <p:spPr>
            <a:xfrm>
              <a:off x="14932" y="-1"/>
              <a:ext cx="4266" cy="5401"/>
            </a:xfrm>
            <a:prstGeom prst="rect">
              <a:avLst/>
            </a:prstGeom>
            <a:solidFill>
              <a:srgbClr val="FFFFFF">
                <a:alpha val="5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206" name="矩形: 圆角 131">
              <a:extLst>
                <a:ext uri="{FF2B5EF4-FFF2-40B4-BE49-F238E27FC236}">
                  <a16:creationId xmlns:a16="http://schemas.microsoft.com/office/drawing/2014/main" id="{7613028D-77D0-7715-0396-808FCEE91526}"/>
                </a:ext>
              </a:extLst>
            </p:cNvPr>
            <p:cNvSpPr/>
            <p:nvPr/>
          </p:nvSpPr>
          <p:spPr>
            <a:xfrm>
              <a:off x="14931" y="5400"/>
              <a:ext cx="4266" cy="5401"/>
            </a:xfrm>
            <a:prstGeom prst="rect">
              <a:avLst/>
            </a:prstGeom>
            <a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207" name="矩形: 圆角 131">
              <a:extLst>
                <a:ext uri="{FF2B5EF4-FFF2-40B4-BE49-F238E27FC236}">
                  <a16:creationId xmlns:a16="http://schemas.microsoft.com/office/drawing/2014/main" id="{AFA4F0D7-26EB-D370-A470-CA6256314894}"/>
                </a:ext>
              </a:extLst>
            </p:cNvPr>
            <p:cNvSpPr/>
            <p:nvPr/>
          </p:nvSpPr>
          <p:spPr>
            <a:xfrm>
              <a:off x="14931" y="5398"/>
              <a:ext cx="4266" cy="5401"/>
            </a:xfrm>
            <a:prstGeom prst="rect">
              <a:avLst/>
            </a:prstGeom>
            <a:solidFill>
              <a:srgbClr val="7928D5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endParaRPr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8FE3E9A4-1F50-078D-4405-371B7B7AB963}"/>
                </a:ext>
              </a:extLst>
            </p:cNvPr>
            <p:cNvSpPr txBox="1"/>
            <p:nvPr/>
          </p:nvSpPr>
          <p:spPr>
            <a:xfrm>
              <a:off x="15396" y="3208"/>
              <a:ext cx="3019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71000"/>
                    </a:srgb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" panose="020B0500000000000000" pitchFamily="34" charset="-122"/>
                  <a:sym typeface="思源黑体 CN" panose="020B0500000000000000" pitchFamily="34" charset="-122"/>
                </a:rPr>
                <a:t>优化云边组网传输链路，降低数据交互时延，保障高并发场景下算力稳定协同。</a:t>
              </a: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C58B2F36-4E9E-5C20-A223-CB5E0CE55C6E}"/>
                </a:ext>
              </a:extLst>
            </p:cNvPr>
            <p:cNvSpPr txBox="1"/>
            <p:nvPr/>
          </p:nvSpPr>
          <p:spPr>
            <a:xfrm>
              <a:off x="15396" y="2640"/>
              <a:ext cx="30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算力协同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思源黑体 CN Light" panose="020B0300000000000000" charset="-122"/>
                  <a:sym typeface="+mn-ea"/>
                </a:rPr>
                <a:t>高效用算</a:t>
              </a: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C1487E84-4CEB-8823-8466-B360285FF815}"/>
                </a:ext>
              </a:extLst>
            </p:cNvPr>
            <p:cNvSpPr txBox="1"/>
            <p:nvPr/>
          </p:nvSpPr>
          <p:spPr>
            <a:xfrm>
              <a:off x="15420" y="1578"/>
              <a:ext cx="1935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关键文本</a:t>
              </a: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9341B7BE-5CBE-3EF0-588F-8D15668C048E}"/>
                </a:ext>
              </a:extLst>
            </p:cNvPr>
            <p:cNvSpPr txBox="1"/>
            <p:nvPr/>
          </p:nvSpPr>
          <p:spPr>
            <a:xfrm>
              <a:off x="15396" y="1820"/>
              <a:ext cx="30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Fluent" charset="0"/>
                  <a:sym typeface="+mn-ea"/>
                </a:rPr>
                <a:t>响应速度快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Fluent" charset="0"/>
                  <a:sym typeface="+mn-ea"/>
                </a:rPr>
                <a:t>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7928D5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50%</a:t>
              </a:r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4BCFE4CD-9C30-C139-CDC2-494A3614C9EB}"/>
                </a:ext>
              </a:extLst>
            </p:cNvPr>
            <p:cNvSpPr txBox="1"/>
            <p:nvPr/>
          </p:nvSpPr>
          <p:spPr>
            <a:xfrm>
              <a:off x="15276" y="5670"/>
              <a:ext cx="24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alpha val="80000"/>
                    </a:srgbClr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核心任务</a:t>
              </a: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F71C2E63-C226-DFEF-AED4-CC7C17DE8ABB}"/>
                </a:ext>
              </a:extLst>
            </p:cNvPr>
            <p:cNvSpPr txBox="1"/>
            <p:nvPr/>
          </p:nvSpPr>
          <p:spPr>
            <a:xfrm>
              <a:off x="15249" y="6064"/>
              <a:ext cx="35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luent" charset="0"/>
                  <a:ea typeface="思源黑体 CN" panose="020B0500000000000000" pitchFamily="34" charset="-122"/>
                  <a:cs typeface="Fluent" charset="0"/>
                  <a:sym typeface="+mn-ea"/>
                </a:rPr>
                <a:t>Artificial Intelligence</a:t>
              </a:r>
            </a:p>
          </p:txBody>
        </p:sp>
      </p:grp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EC01DD1-E464-176A-E391-6D19AB294FD3}"/>
              </a:ext>
            </a:extLst>
          </p:cNvPr>
          <p:cNvSpPr txBox="1"/>
          <p:nvPr/>
        </p:nvSpPr>
        <p:spPr>
          <a:xfrm>
            <a:off x="474980" y="3101975"/>
            <a:ext cx="34213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rgbClr val="26323B">
                    <a:alpha val="71000"/>
                  </a:srgb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思源黑体 CN" panose="020B0500000000000000" pitchFamily="34" charset="-122"/>
              </a:rPr>
              <a:t>打通云端与边缘算力节点，构建协同组网架构，实现算力按需调度、就近供给。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DB041813-A6CF-042B-A8D7-8A1E435B93B8}"/>
              </a:ext>
            </a:extLst>
          </p:cNvPr>
          <p:cNvSpPr txBox="1"/>
          <p:nvPr/>
        </p:nvSpPr>
        <p:spPr>
          <a:xfrm>
            <a:off x="474980" y="1593502"/>
            <a:ext cx="3042285" cy="1236358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30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pPr algn="l"/>
            <a:r>
              <a:rPr lang="zh-CN" altLang="en-US" sz="2600" dirty="0">
                <a:sym typeface="+mn-ea"/>
              </a:rPr>
              <a:t>云边算力协同组网</a:t>
            </a:r>
          </a:p>
          <a:p>
            <a:pPr algn="l"/>
            <a:r>
              <a:rPr lang="zh-CN" altLang="en-US" sz="2600" dirty="0">
                <a:sym typeface="+mn-ea"/>
              </a:rPr>
              <a:t>赋能全域高效用算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7EF5AA34-3216-5F6B-AD55-20A06E9D205D}"/>
              </a:ext>
            </a:extLst>
          </p:cNvPr>
          <p:cNvSpPr txBox="1"/>
          <p:nvPr/>
        </p:nvSpPr>
        <p:spPr>
          <a:xfrm>
            <a:off x="474980" y="3837940"/>
            <a:ext cx="34213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26323B">
                    <a:alpha val="59000"/>
                  </a:srgbClr>
                </a:solidFill>
                <a:latin typeface="Fluent" charset="0"/>
                <a:ea typeface="思源黑体 CN" panose="020B0500000000000000" pitchFamily="34" charset="-122"/>
                <a:cs typeface="Fluent" charset="0"/>
                <a:sym typeface="思源黑体 CN" panose="020B0500000000000000" pitchFamily="34" charset="-122"/>
              </a:rPr>
              <a:t>The multi-scenario analysis method covers various development possibilities and quantifies the impact of key variables. It provides diverse support for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204657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49808" y="1993392"/>
            <a:ext cx="10698480" cy="19050"/>
          </a:xfrm>
          <a:prstGeom prst="rect">
            <a:avLst/>
          </a:prstGeom>
          <a:solidFill>
            <a:srgbClr val="D5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572768"/>
            <a:ext cx="2103120" cy="244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5F4FD9"/>
                </a:solidFill>
                <a:latin typeface="微软雅黑"/>
              </a:rPr>
              <a:t>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924812"/>
            <a:ext cx="155448" cy="155448"/>
          </a:xfrm>
          <a:prstGeom prst="rect">
            <a:avLst/>
          </a:prstGeom>
          <a:solidFill>
            <a:srgbClr val="5F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286000"/>
            <a:ext cx="2103120" cy="1691640"/>
          </a:xfrm>
          <a:prstGeom prst="rect">
            <a:avLst/>
          </a:prstGeom>
          <a:solidFill>
            <a:srgbClr val="E1DAFE">
              <a:alpha val="30000"/>
            </a:srgbClr>
          </a:solidFill>
          <a:ln w="12700" cap="flat" cmpd="sng" algn="ctr">
            <a:solidFill>
              <a:srgbClr val="BCADF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sz="315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2541606"/>
            <a:ext cx="1828800" cy="2285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 dirty="0" err="1">
                <a:solidFill>
                  <a:srgbClr val="14275C"/>
                </a:solidFill>
                <a:latin typeface="微软雅黑"/>
              </a:rPr>
              <a:t>平台启航</a:t>
            </a:r>
            <a:endParaRPr sz="1400" b="1" dirty="0">
              <a:solidFill>
                <a:srgbClr val="14275C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2923955"/>
            <a:ext cx="1828800" cy="434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59637D"/>
                </a:solidFill>
                <a:latin typeface="微软雅黑"/>
              </a:rPr>
              <a:t>推出 eSignGlobal 跨境签署平台；设立香港全球业务总部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1572768"/>
            <a:ext cx="2103120" cy="244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5F4FD9"/>
                </a:solidFill>
                <a:latin typeface="微软雅黑"/>
              </a:rPr>
              <a:t>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2072" y="1924812"/>
            <a:ext cx="155448" cy="155448"/>
          </a:xfrm>
          <a:prstGeom prst="rect">
            <a:avLst/>
          </a:prstGeom>
          <a:solidFill>
            <a:srgbClr val="5F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07208" y="2286000"/>
            <a:ext cx="2103120" cy="1691640"/>
          </a:xfrm>
          <a:prstGeom prst="rect">
            <a:avLst/>
          </a:prstGeom>
          <a:solidFill>
            <a:srgbClr val="E1DAFE">
              <a:alpha val="30000"/>
            </a:srgbClr>
          </a:solidFill>
          <a:ln w="12700" cap="flat" cmpd="sng" algn="ctr">
            <a:solidFill>
              <a:srgbClr val="BCADF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sz="315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3512" y="2541606"/>
            <a:ext cx="1828800" cy="2285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75C"/>
                </a:solidFill>
                <a:latin typeface="微软雅黑"/>
              </a:rPr>
              <a:t>合规筑基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923955"/>
            <a:ext cx="1828800" cy="434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0" dirty="0" err="1">
                <a:solidFill>
                  <a:srgbClr val="59637D"/>
                </a:solidFill>
                <a:latin typeface="微软雅黑"/>
              </a:rPr>
              <a:t>获工信部</a:t>
            </a:r>
            <a:r>
              <a:rPr sz="1000" b="0" dirty="0">
                <a:solidFill>
                  <a:srgbClr val="59637D"/>
                </a:solidFill>
                <a:latin typeface="微软雅黑"/>
              </a:rPr>
              <a:t> CA </a:t>
            </a:r>
            <a:r>
              <a:rPr sz="1000" b="0" dirty="0" err="1">
                <a:solidFill>
                  <a:srgbClr val="59637D"/>
                </a:solidFill>
                <a:latin typeface="微软雅黑"/>
              </a:rPr>
              <a:t>牌照；完成网信办算法备案</a:t>
            </a:r>
            <a:endParaRPr sz="1000" b="0" dirty="0">
              <a:solidFill>
                <a:srgbClr val="59637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93208" y="1572768"/>
            <a:ext cx="2103120" cy="244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5F4FD9"/>
                </a:solidFill>
                <a:latin typeface="微软雅黑"/>
              </a:rPr>
              <a:t>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1924812"/>
            <a:ext cx="155448" cy="155448"/>
          </a:xfrm>
          <a:prstGeom prst="rect">
            <a:avLst/>
          </a:prstGeom>
          <a:solidFill>
            <a:srgbClr val="5F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47488" y="2286000"/>
            <a:ext cx="2103120" cy="1691640"/>
          </a:xfrm>
          <a:prstGeom prst="rect">
            <a:avLst/>
          </a:prstGeom>
          <a:solidFill>
            <a:srgbClr val="E1DAFE">
              <a:alpha val="30000"/>
            </a:srgbClr>
          </a:solidFill>
          <a:ln w="12700" cap="flat" cmpd="sng" algn="ctr">
            <a:solidFill>
              <a:srgbClr val="BCADF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sz="315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3792" y="2541606"/>
            <a:ext cx="1828800" cy="2285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75C"/>
                </a:solidFill>
                <a:latin typeface="微软雅黑"/>
              </a:rPr>
              <a:t>全球覆盖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923955"/>
            <a:ext cx="1828800" cy="6653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59637D"/>
                </a:solidFill>
                <a:latin typeface="微软雅黑"/>
              </a:rPr>
              <a:t>香港·新加坡·法兰克福三地数据中心建成；AI 合同专家新加坡全球首发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1572768"/>
            <a:ext cx="2103120" cy="244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5F4FD9"/>
                </a:solidFill>
                <a:latin typeface="微软雅黑"/>
              </a:rPr>
              <a:t>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2632" y="1924812"/>
            <a:ext cx="155448" cy="155448"/>
          </a:xfrm>
          <a:prstGeom prst="rect">
            <a:avLst/>
          </a:prstGeom>
          <a:solidFill>
            <a:srgbClr val="5F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87768" y="2286000"/>
            <a:ext cx="2103120" cy="1691640"/>
          </a:xfrm>
          <a:prstGeom prst="rect">
            <a:avLst/>
          </a:prstGeom>
          <a:solidFill>
            <a:srgbClr val="E1DAFE">
              <a:alpha val="30000"/>
            </a:srgbClr>
          </a:solidFill>
          <a:ln w="12700" cap="flat" cmpd="sng" algn="ctr">
            <a:solidFill>
              <a:srgbClr val="BCADF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sz="315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34072" y="2541606"/>
            <a:ext cx="1828800" cy="2285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75C"/>
                </a:solidFill>
                <a:latin typeface="微软雅黑"/>
              </a:rPr>
              <a:t>升级与互认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2923955"/>
            <a:ext cx="1828800" cy="6653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59637D"/>
                </a:solidFill>
                <a:latin typeface="微软雅黑"/>
              </a:rPr>
              <a:t>eSignGlobal 升级为 eSign.AI；SOC 2 Type II 鉴证；承办金砖互认研讨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1572768"/>
            <a:ext cx="2103120" cy="244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5F4FD9"/>
                </a:solidFill>
                <a:latin typeface="微软雅黑"/>
              </a:rPr>
              <a:t>未来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2912" y="1924812"/>
            <a:ext cx="155448" cy="155448"/>
          </a:xfrm>
          <a:prstGeom prst="rect">
            <a:avLst/>
          </a:prstGeom>
          <a:solidFill>
            <a:srgbClr val="5F4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28048" y="2286000"/>
            <a:ext cx="2103120" cy="1691640"/>
          </a:xfrm>
          <a:prstGeom prst="rect">
            <a:avLst/>
          </a:prstGeom>
          <a:solidFill>
            <a:srgbClr val="E1DAFE">
              <a:alpha val="30000"/>
            </a:srgbClr>
          </a:solidFill>
          <a:ln w="12700" cap="flat" cmpd="sng" algn="ctr">
            <a:solidFill>
              <a:srgbClr val="BCADF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sz="315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74352" y="2541606"/>
            <a:ext cx="1828800" cy="2285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75C"/>
                </a:solidFill>
                <a:latin typeface="微软雅黑"/>
              </a:rPr>
              <a:t>持续扩张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2923955"/>
            <a:ext cx="1828800" cy="434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59637D"/>
                </a:solidFill>
                <a:latin typeface="微软雅黑"/>
              </a:rPr>
              <a:t>规划北美、中东数据中心，实现全球服务全覆盖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224528"/>
            <a:ext cx="5440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4224528"/>
            <a:ext cx="5440680" cy="31750"/>
          </a:xfrm>
          <a:prstGeom prst="rect">
            <a:avLst/>
          </a:prstGeom>
          <a:solidFill>
            <a:srgbClr val="9A7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438912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4275C"/>
                </a:solidFill>
                <a:latin typeface="微软雅黑"/>
              </a:rPr>
              <a:t>数据安全底座（数据行业出海的立身之本）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846320"/>
            <a:ext cx="31750" cy="201168"/>
          </a:xfrm>
          <a:prstGeom prst="rect">
            <a:avLst/>
          </a:prstGeom>
          <a:solidFill>
            <a:srgbClr val="BCA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" y="4791456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9637D"/>
                </a:solidFill>
                <a:latin typeface="微软雅黑"/>
              </a:rPr>
              <a:t>全站 HTTPS，传输与存储 AES-256 加密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248656"/>
            <a:ext cx="31750" cy="201168"/>
          </a:xfrm>
          <a:prstGeom prst="rect">
            <a:avLst/>
          </a:prstGeom>
          <a:solidFill>
            <a:srgbClr val="BCA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" y="5193792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9637D"/>
                </a:solidFill>
                <a:latin typeface="微软雅黑"/>
              </a:rPr>
              <a:t>数据本地化存储：香港 / 新加坡 / 法兰克福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650992"/>
            <a:ext cx="31750" cy="201168"/>
          </a:xfrm>
          <a:prstGeom prst="rect">
            <a:avLst/>
          </a:prstGeom>
          <a:solidFill>
            <a:srgbClr val="BCA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2" y="5596128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9637D"/>
                </a:solidFill>
                <a:latin typeface="微软雅黑"/>
              </a:rPr>
              <a:t>SOC 2 Type II · ISO/IEC 27001 / 27701 / 27018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4224528"/>
            <a:ext cx="5440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4224528"/>
            <a:ext cx="5440680" cy="31750"/>
          </a:xfrm>
          <a:prstGeom prst="rect">
            <a:avLst/>
          </a:prstGeom>
          <a:solidFill>
            <a:srgbClr val="9A7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19088" y="438912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14275C"/>
                </a:solidFill>
                <a:latin typeface="微软雅黑"/>
              </a:rPr>
              <a:t>经验与启示（讲给正在出海的你）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55664" y="4846320"/>
            <a:ext cx="31750" cy="201168"/>
          </a:xfrm>
          <a:prstGeom prst="rect">
            <a:avLst/>
          </a:prstGeom>
          <a:solidFill>
            <a:srgbClr val="BCA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20256" y="4791456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9637D"/>
                </a:solidFill>
                <a:latin typeface="微软雅黑"/>
              </a:rPr>
              <a:t>合规先行：牌照与认证先行，再谈市场扩张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5248656"/>
            <a:ext cx="31750" cy="201168"/>
          </a:xfrm>
          <a:prstGeom prst="rect">
            <a:avLst/>
          </a:prstGeom>
          <a:solidFill>
            <a:srgbClr val="BCA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6" y="5193792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9637D"/>
                </a:solidFill>
                <a:latin typeface="微软雅黑"/>
              </a:rPr>
              <a:t>本地化落地：数据中心 + 区域团队双管齐下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55664" y="5650992"/>
            <a:ext cx="31750" cy="201168"/>
          </a:xfrm>
          <a:prstGeom prst="rect">
            <a:avLst/>
          </a:prstGeom>
          <a:solidFill>
            <a:srgbClr val="BCA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20256" y="5596128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9637D"/>
                </a:solidFill>
                <a:latin typeface="微软雅黑"/>
              </a:rPr>
              <a:t>生态共建：50+ TSP 网络、仲裁与金砖互认机制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1C4BBCE-A5A1-F44D-11A2-6907FCFA31FC}"/>
              </a:ext>
            </a:extLst>
          </p:cNvPr>
          <p:cNvSpPr txBox="1"/>
          <p:nvPr/>
        </p:nvSpPr>
        <p:spPr>
          <a:xfrm>
            <a:off x="1346158" y="672116"/>
            <a:ext cx="9499052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出海历程：全球数字信任基建的搭建之路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6928" y="1737360"/>
            <a:ext cx="3566160" cy="4526280"/>
          </a:xfrm>
          <a:prstGeom prst="rect">
            <a:avLst/>
          </a:prstGeom>
          <a:gradFill>
            <a:gsLst>
              <a:gs pos="4000">
                <a:srgbClr val="9A7AF6"/>
              </a:gs>
              <a:gs pos="82000">
                <a:srgbClr val="5F4FD9"/>
              </a:gs>
            </a:gsLst>
            <a:lin ang="2700000" scaled="1"/>
          </a:gra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dirty="0" err="1">
                <a:solidFill>
                  <a:srgbClr val="FFFFFF"/>
                </a:solidFill>
                <a:latin typeface="微软雅黑"/>
              </a:rPr>
              <a:t>美光科技</a:t>
            </a:r>
            <a:r>
              <a:rPr sz="1650" b="1" dirty="0">
                <a:solidFill>
                  <a:srgbClr val="FFFFFF"/>
                </a:solidFill>
                <a:latin typeface="微软雅黑"/>
              </a:rPr>
              <a:t>
Micron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724912"/>
            <a:ext cx="457200" cy="1905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E1DAF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2871216"/>
            <a:ext cx="868680" cy="163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1DAFE"/>
                </a:solidFill>
                <a:latin typeface="微软雅黑"/>
              </a:rPr>
              <a:t>行　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285292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半导体制造（内存/存储）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18688"/>
            <a:ext cx="868680" cy="163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1DAFE"/>
                </a:solidFill>
                <a:latin typeface="微软雅黑"/>
              </a:rPr>
              <a:t>地　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320040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北美 · 中美跨境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66160"/>
            <a:ext cx="868680" cy="163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1DAFE"/>
                </a:solidFill>
                <a:latin typeface="微软雅黑"/>
              </a:rPr>
              <a:t>部　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3547872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销售 / 商务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86784"/>
            <a:ext cx="3108960" cy="163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1DAFE"/>
                </a:solidFill>
                <a:latin typeface="微软雅黑"/>
              </a:rPr>
              <a:t>使用功能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187952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9D6EC"/>
                </a:solidFill>
                <a:latin typeface="微软雅黑"/>
              </a:rPr>
              <a:t>合同电子签名 · eSignature API 集成 · 数字签名软件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809744"/>
            <a:ext cx="3108960" cy="9525"/>
          </a:xfrm>
          <a:prstGeom prst="rect">
            <a:avLst/>
          </a:prstGeom>
          <a:solidFill>
            <a:srgbClr val="3A4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974336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</a:rPr>
              <a:t>+120%  </a:t>
            </a:r>
            <a:r>
              <a:rPr sz="1000">
                <a:solidFill>
                  <a:srgbClr val="C9D6EC"/>
                </a:solidFill>
                <a:latin typeface="微软雅黑"/>
              </a:rPr>
              <a:t>签署效率提升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39496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</a:rPr>
              <a:t>7天→1天  </a:t>
            </a:r>
            <a:r>
              <a:rPr sz="1000">
                <a:solidFill>
                  <a:srgbClr val="C9D6EC"/>
                </a:solidFill>
                <a:latin typeface="微软雅黑"/>
              </a:rPr>
              <a:t>签署周期缩短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81558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</a:rPr>
              <a:t>200%  </a:t>
            </a:r>
            <a:r>
              <a:rPr sz="1000">
                <a:solidFill>
                  <a:srgbClr val="C9D6EC"/>
                </a:solidFill>
                <a:latin typeface="微软雅黑"/>
              </a:rPr>
              <a:t>合同成本下降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1716094"/>
            <a:ext cx="7315200" cy="2285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275C"/>
                </a:solidFill>
                <a:latin typeface="微软雅黑"/>
              </a:rPr>
              <a:t>业务痛点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2066543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2316198"/>
            <a:ext cx="19293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 err="1">
                <a:solidFill>
                  <a:srgbClr val="14275C"/>
                </a:solidFill>
                <a:latin typeface="微软雅黑"/>
              </a:rPr>
              <a:t>跨境协议流转难</a:t>
            </a:r>
            <a:endParaRPr sz="1400" b="1" dirty="0">
              <a:solidFill>
                <a:srgbClr val="14275C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17136" y="2700246"/>
            <a:ext cx="1929384" cy="731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59637D"/>
                </a:solidFill>
                <a:latin typeface="微软雅黑"/>
              </a:rPr>
              <a:t>中美销售与供应链协议跨国确认周期长，依赖线下流转与分散工具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79" y="2066543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3447" y="2316198"/>
            <a:ext cx="19293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4275C"/>
                </a:solidFill>
                <a:latin typeface="微软雅黑"/>
              </a:rPr>
              <a:t>双地合规要求高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7" y="2700246"/>
            <a:ext cx="1929384" cy="731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59637D"/>
                </a:solidFill>
                <a:latin typeface="微软雅黑"/>
              </a:rPr>
              <a:t>替换 Adobe Sign，须同时满足中美法律环境与严格信息安全标准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8592" y="2066543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2316198"/>
            <a:ext cx="19293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4275C"/>
                </a:solidFill>
                <a:latin typeface="微软雅黑"/>
              </a:rPr>
              <a:t>与 Salesforce 割裂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700246"/>
            <a:ext cx="1929384" cy="4779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59637D"/>
                </a:solidFill>
                <a:latin typeface="微软雅黑"/>
              </a:rPr>
              <a:t>签署环节独立于销售主流程，需跨系统切换与手动同步状态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764349"/>
            <a:ext cx="7315200" cy="2285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14275C"/>
                </a:solidFill>
                <a:latin typeface="微软雅黑"/>
              </a:rPr>
              <a:t>解决方案</a:t>
            </a:r>
            <a:endParaRPr sz="1400" b="1" dirty="0">
              <a:solidFill>
                <a:srgbClr val="14275C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315968" y="4114800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17136" y="4364454"/>
            <a:ext cx="19293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4275C"/>
                </a:solidFill>
                <a:latin typeface="微软雅黑"/>
              </a:rPr>
              <a:t>协议线上签署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748502"/>
            <a:ext cx="1929384" cy="4779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dirty="0" err="1">
                <a:solidFill>
                  <a:srgbClr val="59637D"/>
                </a:solidFill>
                <a:latin typeface="微软雅黑"/>
              </a:rPr>
              <a:t>销售与供应链协议在线发起、签署、状态跟踪全程闭环</a:t>
            </a:r>
            <a:endParaRPr sz="1100" dirty="0">
              <a:solidFill>
                <a:srgbClr val="59637D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812279" y="4114800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13447" y="4364454"/>
            <a:ext cx="19293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4275C"/>
                </a:solidFill>
                <a:latin typeface="微软雅黑"/>
              </a:rPr>
              <a:t>中美双合规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7" y="4748502"/>
            <a:ext cx="1929384" cy="4779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59637D"/>
                </a:solidFill>
                <a:latin typeface="微软雅黑"/>
              </a:rPr>
              <a:t>符合美光信息安全要求，中美两地均可用的合规签署依据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08592" y="4114800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09760" y="4364454"/>
            <a:ext cx="19293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4275C"/>
                </a:solidFill>
                <a:latin typeface="微软雅黑"/>
              </a:rPr>
              <a:t>API 对接 Salesforce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748502"/>
            <a:ext cx="1929384" cy="4779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59637D"/>
                </a:solidFill>
                <a:latin typeface="微软雅黑"/>
              </a:rPr>
              <a:t>签署能力嵌入销售流程，围绕业务节点触发协议签署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15968" y="5916168"/>
            <a:ext cx="38100" cy="237744"/>
          </a:xfrm>
          <a:prstGeom prst="rect">
            <a:avLst/>
          </a:prstGeom>
          <a:solidFill>
            <a:srgbClr val="BCA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47756" y="5923613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41C33"/>
                </a:solidFill>
                <a:latin typeface="微软雅黑"/>
              </a:rPr>
              <a:t>全球半导体巨头以 e签宝替换 Adobe Sign，完成中美跨境签署的合规与效率闭环。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D6CF23D-B52B-3DA4-DF4A-82F3851F21DD}"/>
              </a:ext>
            </a:extLst>
          </p:cNvPr>
          <p:cNvSpPr txBox="1"/>
          <p:nvPr/>
        </p:nvSpPr>
        <p:spPr>
          <a:xfrm>
            <a:off x="804040" y="672116"/>
            <a:ext cx="10583288" cy="752444"/>
          </a:xfrm>
          <a:prstGeom prst="rect">
            <a:avLst/>
          </a:prstGeom>
        </p:spPr>
        <p:txBody>
          <a:bodyPr rot="0" spcFirstLastPara="0" vert="horz" wrap="square" lIns="91435" tIns="45717" rIns="91435" bIns="45717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lvl="0" algn="ctr">
              <a:lnSpc>
                <a:spcPct val="100000"/>
              </a:lnSpc>
              <a:buClrTx/>
              <a:buSzTx/>
              <a:buFontTx/>
              <a:defRPr sz="2600" b="1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sz="3000" dirty="0">
                <a:sym typeface="+mn-ea"/>
              </a:rPr>
              <a:t>案例① 美光科技：中美协议合规签，替换 </a:t>
            </a:r>
            <a:r>
              <a:rPr lang="en-US" altLang="zh-CN" sz="3000" dirty="0">
                <a:sym typeface="+mn-ea"/>
              </a:rPr>
              <a:t>Adobe Sign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000" y="1315922"/>
            <a:ext cx="11176000" cy="1544525"/>
          </a:xfrm>
          <a:prstGeom prst="rect">
            <a:avLst/>
          </a:prstGeom>
        </p:spPr>
        <p:txBody>
          <a:bodyPr rot="0" spcFirstLastPara="0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buClrTx/>
              <a:buFontTx/>
            </a:pPr>
            <a:r>
              <a:rPr lang="zh-CN" altLang="en-US" sz="6600" b="1" spc="600" dirty="0">
                <a:gradFill>
                  <a:gsLst>
                    <a:gs pos="22000">
                      <a:schemeClr val="tx1">
                        <a:lumMod val="85000"/>
                        <a:lumOff val="15000"/>
                      </a:schemeClr>
                    </a:gs>
                    <a:gs pos="100000">
                      <a:srgbClr val="570BDF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sym typeface="Noto Sans SC"/>
              </a:rPr>
              <a:t>谢谢聆听</a:t>
            </a:r>
          </a:p>
        </p:txBody>
      </p:sp>
      <p:cxnSp>
        <p:nvCxnSpPr>
          <p:cNvPr id="5" name="Connector 5"/>
          <p:cNvCxnSpPr>
            <a:cxnSpLocks/>
          </p:cNvCxnSpPr>
          <p:nvPr/>
        </p:nvCxnSpPr>
        <p:spPr>
          <a:xfrm>
            <a:off x="2214756" y="2893714"/>
            <a:ext cx="7762488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D3E72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648691" y="3244324"/>
            <a:ext cx="8894618" cy="276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0" indent="0" algn="ctr">
              <a:defRPr/>
            </a:pPr>
            <a:r>
              <a:rPr lang="zh-CN" altLang="en-US" b="0" i="0" u="none" strike="noStrike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期待与每一位出海企业合作，让每一份跨境合同都可信、合规、高效。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F836D04C-FDF8-F454-6DF5-D6344F8DE8A4}"/>
              </a:ext>
            </a:extLst>
          </p:cNvPr>
          <p:cNvSpPr txBox="1"/>
          <p:nvPr/>
        </p:nvSpPr>
        <p:spPr>
          <a:xfrm>
            <a:off x="3032760" y="4344847"/>
            <a:ext cx="6126480" cy="7967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200000"/>
              </a:lnSpc>
            </a:pPr>
            <a:r>
              <a:rPr sz="1400" b="0" dirty="0" err="1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e签宝</a:t>
            </a:r>
            <a:r>
              <a:rPr sz="1400" b="0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eSign.AI
 </a:t>
            </a:r>
            <a:r>
              <a:rPr lang="zh-CN" sz="1400" b="0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海内外统一官网</a:t>
            </a:r>
            <a:r>
              <a:rPr lang="en-US" altLang="zh-CN" sz="1400" b="0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400" b="0" dirty="0">
                <a:solidFill>
                  <a:srgbClr val="4D3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www.esign.ai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4,&quot;left&quot;:83.55,&quot;top&quot;:306.95,&quot;width&quot;:474.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4,&quot;left&quot;:83.55,&quot;top&quot;:306.95,&quot;width&quot;:474.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4,&quot;left&quot;:83.55,&quot;top&quot;:306.95,&quot;width&quot;:474.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4,&quot;left&quot;:83.55,&quot;top&quot;:306.95,&quot;width&quot;:474.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4,&quot;left&quot;:83.55,&quot;top&quot;:306.95,&quot;width&quot;:474.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4,&quot;left&quot;:83.55,&quot;top&quot;:306.95,&quot;width&quot;:474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537">
      <a:dk1>
        <a:srgbClr val="000000"/>
      </a:dk1>
      <a:lt1>
        <a:srgbClr val="FFFFFF"/>
      </a:lt1>
      <a:dk2>
        <a:srgbClr val="3C007F"/>
      </a:dk2>
      <a:lt2>
        <a:srgbClr val="F2F2F2"/>
      </a:lt2>
      <a:accent1>
        <a:srgbClr val="3C007F"/>
      </a:accent1>
      <a:accent2>
        <a:srgbClr val="7928D5"/>
      </a:accent2>
      <a:accent3>
        <a:srgbClr val="7928D5"/>
      </a:accent3>
      <a:accent4>
        <a:srgbClr val="7928D5"/>
      </a:accent4>
      <a:accent5>
        <a:srgbClr val="211235"/>
      </a:accent5>
      <a:accent6>
        <a:srgbClr val="00B0F0"/>
      </a:accent6>
      <a:hlink>
        <a:srgbClr val="F49100"/>
      </a:hlink>
      <a:folHlink>
        <a:srgbClr val="85DFD0"/>
      </a:folHlink>
    </a:clrScheme>
    <a:fontScheme name="自定义 15">
      <a:majorFont>
        <a:latin typeface="等线 Light"/>
        <a:ea typeface="思源黑体 CN Bold"/>
        <a:cs typeface=""/>
      </a:majorFont>
      <a:minorFont>
        <a:latin typeface="思源黑体 CN"/>
        <a:ea typeface="思源黑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405">
      <a:dk1>
        <a:srgbClr val="000000"/>
      </a:dk1>
      <a:lt1>
        <a:srgbClr val="FFFFFF"/>
      </a:lt1>
      <a:dk2>
        <a:srgbClr val="3C007F"/>
      </a:dk2>
      <a:lt2>
        <a:srgbClr val="DBEFF9"/>
      </a:lt2>
      <a:accent1>
        <a:srgbClr val="3C007F"/>
      </a:accent1>
      <a:accent2>
        <a:srgbClr val="7928D5"/>
      </a:accent2>
      <a:accent3>
        <a:srgbClr val="1A0147"/>
      </a:accent3>
      <a:accent4>
        <a:srgbClr val="7928D5"/>
      </a:accent4>
      <a:accent5>
        <a:srgbClr val="7928D5"/>
      </a:accent5>
      <a:accent6>
        <a:srgbClr val="7928D5"/>
      </a:accent6>
      <a:hlink>
        <a:srgbClr val="F49100"/>
      </a:hlink>
      <a:folHlink>
        <a:srgbClr val="85DFD0"/>
      </a:folHlink>
    </a:clrScheme>
    <a:fontScheme name="自定义 15">
      <a:majorFont>
        <a:latin typeface="等线 Light"/>
        <a:ea typeface="思源黑体 CN Bold"/>
        <a:cs typeface=""/>
      </a:majorFont>
      <a:minorFont>
        <a:latin typeface="思源黑体 CN"/>
        <a:ea typeface="思源黑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537">
    <a:dk1>
      <a:srgbClr val="000000"/>
    </a:dk1>
    <a:lt1>
      <a:srgbClr val="FFFFFF"/>
    </a:lt1>
    <a:dk2>
      <a:srgbClr val="3C007F"/>
    </a:dk2>
    <a:lt2>
      <a:srgbClr val="F2F2F2"/>
    </a:lt2>
    <a:accent1>
      <a:srgbClr val="3C007F"/>
    </a:accent1>
    <a:accent2>
      <a:srgbClr val="7928D5"/>
    </a:accent2>
    <a:accent3>
      <a:srgbClr val="7928D5"/>
    </a:accent3>
    <a:accent4>
      <a:srgbClr val="7928D5"/>
    </a:accent4>
    <a:accent5>
      <a:srgbClr val="211235"/>
    </a:accent5>
    <a:accent6>
      <a:srgbClr val="00B0F0"/>
    </a:accent6>
    <a:hlink>
      <a:srgbClr val="F49100"/>
    </a:hlink>
    <a:folHlink>
      <a:srgbClr val="85DFD0"/>
    </a:folHlink>
  </a:clrScheme>
  <a:fontScheme name="自定义 15">
    <a:majorFont>
      <a:latin typeface="等线 Light"/>
      <a:ea typeface="思源黑体 CN Bold"/>
      <a:cs typeface=""/>
    </a:majorFont>
    <a:minorFont>
      <a:latin typeface="思源黑体 CN"/>
      <a:ea typeface="思源黑体 CN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7880</Words>
  <Application>Microsoft Office PowerPoint</Application>
  <PresentationFormat>宽屏</PresentationFormat>
  <Paragraphs>807</Paragraphs>
  <Slides>35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Bigger</vt:lpstr>
      <vt:lpstr>Fluent</vt:lpstr>
      <vt:lpstr>Fluent Light</vt:lpstr>
      <vt:lpstr>Fluent Thin</vt:lpstr>
      <vt:lpstr>思源黑体 CN</vt:lpstr>
      <vt:lpstr>思源黑体 CN Light</vt:lpstr>
      <vt:lpstr>微软雅黑</vt:lpstr>
      <vt:lpstr>Arial</vt:lpstr>
      <vt:lpstr>Calibri</vt:lpstr>
      <vt:lpstr>Office Theme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川柏</dc:creator>
  <dc:description>generated using python-pptx</dc:description>
  <cp:lastModifiedBy>川柏</cp:lastModifiedBy>
  <cp:revision>13</cp:revision>
  <dcterms:created xsi:type="dcterms:W3CDTF">2026-10-09T06:14:57Z</dcterms:created>
  <dcterms:modified xsi:type="dcterms:W3CDTF">2026-10-23T07:38:01Z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0DACD2F44B3232976086C86A10E5A0DE_43</vt:lpwstr>
  </property>
</Properties>
</file>